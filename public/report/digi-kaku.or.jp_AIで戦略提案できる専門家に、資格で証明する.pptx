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www.digi-kaku.or.jp/" TargetMode="Externa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www.amazon.co.jp/dp/4774188050/" TargetMode="External"/><Relationship Id="rId2" Type="http://schemas.openxmlformats.org/officeDocument/2006/relationships/hyperlink" Target="https://www.digi-kaku.or.jp/" TargetMode="External"/><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hyperlink" Target="https://senryaku.ai" TargetMode="External"/><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14"/>
        </a:solidFill>
      </p:bgPr>
    </p:bg>
    <p:spTree>
      <p:nvGrpSpPr>
        <p:cNvPr id="1" name=""/>
        <p:cNvGrpSpPr/>
        <p:nvPr/>
      </p:nvGrpSpPr>
      <p:grpSpPr>
        <a:xfrm>
          <a:off x="0" y="0"/>
          <a:ext cx="0" cy="0"/>
          <a:chOff x="0" y="0"/>
          <a:chExt cx="0" cy="0"/>
        </a:xfrm>
      </p:grpSpPr>
      <p:sp>
        <p:nvSpPr>
          <p:cNvPr id="2" name="Text 0"/>
          <p:cNvSpPr/>
          <p:nvPr/>
        </p:nvSpPr>
        <p:spPr>
          <a:xfrm>
            <a:off x="0" y="411480"/>
            <a:ext cx="12191695" cy="457200"/>
          </a:xfrm>
          <a:prstGeom prst="rect">
            <a:avLst/>
          </a:prstGeom>
          <a:noFill/>
          <a:ln/>
        </p:spPr>
        <p:txBody>
          <a:bodyPr wrap="square" rtlCol="0" anchor="ctr"/>
          <a:lstStyle/>
          <a:p>
            <a:pPr algn="ctr" indent="0" marL="0">
              <a:buNone/>
            </a:pPr>
            <a:r>
              <a:rPr lang="en-US" sz="2200" b="1" dirty="0">
                <a:solidFill>
                  <a:srgbClr val="FFFFFF"/>
                </a:solidFill>
                <a:latin typeface="Noto Serif JP" pitchFamily="34" charset="0"/>
                <a:ea typeface="Noto Serif JP" pitchFamily="34" charset="-122"/>
                <a:cs typeface="Noto Serif JP" pitchFamily="34" charset="-120"/>
              </a:rPr>
              <a:t>digi-kaku.or.jp　|　AB3C 分析レポート</a:t>
            </a:r>
            <a:endParaRPr lang="en-US" sz="2200" dirty="0"/>
          </a:p>
        </p:txBody>
      </p:sp>
      <p:sp>
        <p:nvSpPr>
          <p:cNvPr id="3" name="Text 1"/>
          <p:cNvSpPr/>
          <p:nvPr/>
        </p:nvSpPr>
        <p:spPr>
          <a:xfrm>
            <a:off x="0" y="914400"/>
            <a:ext cx="12191695" cy="274320"/>
          </a:xfrm>
          <a:prstGeom prst="rect">
            <a:avLst/>
          </a:prstGeom>
          <a:noFill/>
          <a:ln/>
        </p:spPr>
        <p:txBody>
          <a:bodyPr wrap="square" rtlCol="0" anchor="ctr"/>
          <a:lstStyle/>
          <a:p>
            <a:pPr algn="ctr" indent="0" marL="0">
              <a:buNone/>
            </a:pPr>
            <a:r>
              <a:rPr lang="en-US" sz="1100" spc="1000" kern="0" dirty="0">
                <a:solidFill>
                  <a:srgbClr val="FFFFFF"/>
                </a:solidFill>
                <a:latin typeface="Consolas" pitchFamily="34" charset="0"/>
                <a:ea typeface="Consolas" pitchFamily="34" charset="-122"/>
                <a:cs typeface="Consolas" pitchFamily="34" charset="-120"/>
              </a:rPr>
              <a:t>AB3C  ANALYSIS  REPORT</a:t>
            </a:r>
            <a:endParaRPr lang="en-US" sz="1100" dirty="0"/>
          </a:p>
        </p:txBody>
      </p:sp>
      <p:sp>
        <p:nvSpPr>
          <p:cNvPr id="4" name="Shape 2"/>
          <p:cNvSpPr/>
          <p:nvPr/>
        </p:nvSpPr>
        <p:spPr>
          <a:xfrm>
            <a:off x="2743200" y="1325880"/>
            <a:ext cx="6705295" cy="0"/>
          </a:xfrm>
          <a:prstGeom prst="line">
            <a:avLst/>
          </a:prstGeom>
          <a:noFill/>
          <a:ln w="6350">
            <a:solidFill>
              <a:srgbClr val="FFFFFF"/>
            </a:solidFill>
            <a:prstDash val="solid"/>
          </a:ln>
        </p:spPr>
      </p:sp>
      <p:sp>
        <p:nvSpPr>
          <p:cNvPr id="5" name="Text 3"/>
          <p:cNvSpPr/>
          <p:nvPr/>
        </p:nvSpPr>
        <p:spPr>
          <a:xfrm>
            <a:off x="0" y="1737360"/>
            <a:ext cx="12191695" cy="274320"/>
          </a:xfrm>
          <a:prstGeom prst="rect">
            <a:avLst/>
          </a:prstGeom>
          <a:noFill/>
          <a:ln/>
        </p:spPr>
        <p:txBody>
          <a:bodyPr wrap="square" rtlCol="0" anchor="ctr"/>
          <a:lstStyle/>
          <a:p>
            <a:pPr algn="ctr" indent="0" marL="0">
              <a:buNone/>
            </a:pPr>
            <a:r>
              <a:rPr lang="en-US" sz="1300" spc="400" kern="0" dirty="0">
                <a:solidFill>
                  <a:srgbClr val="FFFFFF"/>
                </a:solidFill>
                <a:latin typeface="Yu Gothic UI" pitchFamily="34" charset="0"/>
                <a:ea typeface="Yu Gothic UI" pitchFamily="34" charset="-122"/>
                <a:cs typeface="Yu Gothic UI" pitchFamily="34" charset="-120"/>
              </a:rPr>
              <a:t>── 戦略メッセージ ──</a:t>
            </a:r>
            <a:endParaRPr lang="en-US" sz="1300" dirty="0"/>
          </a:p>
        </p:txBody>
      </p:sp>
      <p:sp>
        <p:nvSpPr>
          <p:cNvPr id="6" name="Text 4"/>
          <p:cNvSpPr/>
          <p:nvPr/>
        </p:nvSpPr>
        <p:spPr>
          <a:xfrm>
            <a:off x="914400" y="2103120"/>
            <a:ext cx="10362895" cy="2286000"/>
          </a:xfrm>
          <a:prstGeom prst="rect">
            <a:avLst/>
          </a:prstGeom>
          <a:noFill/>
          <a:ln/>
        </p:spPr>
        <p:txBody>
          <a:bodyPr wrap="square" rtlCol="0" anchor="ctr">
            <a:normAutofit/>
          </a:bodyPr>
          <a:lstStyle/>
          <a:p>
            <a:pPr algn="ctr" indent="0" marL="0">
              <a:lnSpc>
                <a:spcPct val="150000"/>
              </a:lnSpc>
              <a:spcAft>
                <a:spcPts val="600"/>
              </a:spcAft>
              <a:buNone/>
            </a:pPr>
            <a:r>
              <a:rPr lang="en-US" sz="2800" b="1" dirty="0">
                <a:solidFill>
                  <a:srgbClr val="FFFFFF"/>
                </a:solidFill>
                <a:latin typeface="Noto Serif JP" pitchFamily="34" charset="0"/>
                <a:ea typeface="Noto Serif JP" pitchFamily="34" charset="-122"/>
                <a:cs typeface="Noto Serif JP" pitchFamily="34" charset="-120"/>
              </a:rPr>
              <a:t>AIで戦略提案できる専門家に、資格で証明する</a:t>
            </a:r>
            <a:endParaRPr lang="en-US" sz="2800" dirty="0"/>
          </a:p>
        </p:txBody>
      </p:sp>
      <p:sp>
        <p:nvSpPr>
          <p:cNvPr id="7" name="Text 5"/>
          <p:cNvSpPr/>
          <p:nvPr/>
        </p:nvSpPr>
        <p:spPr>
          <a:xfrm>
            <a:off x="1371600" y="4572000"/>
            <a:ext cx="9448495" cy="365760"/>
          </a:xfrm>
          <a:prstGeom prst="rect">
            <a:avLst/>
          </a:prstGeom>
          <a:noFill/>
          <a:ln/>
        </p:spPr>
        <p:txBody>
          <a:bodyPr wrap="square" rtlCol="0" anchor="ctr"/>
          <a:lstStyle/>
          <a:p>
            <a:pPr algn="ctr" indent="0" marL="0">
              <a:buNone/>
            </a:pPr>
            <a:r>
              <a:rPr lang="en-US" sz="1300" b="1" dirty="0">
                <a:solidFill>
                  <a:srgbClr val="FF0000"/>
                </a:solidFill>
                <a:latin typeface="Consolas" pitchFamily="34" charset="0"/>
                <a:ea typeface="Consolas" pitchFamily="34" charset="-122"/>
                <a:cs typeface="Consolas" pitchFamily="34" charset="-120"/>
              </a:rPr>
              <a:t>B  </a:t>
            </a:r>
            <a:pPr algn="ctr" indent="0" marL="0">
              <a:buNone/>
            </a:pPr>
            <a:r>
              <a:rPr lang="en-US" sz="1300" dirty="0">
                <a:solidFill>
                  <a:srgbClr val="FFFFFF"/>
                </a:solidFill>
                <a:latin typeface="Yu Gothic UI" pitchFamily="34" charset="0"/>
                <a:ea typeface="Yu Gothic UI" pitchFamily="34" charset="-122"/>
                <a:cs typeface="Yu Gothic UI" pitchFamily="34" charset="-120"/>
              </a:rPr>
              <a:t>経営者から信頼される戦略提案力を身につける</a:t>
            </a:r>
            <a:endParaRPr lang="en-US" sz="1300" dirty="0"/>
          </a:p>
        </p:txBody>
      </p:sp>
      <p:sp>
        <p:nvSpPr>
          <p:cNvPr id="8" name="Text 6"/>
          <p:cNvSpPr/>
          <p:nvPr/>
        </p:nvSpPr>
        <p:spPr>
          <a:xfrm>
            <a:off x="1371600" y="4983480"/>
            <a:ext cx="9448495" cy="365760"/>
          </a:xfrm>
          <a:prstGeom prst="rect">
            <a:avLst/>
          </a:prstGeom>
          <a:noFill/>
          <a:ln/>
        </p:spPr>
        <p:txBody>
          <a:bodyPr wrap="square" rtlCol="0" anchor="ctr"/>
          <a:lstStyle/>
          <a:p>
            <a:pPr algn="ctr" indent="0" marL="0">
              <a:buNone/>
            </a:pPr>
            <a:r>
              <a:rPr lang="en-US" sz="1300" b="1" dirty="0">
                <a:solidFill>
                  <a:srgbClr val="1A6FD4"/>
                </a:solidFill>
                <a:latin typeface="Consolas" pitchFamily="34" charset="0"/>
                <a:ea typeface="Consolas" pitchFamily="34" charset="-122"/>
                <a:cs typeface="Consolas" pitchFamily="34" charset="-120"/>
              </a:rPr>
              <a:t>A  </a:t>
            </a:r>
            <a:pPr algn="ctr" indent="0" marL="0">
              <a:buNone/>
            </a:pPr>
            <a:r>
              <a:rPr lang="en-US" sz="1300" dirty="0">
                <a:solidFill>
                  <a:srgbClr val="FFFFFF"/>
                </a:solidFill>
                <a:latin typeface="Yu Gothic UI" pitchFamily="34" charset="0"/>
                <a:ea typeface="Yu Gothic UI" pitchFamily="34" charset="-122"/>
                <a:cs typeface="Yu Gothic UI" pitchFamily="34" charset="-120"/>
              </a:rPr>
              <a:t>AB3C×AI特化の唯一の資格体系</a:t>
            </a:r>
            <a:endParaRPr lang="en-US" sz="1300" dirty="0"/>
          </a:p>
        </p:txBody>
      </p:sp>
      <p:sp>
        <p:nvSpPr>
          <p:cNvPr id="9" name="Shape 7"/>
          <p:cNvSpPr/>
          <p:nvPr/>
        </p:nvSpPr>
        <p:spPr>
          <a:xfrm>
            <a:off x="2743200" y="5760720"/>
            <a:ext cx="6705295" cy="0"/>
          </a:xfrm>
          <a:prstGeom prst="line">
            <a:avLst/>
          </a:prstGeom>
          <a:noFill/>
          <a:ln w="6350">
            <a:solidFill>
              <a:srgbClr val="FFFFFF"/>
            </a:solidFill>
            <a:prstDash val="solid"/>
          </a:ln>
        </p:spPr>
      </p:sp>
      <p:sp>
        <p:nvSpPr>
          <p:cNvPr id="10" name="Text 8"/>
          <p:cNvSpPr/>
          <p:nvPr/>
        </p:nvSpPr>
        <p:spPr>
          <a:xfrm>
            <a:off x="0" y="5852160"/>
            <a:ext cx="12191695" cy="228600"/>
          </a:xfrm>
          <a:prstGeom prst="rect">
            <a:avLst/>
          </a:prstGeom>
          <a:noFill/>
          <a:ln/>
        </p:spPr>
        <p:txBody>
          <a:bodyPr wrap="square" rtlCol="0" anchor="ctr"/>
          <a:lstStyle/>
          <a:p>
            <a:pPr algn="ctr" indent="0" marL="0">
              <a:buNone/>
            </a:pPr>
            <a:r>
              <a:rPr lang="en-US" sz="1000" spc="800" kern="0" dirty="0">
                <a:solidFill>
                  <a:srgbClr val="FFFFFF"/>
                </a:solidFill>
                <a:latin typeface="Consolas" pitchFamily="34" charset="0"/>
                <a:ea typeface="Consolas" pitchFamily="34" charset="-122"/>
                <a:cs typeface="Consolas" pitchFamily="34" charset="-120"/>
              </a:rPr>
              <a:t>発  行</a:t>
            </a:r>
            <a:endParaRPr lang="en-US" sz="1000" dirty="0"/>
          </a:p>
        </p:txBody>
      </p:sp>
      <p:sp>
        <p:nvSpPr>
          <p:cNvPr id="11" name="Text 9"/>
          <p:cNvSpPr/>
          <p:nvPr/>
        </p:nvSpPr>
        <p:spPr>
          <a:xfrm>
            <a:off x="0" y="6080760"/>
            <a:ext cx="12191695" cy="320040"/>
          </a:xfrm>
          <a:prstGeom prst="rect">
            <a:avLst/>
          </a:prstGeom>
          <a:noFill/>
          <a:ln/>
        </p:spPr>
        <p:txBody>
          <a:bodyPr wrap="square" rtlCol="0" anchor="ctr"/>
          <a:lstStyle/>
          <a:p>
            <a:pPr algn="ctr" indent="0" marL="0">
              <a:buNone/>
            </a:pPr>
            <a:r>
              <a:rPr lang="en-US" sz="1400" dirty="0">
                <a:solidFill>
                  <a:srgbClr val="FFFFFF"/>
                </a:solidFill>
                <a:latin typeface="Yu Gothic UI" pitchFamily="34" charset="0"/>
                <a:ea typeface="Yu Gothic UI" pitchFamily="34" charset="-122"/>
                <a:cs typeface="Yu Gothic UI" pitchFamily="34" charset="-120"/>
              </a:rPr>
              <a:t>戦略指南 AI</a:t>
            </a:r>
            <a:endParaRPr lang="en-US" sz="1400" dirty="0"/>
          </a:p>
        </p:txBody>
      </p:sp>
      <p:sp>
        <p:nvSpPr>
          <p:cNvPr id="12" name="Text 10"/>
          <p:cNvSpPr/>
          <p:nvPr/>
        </p:nvSpPr>
        <p:spPr>
          <a:xfrm>
            <a:off x="0" y="6446520"/>
            <a:ext cx="12191695" cy="274320"/>
          </a:xfrm>
          <a:prstGeom prst="rect">
            <a:avLst/>
          </a:prstGeom>
          <a:noFill/>
          <a:ln/>
        </p:spPr>
        <p:txBody>
          <a:bodyPr wrap="square" rtlCol="0" anchor="ctr"/>
          <a:lstStyle/>
          <a:p>
            <a:pPr algn="ctr" indent="0" marL="0">
              <a:buNone/>
            </a:pPr>
            <a:r>
              <a:rPr lang="en-US" sz="1000" spc="400" kern="0" dirty="0">
                <a:solidFill>
                  <a:srgbClr val="FFFFFF"/>
                </a:solidFill>
                <a:latin typeface="Consolas" pitchFamily="34" charset="0"/>
                <a:ea typeface="Consolas" pitchFamily="34" charset="-122"/>
                <a:cs typeface="Consolas" pitchFamily="34" charset="-120"/>
              </a:rPr>
              <a:t>2026.06.01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4415" cy="548640"/>
          </a:xfrm>
          <a:prstGeom prst="rect">
            <a:avLst/>
          </a:prstGeom>
          <a:noFill/>
          <a:ln/>
        </p:spPr>
        <p:txBody>
          <a:bodyPr wrap="square" rtlCol="0" anchor="ctr"/>
          <a:lstStyle/>
          <a:p>
            <a:pPr indent="0" marL="0">
              <a:buNone/>
            </a:pPr>
            <a:r>
              <a:rPr lang="en-US" sz="2800" b="1" dirty="0">
                <a:solidFill>
                  <a:srgbClr val="1A1A14"/>
                </a:solidFill>
                <a:latin typeface="Noto Serif JP" pitchFamily="34" charset="0"/>
                <a:ea typeface="Noto Serif JP" pitchFamily="34" charset="-122"/>
                <a:cs typeface="Noto Serif JP" pitchFamily="34" charset="-120"/>
              </a:rPr>
              <a:t>目次 — Agenda</a:t>
            </a:r>
            <a:endParaRPr lang="en-US" sz="2800" dirty="0"/>
          </a:p>
        </p:txBody>
      </p:sp>
      <p:sp>
        <p:nvSpPr>
          <p:cNvPr id="3" name="Shape 1"/>
          <p:cNvSpPr/>
          <p:nvPr/>
        </p:nvSpPr>
        <p:spPr>
          <a:xfrm>
            <a:off x="548640" y="1051560"/>
            <a:ext cx="11094415" cy="0"/>
          </a:xfrm>
          <a:prstGeom prst="line">
            <a:avLst/>
          </a:prstGeom>
          <a:noFill/>
          <a:ln w="19050">
            <a:solidFill>
              <a:srgbClr val="1A1A14"/>
            </a:solidFill>
            <a:prstDash val="solid"/>
          </a:ln>
        </p:spPr>
      </p:sp>
      <p:sp>
        <p:nvSpPr>
          <p:cNvPr id="4" name="Shape 2"/>
          <p:cNvSpPr/>
          <p:nvPr/>
        </p:nvSpPr>
        <p:spPr>
          <a:xfrm>
            <a:off x="548640" y="1463040"/>
            <a:ext cx="822960" cy="731520"/>
          </a:xfrm>
          <a:prstGeom prst="rect">
            <a:avLst/>
          </a:prstGeom>
          <a:solidFill>
            <a:srgbClr val="1A1A14"/>
          </a:solidFill>
          <a:ln w="12700">
            <a:solidFill>
              <a:srgbClr val="1A1A14"/>
            </a:solidFill>
            <a:prstDash val="solid"/>
          </a:ln>
        </p:spPr>
      </p:sp>
      <p:sp>
        <p:nvSpPr>
          <p:cNvPr id="5" name="Text 3"/>
          <p:cNvSpPr/>
          <p:nvPr/>
        </p:nvSpPr>
        <p:spPr>
          <a:xfrm>
            <a:off x="548640" y="1463040"/>
            <a:ext cx="822960" cy="731520"/>
          </a:xfrm>
          <a:prstGeom prst="rect">
            <a:avLst/>
          </a:prstGeom>
          <a:noFill/>
          <a:ln/>
        </p:spPr>
        <p:txBody>
          <a:bodyPr wrap="square" rtlCol="0" anchor="ctr"/>
          <a:lstStyle/>
          <a:p>
            <a:pPr algn="ctr" indent="0" marL="0">
              <a:buNone/>
            </a:pPr>
            <a:r>
              <a:rPr lang="en-US" sz="3200" b="1" dirty="0">
                <a:solidFill>
                  <a:srgbClr val="FFFFFF"/>
                </a:solidFill>
                <a:latin typeface="Noto Serif JP" pitchFamily="34" charset="0"/>
                <a:ea typeface="Noto Serif JP" pitchFamily="34" charset="-122"/>
                <a:cs typeface="Noto Serif JP" pitchFamily="34" charset="-120"/>
              </a:rPr>
              <a:t>1</a:t>
            </a:r>
            <a:endParaRPr lang="en-US" sz="3200" dirty="0"/>
          </a:p>
        </p:txBody>
      </p:sp>
      <p:sp>
        <p:nvSpPr>
          <p:cNvPr id="6" name="Text 4"/>
          <p:cNvSpPr/>
          <p:nvPr/>
        </p:nvSpPr>
        <p:spPr>
          <a:xfrm>
            <a:off x="1645920" y="1463040"/>
            <a:ext cx="9997135" cy="411480"/>
          </a:xfrm>
          <a:prstGeom prst="rect">
            <a:avLst/>
          </a:prstGeom>
          <a:noFill/>
          <a:ln/>
        </p:spPr>
        <p:txBody>
          <a:bodyPr wrap="square" rtlCol="0" anchor="ctr"/>
          <a:lstStyle/>
          <a:p>
            <a:pPr indent="0" marL="0">
              <a:buNone/>
            </a:pPr>
            <a:r>
              <a:rPr lang="en-US" sz="2200" b="1" dirty="0">
                <a:solidFill>
                  <a:srgbClr val="1A1A14"/>
                </a:solidFill>
                <a:latin typeface="Noto Serif JP" pitchFamily="34" charset="0"/>
                <a:ea typeface="Noto Serif JP" pitchFamily="34" charset="-122"/>
                <a:cs typeface="Noto Serif JP" pitchFamily="34" charset="-120"/>
              </a:rPr>
              <a:t>現状把握（3C 分析）</a:t>
            </a:r>
            <a:endParaRPr lang="en-US" sz="2200" dirty="0"/>
          </a:p>
        </p:txBody>
      </p:sp>
      <p:sp>
        <p:nvSpPr>
          <p:cNvPr id="7" name="Text 5"/>
          <p:cNvSpPr/>
          <p:nvPr/>
        </p:nvSpPr>
        <p:spPr>
          <a:xfrm>
            <a:off x="1645920" y="1874520"/>
            <a:ext cx="9997135" cy="320040"/>
          </a:xfrm>
          <a:prstGeom prst="rect">
            <a:avLst/>
          </a:prstGeom>
          <a:noFill/>
          <a:ln/>
        </p:spPr>
        <p:txBody>
          <a:bodyPr wrap="square" rtlCol="0" anchor="ctr"/>
          <a:lstStyle/>
          <a:p>
            <a:pPr indent="0" marL="0">
              <a:buNone/>
            </a:pPr>
            <a:r>
              <a:rPr lang="en-US" sz="1400" dirty="0">
                <a:solidFill>
                  <a:srgbClr val="555555"/>
                </a:solidFill>
                <a:latin typeface="Yu Gothic UI" pitchFamily="34" charset="0"/>
                <a:ea typeface="Yu Gothic UI" pitchFamily="34" charset="-122"/>
                <a:cs typeface="Yu Gothic UI" pitchFamily="34" charset="-120"/>
              </a:rPr>
              <a:t>顧客・競合・自社</a:t>
            </a:r>
            <a:endParaRPr lang="en-US" sz="1400" dirty="0"/>
          </a:p>
        </p:txBody>
      </p:sp>
      <p:sp>
        <p:nvSpPr>
          <p:cNvPr id="8" name="Shape 6"/>
          <p:cNvSpPr/>
          <p:nvPr/>
        </p:nvSpPr>
        <p:spPr>
          <a:xfrm>
            <a:off x="548640" y="2423160"/>
            <a:ext cx="822960" cy="731520"/>
          </a:xfrm>
          <a:prstGeom prst="rect">
            <a:avLst/>
          </a:prstGeom>
          <a:solidFill>
            <a:srgbClr val="FF0000"/>
          </a:solidFill>
          <a:ln w="12700">
            <a:solidFill>
              <a:srgbClr val="FF0000"/>
            </a:solidFill>
            <a:prstDash val="solid"/>
          </a:ln>
        </p:spPr>
      </p:sp>
      <p:sp>
        <p:nvSpPr>
          <p:cNvPr id="9" name="Text 7"/>
          <p:cNvSpPr/>
          <p:nvPr/>
        </p:nvSpPr>
        <p:spPr>
          <a:xfrm>
            <a:off x="548640" y="2423160"/>
            <a:ext cx="822960" cy="731520"/>
          </a:xfrm>
          <a:prstGeom prst="rect">
            <a:avLst/>
          </a:prstGeom>
          <a:noFill/>
          <a:ln/>
        </p:spPr>
        <p:txBody>
          <a:bodyPr wrap="square" rtlCol="0" anchor="ctr"/>
          <a:lstStyle/>
          <a:p>
            <a:pPr algn="ctr" indent="0" marL="0">
              <a:buNone/>
            </a:pPr>
            <a:r>
              <a:rPr lang="en-US" sz="3200" b="1" dirty="0">
                <a:solidFill>
                  <a:srgbClr val="FFFFFF"/>
                </a:solidFill>
                <a:latin typeface="Noto Serif JP" pitchFamily="34" charset="0"/>
                <a:ea typeface="Noto Serif JP" pitchFamily="34" charset="-122"/>
                <a:cs typeface="Noto Serif JP" pitchFamily="34" charset="-120"/>
              </a:rPr>
              <a:t>2</a:t>
            </a:r>
            <a:endParaRPr lang="en-US" sz="3200" dirty="0"/>
          </a:p>
        </p:txBody>
      </p:sp>
      <p:sp>
        <p:nvSpPr>
          <p:cNvPr id="10" name="Text 8"/>
          <p:cNvSpPr/>
          <p:nvPr/>
        </p:nvSpPr>
        <p:spPr>
          <a:xfrm>
            <a:off x="1645920" y="2423160"/>
            <a:ext cx="9997135" cy="411480"/>
          </a:xfrm>
          <a:prstGeom prst="rect">
            <a:avLst/>
          </a:prstGeom>
          <a:noFill/>
          <a:ln/>
        </p:spPr>
        <p:txBody>
          <a:bodyPr wrap="square" rtlCol="0" anchor="ctr"/>
          <a:lstStyle/>
          <a:p>
            <a:pPr indent="0" marL="0">
              <a:buNone/>
            </a:pPr>
            <a:r>
              <a:rPr lang="en-US" sz="2200" b="1" dirty="0">
                <a:solidFill>
                  <a:srgbClr val="1A1A14"/>
                </a:solidFill>
                <a:latin typeface="Noto Serif JP" pitchFamily="34" charset="0"/>
                <a:ea typeface="Noto Serif JP" pitchFamily="34" charset="-122"/>
                <a:cs typeface="Noto Serif JP" pitchFamily="34" charset="-120"/>
              </a:rPr>
              <a:t>戦略の核</a:t>
            </a:r>
            <a:endParaRPr lang="en-US" sz="2200" dirty="0"/>
          </a:p>
        </p:txBody>
      </p:sp>
      <p:sp>
        <p:nvSpPr>
          <p:cNvPr id="11" name="Text 9"/>
          <p:cNvSpPr/>
          <p:nvPr/>
        </p:nvSpPr>
        <p:spPr>
          <a:xfrm>
            <a:off x="1645920" y="2834640"/>
            <a:ext cx="9997135" cy="320040"/>
          </a:xfrm>
          <a:prstGeom prst="rect">
            <a:avLst/>
          </a:prstGeom>
          <a:noFill/>
          <a:ln/>
        </p:spPr>
        <p:txBody>
          <a:bodyPr wrap="square" rtlCol="0" anchor="ctr"/>
          <a:lstStyle/>
          <a:p>
            <a:pPr indent="0" marL="0">
              <a:buNone/>
            </a:pPr>
            <a:r>
              <a:rPr lang="en-US" sz="1400" dirty="0">
                <a:solidFill>
                  <a:srgbClr val="555555"/>
                </a:solidFill>
                <a:latin typeface="Yu Gothic UI" pitchFamily="34" charset="0"/>
                <a:ea typeface="Yu Gothic UI" pitchFamily="34" charset="-122"/>
                <a:cs typeface="Yu Gothic UI" pitchFamily="34" charset="-120"/>
              </a:rPr>
              <a:t>ベネフィット・アドバンテージ・戦略メッセージ</a:t>
            </a:r>
            <a:endParaRPr lang="en-US" sz="1400" dirty="0"/>
          </a:p>
        </p:txBody>
      </p:sp>
      <p:sp>
        <p:nvSpPr>
          <p:cNvPr id="12" name="Shape 10"/>
          <p:cNvSpPr/>
          <p:nvPr/>
        </p:nvSpPr>
        <p:spPr>
          <a:xfrm>
            <a:off x="548640" y="3383280"/>
            <a:ext cx="822960" cy="731520"/>
          </a:xfrm>
          <a:prstGeom prst="rect">
            <a:avLst/>
          </a:prstGeom>
          <a:solidFill>
            <a:srgbClr val="555555"/>
          </a:solidFill>
          <a:ln w="12700">
            <a:solidFill>
              <a:srgbClr val="555555"/>
            </a:solidFill>
            <a:prstDash val="solid"/>
          </a:ln>
        </p:spPr>
      </p:sp>
      <p:sp>
        <p:nvSpPr>
          <p:cNvPr id="13" name="Text 11"/>
          <p:cNvSpPr/>
          <p:nvPr/>
        </p:nvSpPr>
        <p:spPr>
          <a:xfrm>
            <a:off x="548640" y="3383280"/>
            <a:ext cx="822960" cy="731520"/>
          </a:xfrm>
          <a:prstGeom prst="rect">
            <a:avLst/>
          </a:prstGeom>
          <a:noFill/>
          <a:ln/>
        </p:spPr>
        <p:txBody>
          <a:bodyPr wrap="square" rtlCol="0" anchor="ctr"/>
          <a:lstStyle/>
          <a:p>
            <a:pPr algn="ctr" indent="0" marL="0">
              <a:buNone/>
            </a:pPr>
            <a:r>
              <a:rPr lang="en-US" sz="3200" b="1" dirty="0">
                <a:solidFill>
                  <a:srgbClr val="FFFFFF"/>
                </a:solidFill>
                <a:latin typeface="Noto Serif JP" pitchFamily="34" charset="0"/>
                <a:ea typeface="Noto Serif JP" pitchFamily="34" charset="-122"/>
                <a:cs typeface="Noto Serif JP" pitchFamily="34" charset="-120"/>
              </a:rPr>
              <a:t>3</a:t>
            </a:r>
            <a:endParaRPr lang="en-US" sz="3200" dirty="0"/>
          </a:p>
        </p:txBody>
      </p:sp>
      <p:sp>
        <p:nvSpPr>
          <p:cNvPr id="14" name="Text 12"/>
          <p:cNvSpPr/>
          <p:nvPr/>
        </p:nvSpPr>
        <p:spPr>
          <a:xfrm>
            <a:off x="1645920" y="3383280"/>
            <a:ext cx="9997135" cy="411480"/>
          </a:xfrm>
          <a:prstGeom prst="rect">
            <a:avLst/>
          </a:prstGeom>
          <a:noFill/>
          <a:ln/>
        </p:spPr>
        <p:txBody>
          <a:bodyPr wrap="square" rtlCol="0" anchor="ctr"/>
          <a:lstStyle/>
          <a:p>
            <a:pPr indent="0" marL="0">
              <a:buNone/>
            </a:pPr>
            <a:r>
              <a:rPr lang="en-US" sz="2200" b="1" dirty="0">
                <a:solidFill>
                  <a:srgbClr val="1A1A14"/>
                </a:solidFill>
                <a:latin typeface="Noto Serif JP" pitchFamily="34" charset="0"/>
                <a:ea typeface="Noto Serif JP" pitchFamily="34" charset="-122"/>
                <a:cs typeface="Noto Serif JP" pitchFamily="34" charset="-120"/>
              </a:rPr>
              <a:t>品質チェック</a:t>
            </a:r>
            <a:endParaRPr lang="en-US" sz="2200" dirty="0"/>
          </a:p>
        </p:txBody>
      </p:sp>
      <p:sp>
        <p:nvSpPr>
          <p:cNvPr id="15" name="Text 13"/>
          <p:cNvSpPr/>
          <p:nvPr/>
        </p:nvSpPr>
        <p:spPr>
          <a:xfrm>
            <a:off x="1645920" y="3794760"/>
            <a:ext cx="9997135" cy="320040"/>
          </a:xfrm>
          <a:prstGeom prst="rect">
            <a:avLst/>
          </a:prstGeom>
          <a:noFill/>
          <a:ln/>
        </p:spPr>
        <p:txBody>
          <a:bodyPr wrap="square" rtlCol="0" anchor="ctr"/>
          <a:lstStyle/>
          <a:p>
            <a:pPr indent="0" marL="0">
              <a:buNone/>
            </a:pPr>
            <a:r>
              <a:rPr lang="en-US" sz="1400" dirty="0">
                <a:solidFill>
                  <a:srgbClr val="555555"/>
                </a:solidFill>
                <a:latin typeface="Yu Gothic UI" pitchFamily="34" charset="0"/>
                <a:ea typeface="Yu Gothic UI" pitchFamily="34" charset="-122"/>
                <a:cs typeface="Yu Gothic UI" pitchFamily="34" charset="-120"/>
              </a:rPr>
              <a:t>戦略の自己点検</a:t>
            </a:r>
            <a:endParaRPr lang="en-US" sz="1400" dirty="0"/>
          </a:p>
        </p:txBody>
      </p:sp>
      <p:sp>
        <p:nvSpPr>
          <p:cNvPr id="16" name="Shape 14"/>
          <p:cNvSpPr/>
          <p:nvPr/>
        </p:nvSpPr>
        <p:spPr>
          <a:xfrm>
            <a:off x="548640" y="4343400"/>
            <a:ext cx="822960" cy="731520"/>
          </a:xfrm>
          <a:prstGeom prst="rect">
            <a:avLst/>
          </a:prstGeom>
          <a:solidFill>
            <a:srgbClr val="EA580C"/>
          </a:solidFill>
          <a:ln w="12700">
            <a:solidFill>
              <a:srgbClr val="EA580C"/>
            </a:solidFill>
            <a:prstDash val="solid"/>
          </a:ln>
        </p:spPr>
      </p:sp>
      <p:sp>
        <p:nvSpPr>
          <p:cNvPr id="17" name="Text 15"/>
          <p:cNvSpPr/>
          <p:nvPr/>
        </p:nvSpPr>
        <p:spPr>
          <a:xfrm>
            <a:off x="548640" y="4343400"/>
            <a:ext cx="822960" cy="731520"/>
          </a:xfrm>
          <a:prstGeom prst="rect">
            <a:avLst/>
          </a:prstGeom>
          <a:noFill/>
          <a:ln/>
        </p:spPr>
        <p:txBody>
          <a:bodyPr wrap="square" rtlCol="0" anchor="ctr"/>
          <a:lstStyle/>
          <a:p>
            <a:pPr algn="ctr" indent="0" marL="0">
              <a:buNone/>
            </a:pPr>
            <a:r>
              <a:rPr lang="en-US" sz="3200" b="1" dirty="0">
                <a:solidFill>
                  <a:srgbClr val="FFFFFF"/>
                </a:solidFill>
                <a:latin typeface="Noto Serif JP" pitchFamily="34" charset="0"/>
                <a:ea typeface="Noto Serif JP" pitchFamily="34" charset="-122"/>
                <a:cs typeface="Noto Serif JP" pitchFamily="34" charset="-120"/>
              </a:rPr>
              <a:t>4</a:t>
            </a:r>
            <a:endParaRPr lang="en-US" sz="3200" dirty="0"/>
          </a:p>
        </p:txBody>
      </p:sp>
      <p:sp>
        <p:nvSpPr>
          <p:cNvPr id="18" name="Text 16"/>
          <p:cNvSpPr/>
          <p:nvPr/>
        </p:nvSpPr>
        <p:spPr>
          <a:xfrm>
            <a:off x="1645920" y="4343400"/>
            <a:ext cx="9997135" cy="411480"/>
          </a:xfrm>
          <a:prstGeom prst="rect">
            <a:avLst/>
          </a:prstGeom>
          <a:noFill/>
          <a:ln/>
        </p:spPr>
        <p:txBody>
          <a:bodyPr wrap="square" rtlCol="0" anchor="ctr"/>
          <a:lstStyle/>
          <a:p>
            <a:pPr indent="0" marL="0">
              <a:buNone/>
            </a:pPr>
            <a:r>
              <a:rPr lang="en-US" sz="2200" b="1" dirty="0">
                <a:solidFill>
                  <a:srgbClr val="1A1A14"/>
                </a:solidFill>
                <a:latin typeface="Noto Serif JP" pitchFamily="34" charset="0"/>
                <a:ea typeface="Noto Serif JP" pitchFamily="34" charset="-122"/>
                <a:cs typeface="Noto Serif JP" pitchFamily="34" charset="-120"/>
              </a:rPr>
              <a:t>実行</a:t>
            </a:r>
            <a:endParaRPr lang="en-US" sz="2200" dirty="0"/>
          </a:p>
        </p:txBody>
      </p:sp>
      <p:sp>
        <p:nvSpPr>
          <p:cNvPr id="19" name="Text 17"/>
          <p:cNvSpPr/>
          <p:nvPr/>
        </p:nvSpPr>
        <p:spPr>
          <a:xfrm>
            <a:off x="1645920" y="4754880"/>
            <a:ext cx="9997135" cy="320040"/>
          </a:xfrm>
          <a:prstGeom prst="rect">
            <a:avLst/>
          </a:prstGeom>
          <a:noFill/>
          <a:ln/>
        </p:spPr>
        <p:txBody>
          <a:bodyPr wrap="square" rtlCol="0" anchor="ctr"/>
          <a:lstStyle/>
          <a:p>
            <a:pPr indent="0" marL="0">
              <a:buNone/>
            </a:pPr>
            <a:r>
              <a:rPr lang="en-US" sz="1400" dirty="0">
                <a:solidFill>
                  <a:srgbClr val="555555"/>
                </a:solidFill>
                <a:latin typeface="Yu Gothic UI" pitchFamily="34" charset="0"/>
                <a:ea typeface="Yu Gothic UI" pitchFamily="34" charset="-122"/>
                <a:cs typeface="Yu Gothic UI" pitchFamily="34" charset="-120"/>
              </a:rPr>
              <a:t>ウェブサイト改善・次のアクション</a:t>
            </a:r>
            <a:endParaRPr lang="en-US" sz="1400" dirty="0"/>
          </a:p>
        </p:txBody>
      </p:sp>
      <p:sp>
        <p:nvSpPr>
          <p:cNvPr id="20" name="Text 18"/>
          <p:cNvSpPr/>
          <p:nvPr/>
        </p:nvSpPr>
        <p:spPr>
          <a:xfrm>
            <a:off x="548640" y="6537960"/>
            <a:ext cx="5486400" cy="228600"/>
          </a:xfrm>
          <a:prstGeom prst="rect">
            <a:avLst/>
          </a:prstGeom>
          <a:noFill/>
          <a:ln/>
        </p:spPr>
        <p:txBody>
          <a:bodyPr wrap="square" rtlCol="0" anchor="ctr"/>
          <a:lstStyle/>
          <a:p>
            <a:pPr indent="0" marL="0">
              <a:buNone/>
            </a:pPr>
            <a:r>
              <a:rPr lang="en-US" sz="900" dirty="0">
                <a:solidFill>
                  <a:srgbClr val="555555"/>
                </a:solidFill>
                <a:latin typeface="Yu Gothic UI" pitchFamily="34" charset="0"/>
                <a:ea typeface="Yu Gothic UI" pitchFamily="34" charset="-122"/>
                <a:cs typeface="Yu Gothic UI" pitchFamily="34" charset="-120"/>
              </a:rPr>
              <a:t>digi-kaku.or.jp</a:t>
            </a:r>
            <a:endParaRPr lang="en-US" sz="900" dirty="0"/>
          </a:p>
        </p:txBody>
      </p:sp>
      <p:sp>
        <p:nvSpPr>
          <p:cNvPr id="21" name="Text 19"/>
          <p:cNvSpPr/>
          <p:nvPr/>
        </p:nvSpPr>
        <p:spPr>
          <a:xfrm>
            <a:off x="6156655" y="6537960"/>
            <a:ext cx="5486400" cy="228600"/>
          </a:xfrm>
          <a:prstGeom prst="rect">
            <a:avLst/>
          </a:prstGeom>
          <a:noFill/>
          <a:ln/>
        </p:spPr>
        <p:txBody>
          <a:bodyPr wrap="square" rtlCol="0" anchor="ctr"/>
          <a:lstStyle/>
          <a:p>
            <a:pPr algn="r" indent="0" marL="0">
              <a:buNone/>
            </a:pPr>
            <a:r>
              <a:rPr lang="en-US" sz="900" dirty="0">
                <a:solidFill>
                  <a:srgbClr val="555555"/>
                </a:solidFill>
                <a:latin typeface="Yu Gothic UI" pitchFamily="34" charset="0"/>
                <a:ea typeface="Yu Gothic UI" pitchFamily="34" charset="-122"/>
                <a:cs typeface="Yu Gothic UI" pitchFamily="34" charset="-120"/>
              </a:rPr>
              <a:t>戦略指南 AI / AB3C 分析レポート　2 / 27</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1A1A14"/>
          </a:solidFill>
          <a:ln w="12700">
            <a:solidFill>
              <a:srgbClr val="1A1A14"/>
            </a:solidFill>
            <a:prstDash val="solid"/>
          </a:ln>
        </p:spPr>
      </p:sp>
      <p:sp>
        <p:nvSpPr>
          <p:cNvPr id="3" name="Text 1"/>
          <p:cNvSpPr/>
          <p:nvPr/>
        </p:nvSpPr>
        <p:spPr>
          <a:xfrm>
            <a:off x="548640" y="457200"/>
            <a:ext cx="11094415" cy="640080"/>
          </a:xfrm>
          <a:prstGeom prst="rect">
            <a:avLst/>
          </a:prstGeom>
          <a:noFill/>
          <a:ln/>
        </p:spPr>
        <p:txBody>
          <a:bodyPr wrap="square" rtlCol="0" anchor="ctr"/>
          <a:lstStyle/>
          <a:p>
            <a:pPr indent="0" marL="0">
              <a:buNone/>
            </a:pPr>
            <a:r>
              <a:rPr lang="en-US" sz="3000" b="1" dirty="0">
                <a:solidFill>
                  <a:srgbClr val="1A1A14"/>
                </a:solidFill>
                <a:latin typeface="Noto Serif JP" pitchFamily="34" charset="0"/>
                <a:ea typeface="Noto Serif JP" pitchFamily="34" charset="-122"/>
                <a:cs typeface="Noto Serif JP" pitchFamily="34" charset="-120"/>
              </a:rPr>
              <a:t>分析対象</a:t>
            </a:r>
            <a:endParaRPr lang="en-US" sz="3000" dirty="0"/>
          </a:p>
        </p:txBody>
      </p:sp>
      <p:sp>
        <p:nvSpPr>
          <p:cNvPr id="4" name="Shape 2"/>
          <p:cNvSpPr/>
          <p:nvPr/>
        </p:nvSpPr>
        <p:spPr>
          <a:xfrm>
            <a:off x="548640" y="1280160"/>
            <a:ext cx="11094415" cy="0"/>
          </a:xfrm>
          <a:prstGeom prst="line">
            <a:avLst/>
          </a:prstGeom>
          <a:noFill/>
          <a:ln w="12700">
            <a:solidFill>
              <a:srgbClr val="1A1A14"/>
            </a:solidFill>
            <a:prstDash val="solid"/>
          </a:ln>
        </p:spPr>
      </p:sp>
      <p:sp>
        <p:nvSpPr>
          <p:cNvPr id="5" name="Text 3"/>
          <p:cNvSpPr/>
          <p:nvPr/>
        </p:nvSpPr>
        <p:spPr>
          <a:xfrm>
            <a:off x="548640" y="1371600"/>
            <a:ext cx="11094415" cy="640080"/>
          </a:xfrm>
          <a:prstGeom prst="rect">
            <a:avLst/>
          </a:prstGeom>
          <a:noFill/>
          <a:ln/>
        </p:spPr>
        <p:txBody>
          <a:bodyPr wrap="square" rtlCol="0" anchor="ctr"/>
          <a:lstStyle/>
          <a:p>
            <a:pPr indent="0" marL="0">
              <a:buNone/>
            </a:pPr>
            <a:r>
              <a:rPr lang="en-US" sz="3600" b="1" dirty="0">
                <a:solidFill>
                  <a:srgbClr val="1A1A14"/>
                </a:solidFill>
                <a:latin typeface="Noto Serif JP" pitchFamily="34" charset="0"/>
                <a:ea typeface="Noto Serif JP" pitchFamily="34" charset="-122"/>
                <a:cs typeface="Noto Serif JP" pitchFamily="34" charset="-120"/>
              </a:rPr>
              <a:t>digi-kaku.or.jp</a:t>
            </a:r>
            <a:endParaRPr lang="en-US" sz="3600" dirty="0"/>
          </a:p>
        </p:txBody>
      </p:sp>
      <p:sp>
        <p:nvSpPr>
          <p:cNvPr id="6" name="Text 4">
            <a:hlinkClick r:id="rId1" tooltip=""/>
          </p:cNvPr>
          <p:cNvSpPr/>
          <p:nvPr/>
        </p:nvSpPr>
        <p:spPr>
          <a:xfrm>
            <a:off x="548640" y="2103120"/>
            <a:ext cx="11094415" cy="457200"/>
          </a:xfrm>
          <a:prstGeom prst="rect">
            <a:avLst/>
          </a:prstGeom>
          <a:noFill/>
          <a:ln/>
        </p:spPr>
        <p:txBody>
          <a:bodyPr wrap="square" rtlCol="0" anchor="ctr"/>
          <a:lstStyle/>
          <a:p>
            <a:pPr indent="0" marL="0">
              <a:buNone/>
            </a:pPr>
            <a:r>
              <a:rPr lang="en-US" sz="1600" u="sng" dirty="0">
                <a:solidFill>
                  <a:srgbClr val="1A6FD4"/>
                </a:solidFill>
                <a:latin typeface="Consolas" pitchFamily="34" charset="0"/>
                <a:ea typeface="Consolas" pitchFamily="34" charset="-122"/>
                <a:cs typeface="Consolas"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https://www.digi-kaku.or.jp/</a:t>
            </a:r>
            <a:endParaRPr lang="en-US" sz="1600" dirty="0"/>
          </a:p>
        </p:txBody>
      </p:sp>
      <p:sp>
        <p:nvSpPr>
          <p:cNvPr id="7" name="Text 5"/>
          <p:cNvSpPr/>
          <p:nvPr/>
        </p:nvSpPr>
        <p:spPr>
          <a:xfrm>
            <a:off x="548640" y="6537960"/>
            <a:ext cx="5486400" cy="228600"/>
          </a:xfrm>
          <a:prstGeom prst="rect">
            <a:avLst/>
          </a:prstGeom>
          <a:noFill/>
          <a:ln/>
        </p:spPr>
        <p:txBody>
          <a:bodyPr wrap="square" rtlCol="0" anchor="ctr"/>
          <a:lstStyle/>
          <a:p>
            <a:pPr indent="0" marL="0">
              <a:buNone/>
            </a:pPr>
            <a:r>
              <a:rPr lang="en-US" sz="900" dirty="0">
                <a:solidFill>
                  <a:srgbClr val="555555"/>
                </a:solidFill>
                <a:latin typeface="Yu Gothic UI" pitchFamily="34" charset="0"/>
                <a:ea typeface="Yu Gothic UI" pitchFamily="34" charset="-122"/>
                <a:cs typeface="Yu Gothic UI" pitchFamily="34" charset="-120"/>
              </a:rPr>
              <a:t>digi-kaku.or.jp</a:t>
            </a:r>
            <a:endParaRPr lang="en-US" sz="900" dirty="0"/>
          </a:p>
        </p:txBody>
      </p:sp>
      <p:sp>
        <p:nvSpPr>
          <p:cNvPr id="8" name="Text 6"/>
          <p:cNvSpPr/>
          <p:nvPr/>
        </p:nvSpPr>
        <p:spPr>
          <a:xfrm>
            <a:off x="6156655" y="6537960"/>
            <a:ext cx="5486400" cy="228600"/>
          </a:xfrm>
          <a:prstGeom prst="rect">
            <a:avLst/>
          </a:prstGeom>
          <a:noFill/>
          <a:ln/>
        </p:spPr>
        <p:txBody>
          <a:bodyPr wrap="square" rtlCol="0" anchor="ctr"/>
          <a:lstStyle/>
          <a:p>
            <a:pPr algn="r" indent="0" marL="0">
              <a:buNone/>
            </a:pPr>
            <a:r>
              <a:rPr lang="en-US" sz="900" dirty="0">
                <a:solidFill>
                  <a:srgbClr val="555555"/>
                </a:solidFill>
                <a:latin typeface="Yu Gothic UI" pitchFamily="34" charset="0"/>
                <a:ea typeface="Yu Gothic UI" pitchFamily="34" charset="-122"/>
                <a:cs typeface="Yu Gothic UI" pitchFamily="34" charset="-120"/>
              </a:rPr>
              <a:t>戦略指南 AI / AB3C 分析レポート　3 / 27</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1A1A14"/>
          </a:solidFill>
          <a:ln w="12700">
            <a:solidFill>
              <a:srgbClr val="1A1A14"/>
            </a:solidFill>
            <a:prstDash val="solid"/>
          </a:ln>
        </p:spPr>
      </p:sp>
      <p:sp>
        <p:nvSpPr>
          <p:cNvPr id="3" name="Text 1"/>
          <p:cNvSpPr/>
          <p:nvPr/>
        </p:nvSpPr>
        <p:spPr>
          <a:xfrm>
            <a:off x="548640" y="457200"/>
            <a:ext cx="11094415" cy="640080"/>
          </a:xfrm>
          <a:prstGeom prst="rect">
            <a:avLst/>
          </a:prstGeom>
          <a:noFill/>
          <a:ln/>
        </p:spPr>
        <p:txBody>
          <a:bodyPr wrap="square" rtlCol="0" anchor="ctr"/>
          <a:lstStyle/>
          <a:p>
            <a:pPr indent="0" marL="0">
              <a:buNone/>
            </a:pPr>
            <a:r>
              <a:rPr lang="en-US" sz="3000" b="1" dirty="0">
                <a:solidFill>
                  <a:srgbClr val="1A1A14"/>
                </a:solidFill>
                <a:latin typeface="Noto Serif JP" pitchFamily="34" charset="0"/>
                <a:ea typeface="Noto Serif JP" pitchFamily="34" charset="-122"/>
                <a:cs typeface="Noto Serif JP" pitchFamily="34" charset="-120"/>
              </a:rPr>
              <a:t>AB3C フレームワークとは</a:t>
            </a:r>
            <a:endParaRPr lang="en-US" sz="3000" dirty="0"/>
          </a:p>
        </p:txBody>
      </p:sp>
      <p:sp>
        <p:nvSpPr>
          <p:cNvPr id="4" name="Shape 2"/>
          <p:cNvSpPr/>
          <p:nvPr/>
        </p:nvSpPr>
        <p:spPr>
          <a:xfrm>
            <a:off x="548640" y="1280160"/>
            <a:ext cx="11094415" cy="0"/>
          </a:xfrm>
          <a:prstGeom prst="line">
            <a:avLst/>
          </a:prstGeom>
          <a:noFill/>
          <a:ln w="12700">
            <a:solidFill>
              <a:srgbClr val="1A1A14"/>
            </a:solidFill>
            <a:prstDash val="solid"/>
          </a:ln>
        </p:spPr>
      </p:sp>
      <p:sp>
        <p:nvSpPr>
          <p:cNvPr id="5" name="Shape 3"/>
          <p:cNvSpPr/>
          <p:nvPr/>
        </p:nvSpPr>
        <p:spPr>
          <a:xfrm>
            <a:off x="548640" y="1417320"/>
            <a:ext cx="822960" cy="1234440"/>
          </a:xfrm>
          <a:prstGeom prst="rect">
            <a:avLst/>
          </a:prstGeom>
          <a:solidFill>
            <a:srgbClr val="1A1A14"/>
          </a:solidFill>
          <a:ln w="12700">
            <a:solidFill>
              <a:srgbClr val="1A1A14"/>
            </a:solidFill>
            <a:prstDash val="solid"/>
          </a:ln>
        </p:spPr>
      </p:sp>
      <p:sp>
        <p:nvSpPr>
          <p:cNvPr id="6" name="Text 4"/>
          <p:cNvSpPr/>
          <p:nvPr/>
        </p:nvSpPr>
        <p:spPr>
          <a:xfrm>
            <a:off x="548640" y="1417320"/>
            <a:ext cx="822960" cy="1234440"/>
          </a:xfrm>
          <a:prstGeom prst="rect">
            <a:avLst/>
          </a:prstGeom>
          <a:noFill/>
          <a:ln/>
        </p:spPr>
        <p:txBody>
          <a:bodyPr wrap="square" rtlCol="0" anchor="ctr"/>
          <a:lstStyle/>
          <a:p>
            <a:pPr algn="ctr" indent="0" marL="0">
              <a:buNone/>
            </a:pPr>
            <a:r>
              <a:rPr lang="en-US" sz="4800" b="1" dirty="0">
                <a:solidFill>
                  <a:srgbClr val="FFFFFF"/>
                </a:solidFill>
                <a:latin typeface="Noto Serif JP" pitchFamily="34" charset="0"/>
                <a:ea typeface="Noto Serif JP" pitchFamily="34" charset="-122"/>
                <a:cs typeface="Noto Serif JP" pitchFamily="34" charset="-120"/>
              </a:rPr>
              <a:t>C</a:t>
            </a:r>
            <a:endParaRPr lang="en-US" sz="4800" dirty="0"/>
          </a:p>
        </p:txBody>
      </p:sp>
      <p:sp>
        <p:nvSpPr>
          <p:cNvPr id="7" name="Text 5"/>
          <p:cNvSpPr/>
          <p:nvPr/>
        </p:nvSpPr>
        <p:spPr>
          <a:xfrm>
            <a:off x="1463040" y="1463040"/>
            <a:ext cx="2661818" cy="274320"/>
          </a:xfrm>
          <a:prstGeom prst="rect">
            <a:avLst/>
          </a:prstGeom>
          <a:noFill/>
          <a:ln/>
        </p:spPr>
        <p:txBody>
          <a:bodyPr wrap="square" rtlCol="0" anchor="ctr"/>
          <a:lstStyle/>
          <a:p>
            <a:pPr indent="0" marL="0">
              <a:buNone/>
            </a:pPr>
            <a:r>
              <a:rPr lang="en-US" sz="1000" spc="300" kern="0" dirty="0">
                <a:solidFill>
                  <a:srgbClr val="555555"/>
                </a:solidFill>
                <a:latin typeface="Consolas" pitchFamily="34" charset="0"/>
                <a:ea typeface="Consolas" pitchFamily="34" charset="-122"/>
                <a:cs typeface="Consolas" pitchFamily="34" charset="-120"/>
              </a:rPr>
              <a:t>Customer / Competitor / Company</a:t>
            </a:r>
            <a:endParaRPr lang="en-US" sz="1000" dirty="0"/>
          </a:p>
        </p:txBody>
      </p:sp>
      <p:sp>
        <p:nvSpPr>
          <p:cNvPr id="8" name="Text 6"/>
          <p:cNvSpPr/>
          <p:nvPr/>
        </p:nvSpPr>
        <p:spPr>
          <a:xfrm>
            <a:off x="1463040" y="1737360"/>
            <a:ext cx="2661818" cy="868680"/>
          </a:xfrm>
          <a:prstGeom prst="rect">
            <a:avLst/>
          </a:prstGeom>
          <a:noFill/>
          <a:ln/>
        </p:spPr>
        <p:txBody>
          <a:bodyPr wrap="square" rtlCol="0" anchor="t"/>
          <a:lstStyle/>
          <a:p>
            <a:pPr indent="0" marL="0">
              <a:lnSpc>
                <a:spcPct val="135000"/>
              </a:lnSpc>
              <a:buNone/>
            </a:pPr>
            <a:r>
              <a:rPr lang="en-US" sz="1300" b="1" dirty="0">
                <a:solidFill>
                  <a:srgbClr val="1A1A14"/>
                </a:solidFill>
                <a:latin typeface="Yu Gothic UI" pitchFamily="34" charset="0"/>
                <a:ea typeface="Yu Gothic UI" pitchFamily="34" charset="-122"/>
                <a:cs typeface="Yu Gothic UI" pitchFamily="34" charset="-120"/>
              </a:rPr>
              <a:t>顧客・競合・自社の</a:t>
            </a:r>
            <a:endParaRPr lang="en-US" sz="1300" dirty="0"/>
          </a:p>
          <a:p>
            <a:pPr indent="0" marL="0">
              <a:lnSpc>
                <a:spcPct val="135000"/>
              </a:lnSpc>
              <a:buNone/>
            </a:pPr>
            <a:r>
              <a:rPr lang="en-US" sz="1300" b="1" dirty="0">
                <a:solidFill>
                  <a:srgbClr val="1A1A14"/>
                </a:solidFill>
                <a:latin typeface="Yu Gothic UI" pitchFamily="34" charset="0"/>
                <a:ea typeface="Yu Gothic UI" pitchFamily="34" charset="-122"/>
                <a:cs typeface="Yu Gothic UI" pitchFamily="34" charset="-120"/>
              </a:rPr>
              <a:t>3つのCで現状を把握</a:t>
            </a:r>
            <a:endParaRPr lang="en-US" sz="1300" dirty="0"/>
          </a:p>
        </p:txBody>
      </p:sp>
      <p:sp>
        <p:nvSpPr>
          <p:cNvPr id="9" name="Shape 7"/>
          <p:cNvSpPr/>
          <p:nvPr/>
        </p:nvSpPr>
        <p:spPr>
          <a:xfrm>
            <a:off x="4307738" y="1417320"/>
            <a:ext cx="822960" cy="1234440"/>
          </a:xfrm>
          <a:prstGeom prst="rect">
            <a:avLst/>
          </a:prstGeom>
          <a:solidFill>
            <a:srgbClr val="FF0000"/>
          </a:solidFill>
          <a:ln w="12700">
            <a:solidFill>
              <a:srgbClr val="FF0000"/>
            </a:solidFill>
            <a:prstDash val="solid"/>
          </a:ln>
        </p:spPr>
      </p:sp>
      <p:sp>
        <p:nvSpPr>
          <p:cNvPr id="10" name="Text 8"/>
          <p:cNvSpPr/>
          <p:nvPr/>
        </p:nvSpPr>
        <p:spPr>
          <a:xfrm>
            <a:off x="4307738" y="1417320"/>
            <a:ext cx="822960" cy="1234440"/>
          </a:xfrm>
          <a:prstGeom prst="rect">
            <a:avLst/>
          </a:prstGeom>
          <a:noFill/>
          <a:ln/>
        </p:spPr>
        <p:txBody>
          <a:bodyPr wrap="square" rtlCol="0" anchor="ctr"/>
          <a:lstStyle/>
          <a:p>
            <a:pPr algn="ctr" indent="0" marL="0">
              <a:buNone/>
            </a:pPr>
            <a:r>
              <a:rPr lang="en-US" sz="4800" b="1" dirty="0">
                <a:solidFill>
                  <a:srgbClr val="FFFFFF"/>
                </a:solidFill>
                <a:latin typeface="Noto Serif JP" pitchFamily="34" charset="0"/>
                <a:ea typeface="Noto Serif JP" pitchFamily="34" charset="-122"/>
                <a:cs typeface="Noto Serif JP" pitchFamily="34" charset="-120"/>
              </a:rPr>
              <a:t>B</a:t>
            </a:r>
            <a:endParaRPr lang="en-US" sz="4800" dirty="0"/>
          </a:p>
        </p:txBody>
      </p:sp>
      <p:sp>
        <p:nvSpPr>
          <p:cNvPr id="11" name="Text 9"/>
          <p:cNvSpPr/>
          <p:nvPr/>
        </p:nvSpPr>
        <p:spPr>
          <a:xfrm>
            <a:off x="5222138" y="1463040"/>
            <a:ext cx="2661818" cy="274320"/>
          </a:xfrm>
          <a:prstGeom prst="rect">
            <a:avLst/>
          </a:prstGeom>
          <a:noFill/>
          <a:ln/>
        </p:spPr>
        <p:txBody>
          <a:bodyPr wrap="square" rtlCol="0" anchor="ctr"/>
          <a:lstStyle/>
          <a:p>
            <a:pPr indent="0" marL="0">
              <a:buNone/>
            </a:pPr>
            <a:r>
              <a:rPr lang="en-US" sz="1000" spc="300" kern="0" dirty="0">
                <a:solidFill>
                  <a:srgbClr val="555555"/>
                </a:solidFill>
                <a:latin typeface="Consolas" pitchFamily="34" charset="0"/>
                <a:ea typeface="Consolas" pitchFamily="34" charset="-122"/>
                <a:cs typeface="Consolas" pitchFamily="34" charset="-120"/>
              </a:rPr>
              <a:t>Benefit</a:t>
            </a:r>
            <a:endParaRPr lang="en-US" sz="1000" dirty="0"/>
          </a:p>
        </p:txBody>
      </p:sp>
      <p:sp>
        <p:nvSpPr>
          <p:cNvPr id="12" name="Text 10"/>
          <p:cNvSpPr/>
          <p:nvPr/>
        </p:nvSpPr>
        <p:spPr>
          <a:xfrm>
            <a:off x="5222138" y="1737360"/>
            <a:ext cx="2661818" cy="868680"/>
          </a:xfrm>
          <a:prstGeom prst="rect">
            <a:avLst/>
          </a:prstGeom>
          <a:noFill/>
          <a:ln/>
        </p:spPr>
        <p:txBody>
          <a:bodyPr wrap="square" rtlCol="0" anchor="t"/>
          <a:lstStyle/>
          <a:p>
            <a:pPr indent="0" marL="0">
              <a:lnSpc>
                <a:spcPct val="135000"/>
              </a:lnSpc>
              <a:buNone/>
            </a:pPr>
            <a:r>
              <a:rPr lang="en-US" sz="1300" b="1" dirty="0">
                <a:solidFill>
                  <a:srgbClr val="1A1A14"/>
                </a:solidFill>
                <a:latin typeface="Yu Gothic UI" pitchFamily="34" charset="0"/>
                <a:ea typeface="Yu Gothic UI" pitchFamily="34" charset="-122"/>
                <a:cs typeface="Yu Gothic UI" pitchFamily="34" charset="-120"/>
              </a:rPr>
              <a:t>お客様が求める価値</a:t>
            </a:r>
            <a:endParaRPr lang="en-US" sz="1300" dirty="0"/>
          </a:p>
          <a:p>
            <a:pPr indent="0" marL="0">
              <a:lnSpc>
                <a:spcPct val="135000"/>
              </a:lnSpc>
              <a:buNone/>
            </a:pPr>
            <a:r>
              <a:rPr lang="en-US" sz="1300" b="1" dirty="0">
                <a:solidFill>
                  <a:srgbClr val="1A1A14"/>
                </a:solidFill>
                <a:latin typeface="Yu Gothic UI" pitchFamily="34" charset="0"/>
                <a:ea typeface="Yu Gothic UI" pitchFamily="34" charset="-122"/>
                <a:cs typeface="Yu Gothic UI" pitchFamily="34" charset="-120"/>
              </a:rPr>
              <a:t>（ニーズ→ウォンツ）</a:t>
            </a:r>
            <a:endParaRPr lang="en-US" sz="1300" dirty="0"/>
          </a:p>
        </p:txBody>
      </p:sp>
      <p:sp>
        <p:nvSpPr>
          <p:cNvPr id="13" name="Shape 11"/>
          <p:cNvSpPr/>
          <p:nvPr/>
        </p:nvSpPr>
        <p:spPr>
          <a:xfrm>
            <a:off x="8066837" y="1417320"/>
            <a:ext cx="822960" cy="1234440"/>
          </a:xfrm>
          <a:prstGeom prst="rect">
            <a:avLst/>
          </a:prstGeom>
          <a:solidFill>
            <a:srgbClr val="1A6FD4"/>
          </a:solidFill>
          <a:ln w="12700">
            <a:solidFill>
              <a:srgbClr val="1A6FD4"/>
            </a:solidFill>
            <a:prstDash val="solid"/>
          </a:ln>
        </p:spPr>
      </p:sp>
      <p:sp>
        <p:nvSpPr>
          <p:cNvPr id="14" name="Text 12"/>
          <p:cNvSpPr/>
          <p:nvPr/>
        </p:nvSpPr>
        <p:spPr>
          <a:xfrm>
            <a:off x="8066837" y="1417320"/>
            <a:ext cx="822960" cy="1234440"/>
          </a:xfrm>
          <a:prstGeom prst="rect">
            <a:avLst/>
          </a:prstGeom>
          <a:noFill/>
          <a:ln/>
        </p:spPr>
        <p:txBody>
          <a:bodyPr wrap="square" rtlCol="0" anchor="ctr"/>
          <a:lstStyle/>
          <a:p>
            <a:pPr algn="ctr" indent="0" marL="0">
              <a:buNone/>
            </a:pPr>
            <a:r>
              <a:rPr lang="en-US" sz="4800" b="1" dirty="0">
                <a:solidFill>
                  <a:srgbClr val="FFFFFF"/>
                </a:solidFill>
                <a:latin typeface="Noto Serif JP" pitchFamily="34" charset="0"/>
                <a:ea typeface="Noto Serif JP" pitchFamily="34" charset="-122"/>
                <a:cs typeface="Noto Serif JP" pitchFamily="34" charset="-120"/>
              </a:rPr>
              <a:t>A</a:t>
            </a:r>
            <a:endParaRPr lang="en-US" sz="4800" dirty="0"/>
          </a:p>
        </p:txBody>
      </p:sp>
      <p:sp>
        <p:nvSpPr>
          <p:cNvPr id="15" name="Text 13"/>
          <p:cNvSpPr/>
          <p:nvPr/>
        </p:nvSpPr>
        <p:spPr>
          <a:xfrm>
            <a:off x="8981237" y="1463040"/>
            <a:ext cx="2661818" cy="274320"/>
          </a:xfrm>
          <a:prstGeom prst="rect">
            <a:avLst/>
          </a:prstGeom>
          <a:noFill/>
          <a:ln/>
        </p:spPr>
        <p:txBody>
          <a:bodyPr wrap="square" rtlCol="0" anchor="ctr"/>
          <a:lstStyle/>
          <a:p>
            <a:pPr indent="0" marL="0">
              <a:buNone/>
            </a:pPr>
            <a:r>
              <a:rPr lang="en-US" sz="1000" spc="300" kern="0" dirty="0">
                <a:solidFill>
                  <a:srgbClr val="555555"/>
                </a:solidFill>
                <a:latin typeface="Consolas" pitchFamily="34" charset="0"/>
                <a:ea typeface="Consolas" pitchFamily="34" charset="-122"/>
                <a:cs typeface="Consolas" pitchFamily="34" charset="-120"/>
              </a:rPr>
              <a:t>Advantage</a:t>
            </a:r>
            <a:endParaRPr lang="en-US" sz="1000" dirty="0"/>
          </a:p>
        </p:txBody>
      </p:sp>
      <p:sp>
        <p:nvSpPr>
          <p:cNvPr id="16" name="Text 14"/>
          <p:cNvSpPr/>
          <p:nvPr/>
        </p:nvSpPr>
        <p:spPr>
          <a:xfrm>
            <a:off x="8981237" y="1737360"/>
            <a:ext cx="2661818" cy="868680"/>
          </a:xfrm>
          <a:prstGeom prst="rect">
            <a:avLst/>
          </a:prstGeom>
          <a:noFill/>
          <a:ln/>
        </p:spPr>
        <p:txBody>
          <a:bodyPr wrap="square" rtlCol="0" anchor="t"/>
          <a:lstStyle/>
          <a:p>
            <a:pPr indent="0" marL="0">
              <a:lnSpc>
                <a:spcPct val="135000"/>
              </a:lnSpc>
              <a:buNone/>
            </a:pPr>
            <a:r>
              <a:rPr lang="en-US" sz="1300" b="1" dirty="0">
                <a:solidFill>
                  <a:srgbClr val="1A1A14"/>
                </a:solidFill>
                <a:latin typeface="Yu Gothic UI" pitchFamily="34" charset="0"/>
                <a:ea typeface="Yu Gothic UI" pitchFamily="34" charset="-122"/>
                <a:cs typeface="Yu Gothic UI" pitchFamily="34" charset="-120"/>
              </a:rPr>
              <a:t>競合より選ばれる</a:t>
            </a:r>
            <a:endParaRPr lang="en-US" sz="1300" dirty="0"/>
          </a:p>
          <a:p>
            <a:pPr indent="0" marL="0">
              <a:lnSpc>
                <a:spcPct val="135000"/>
              </a:lnSpc>
              <a:buNone/>
            </a:pPr>
            <a:r>
              <a:rPr lang="en-US" sz="1300" b="1" dirty="0">
                <a:solidFill>
                  <a:srgbClr val="1A1A14"/>
                </a:solidFill>
                <a:latin typeface="Yu Gothic UI" pitchFamily="34" charset="0"/>
                <a:ea typeface="Yu Gothic UI" pitchFamily="34" charset="-122"/>
                <a:cs typeface="Yu Gothic UI" pitchFamily="34" charset="-120"/>
              </a:rPr>
              <a:t>差別的優位点</a:t>
            </a:r>
            <a:endParaRPr lang="en-US" sz="1300" dirty="0"/>
          </a:p>
        </p:txBody>
      </p:sp>
      <p:sp>
        <p:nvSpPr>
          <p:cNvPr id="17" name="Text 15"/>
          <p:cNvSpPr/>
          <p:nvPr/>
        </p:nvSpPr>
        <p:spPr>
          <a:xfrm>
            <a:off x="548640" y="2834640"/>
            <a:ext cx="11094415" cy="1371600"/>
          </a:xfrm>
          <a:prstGeom prst="rect">
            <a:avLst/>
          </a:prstGeom>
          <a:noFill/>
          <a:ln/>
        </p:spPr>
        <p:txBody>
          <a:bodyPr wrap="square" rtlCol="0" anchor="t"/>
          <a:lstStyle/>
          <a:p>
            <a:pPr indent="0" marL="0">
              <a:lnSpc>
                <a:spcPct val="170000"/>
              </a:lnSpc>
              <a:spcAft>
                <a:spcPts val="600"/>
              </a:spcAft>
              <a:buNone/>
            </a:pPr>
            <a:r>
              <a:rPr lang="en-US" sz="1400" dirty="0">
                <a:solidFill>
                  <a:srgbClr val="1A1A14"/>
                </a:solidFill>
                <a:latin typeface="Yu Gothic UI" pitchFamily="34" charset="0"/>
                <a:ea typeface="Yu Gothic UI" pitchFamily="34" charset="-122"/>
                <a:cs typeface="Yu Gothic UI" pitchFamily="34" charset="-120"/>
              </a:rPr>
              <a:t>AB3C は「選ばれる理由」を明らかにする戦略フレームワーク。大前研一氏の3C分析をベースに、デジタル時代により最適化された戦略フレームワークです。超競争環境における「違い」をより具体的に言語化することで「選ばれる理由」を明らかにします。</a:t>
            </a:r>
            <a:endParaRPr lang="en-US" sz="1400" dirty="0"/>
          </a:p>
        </p:txBody>
      </p:sp>
      <p:sp>
        <p:nvSpPr>
          <p:cNvPr id="18" name="Text 16"/>
          <p:cNvSpPr/>
          <p:nvPr/>
        </p:nvSpPr>
        <p:spPr>
          <a:xfrm>
            <a:off x="548640" y="4251960"/>
            <a:ext cx="11094415" cy="457200"/>
          </a:xfrm>
          <a:prstGeom prst="rect">
            <a:avLst/>
          </a:prstGeom>
          <a:noFill/>
          <a:ln/>
        </p:spPr>
        <p:txBody>
          <a:bodyPr wrap="square" rtlCol="0" anchor="ctr"/>
          <a:lstStyle/>
          <a:p>
            <a:pPr indent="0" marL="0">
              <a:lnSpc>
                <a:spcPct val="160000"/>
              </a:lnSpc>
              <a:buNone/>
            </a:pPr>
            <a:r>
              <a:rPr lang="en-US" sz="1200" i="1" dirty="0">
                <a:solidFill>
                  <a:srgbClr val="555555"/>
                </a:solidFill>
                <a:latin typeface="Yu Gothic UI" pitchFamily="34" charset="0"/>
                <a:ea typeface="Yu Gothic UI" pitchFamily="34" charset="-122"/>
                <a:cs typeface="Yu Gothic UI" pitchFamily="34" charset="-120"/>
              </a:rPr>
              <a:t>AB3C の順序は「C → B → A」。現状を把握してから、価値と優位性を組み立て、最後に戦略メッセージへと統合します。</a:t>
            </a:r>
            <a:endParaRPr lang="en-US" sz="1200" dirty="0"/>
          </a:p>
        </p:txBody>
      </p:sp>
      <p:sp>
        <p:nvSpPr>
          <p:cNvPr id="19" name="Shape 17"/>
          <p:cNvSpPr/>
          <p:nvPr/>
        </p:nvSpPr>
        <p:spPr>
          <a:xfrm>
            <a:off x="548640" y="4937760"/>
            <a:ext cx="11094415" cy="0"/>
          </a:xfrm>
          <a:prstGeom prst="line">
            <a:avLst/>
          </a:prstGeom>
          <a:noFill/>
          <a:ln w="6350">
            <a:solidFill>
              <a:srgbClr val="CCCCCC"/>
            </a:solidFill>
            <a:prstDash val="solid"/>
          </a:ln>
        </p:spPr>
      </p:sp>
      <p:sp>
        <p:nvSpPr>
          <p:cNvPr id="20" name="Text 18"/>
          <p:cNvSpPr/>
          <p:nvPr/>
        </p:nvSpPr>
        <p:spPr>
          <a:xfrm>
            <a:off x="548640" y="5029200"/>
            <a:ext cx="11094415" cy="274320"/>
          </a:xfrm>
          <a:prstGeom prst="rect">
            <a:avLst/>
          </a:prstGeom>
          <a:noFill/>
          <a:ln/>
        </p:spPr>
        <p:txBody>
          <a:bodyPr wrap="square" rtlCol="0" anchor="ctr"/>
          <a:lstStyle/>
          <a:p>
            <a:pPr indent="0" marL="0">
              <a:buNone/>
            </a:pPr>
            <a:r>
              <a:rPr lang="en-US" sz="1100" spc="400" kern="0" dirty="0">
                <a:solidFill>
                  <a:srgbClr val="555555"/>
                </a:solidFill>
                <a:latin typeface="Consolas" pitchFamily="34" charset="0"/>
                <a:ea typeface="Consolas" pitchFamily="34" charset="-122"/>
                <a:cs typeface="Consolas" pitchFamily="34" charset="-120"/>
              </a:rPr>
              <a:t>関連リソース</a:t>
            </a:r>
            <a:endParaRPr lang="en-US" sz="1100" dirty="0"/>
          </a:p>
        </p:txBody>
      </p:sp>
      <p:sp>
        <p:nvSpPr>
          <p:cNvPr id="21" name="Text 19"/>
          <p:cNvSpPr/>
          <p:nvPr/>
        </p:nvSpPr>
        <p:spPr>
          <a:xfrm>
            <a:off x="548640" y="5349240"/>
            <a:ext cx="1828800" cy="320040"/>
          </a:xfrm>
          <a:prstGeom prst="rect">
            <a:avLst/>
          </a:prstGeom>
          <a:noFill/>
          <a:ln/>
        </p:spPr>
        <p:txBody>
          <a:bodyPr wrap="square" rtlCol="0" anchor="ctr"/>
          <a:lstStyle/>
          <a:p>
            <a:pPr indent="0" marL="0">
              <a:buNone/>
            </a:pPr>
            <a:r>
              <a:rPr lang="en-US" sz="1300" b="1" dirty="0">
                <a:solidFill>
                  <a:srgbClr val="1A1A14"/>
                </a:solidFill>
                <a:latin typeface="Yu Gothic UI" pitchFamily="34" charset="0"/>
                <a:ea typeface="Yu Gothic UI" pitchFamily="34" charset="-122"/>
                <a:cs typeface="Yu Gothic UI" pitchFamily="34" charset="-120"/>
              </a:rPr>
              <a:t>関連書籍：</a:t>
            </a:r>
            <a:endParaRPr lang="en-US" sz="1300" dirty="0"/>
          </a:p>
        </p:txBody>
      </p:sp>
      <p:sp>
        <p:nvSpPr>
          <p:cNvPr id="22" name="Text 20">
            <a:hlinkClick r:id="rId1" tooltip=""/>
          </p:cNvPr>
          <p:cNvSpPr/>
          <p:nvPr/>
        </p:nvSpPr>
        <p:spPr>
          <a:xfrm>
            <a:off x="2377440" y="5349240"/>
            <a:ext cx="9265615" cy="320040"/>
          </a:xfrm>
          <a:prstGeom prst="rect">
            <a:avLst/>
          </a:prstGeom>
          <a:noFill/>
          <a:ln/>
        </p:spPr>
        <p:txBody>
          <a:bodyPr wrap="square" rtlCol="0" anchor="ctr"/>
          <a:lstStyle/>
          <a:p>
            <a:pPr indent="0" marL="0">
              <a:buNone/>
            </a:pPr>
            <a:r>
              <a:rPr lang="en-US" sz="1300" b="1" u="sng" dirty="0">
                <a:solidFill>
                  <a:srgbClr val="1A6FD4"/>
                </a:solidFill>
                <a:latin typeface="Yu Gothic UI" pitchFamily="34" charset="0"/>
                <a:ea typeface="Yu Gothic UI" pitchFamily="34" charset="-122"/>
                <a:cs typeface="Yu Gothic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『なぜあなたのウェブには戦略がないのか』　権 成俊（著）</a:t>
            </a:r>
            <a:endParaRPr lang="en-US" sz="1300" dirty="0"/>
          </a:p>
        </p:txBody>
      </p:sp>
      <p:sp>
        <p:nvSpPr>
          <p:cNvPr id="23" name="Text 21"/>
          <p:cNvSpPr/>
          <p:nvPr/>
        </p:nvSpPr>
        <p:spPr>
          <a:xfrm>
            <a:off x="548640" y="5760720"/>
            <a:ext cx="1828800" cy="320040"/>
          </a:xfrm>
          <a:prstGeom prst="rect">
            <a:avLst/>
          </a:prstGeom>
          <a:noFill/>
          <a:ln/>
        </p:spPr>
        <p:txBody>
          <a:bodyPr wrap="square" rtlCol="0" anchor="ctr"/>
          <a:lstStyle/>
          <a:p>
            <a:pPr indent="0" marL="0">
              <a:buNone/>
            </a:pPr>
            <a:r>
              <a:rPr lang="en-US" sz="1300" b="1" dirty="0">
                <a:solidFill>
                  <a:srgbClr val="1A1A14"/>
                </a:solidFill>
                <a:latin typeface="Yu Gothic UI" pitchFamily="34" charset="0"/>
                <a:ea typeface="Yu Gothic UI" pitchFamily="34" charset="-122"/>
                <a:cs typeface="Yu Gothic UI" pitchFamily="34" charset="-120"/>
              </a:rPr>
              <a:t>関連団体：</a:t>
            </a:r>
            <a:endParaRPr lang="en-US" sz="1300" dirty="0"/>
          </a:p>
        </p:txBody>
      </p:sp>
      <p:sp>
        <p:nvSpPr>
          <p:cNvPr id="24" name="Text 22">
            <a:hlinkClick r:id="rId2" tooltip=""/>
          </p:cNvPr>
          <p:cNvSpPr/>
          <p:nvPr/>
        </p:nvSpPr>
        <p:spPr>
          <a:xfrm>
            <a:off x="2377440" y="5760720"/>
            <a:ext cx="9265615" cy="320040"/>
          </a:xfrm>
          <a:prstGeom prst="rect">
            <a:avLst/>
          </a:prstGeom>
          <a:noFill/>
          <a:ln/>
        </p:spPr>
        <p:txBody>
          <a:bodyPr wrap="square" rtlCol="0" anchor="ctr"/>
          <a:lstStyle/>
          <a:p>
            <a:pPr indent="0" marL="0">
              <a:buNone/>
            </a:pPr>
            <a:r>
              <a:rPr lang="en-US" sz="1300" b="1" u="sng" dirty="0">
                <a:solidFill>
                  <a:srgbClr val="1A6FD4"/>
                </a:solidFill>
                <a:latin typeface="Yu Gothic UI" pitchFamily="34" charset="0"/>
                <a:ea typeface="Yu Gothic UI" pitchFamily="34" charset="-122"/>
                <a:cs typeface="Yu Gothic UI" pitchFamily="34" charset="-120"/>
                <a:hlinkClick r:id="rId2" invalidUrl="" action="" tgtFrame="" tooltip="" history="1" highlightClick="0" endSnd="0">
                  <a:extLst>
                    <a:ext uri="{A12FA001-AC4F-418D-AE19-62706E023703}">
                      <ahyp:hlinkClr xmlns:ahyp="http://schemas.microsoft.com/office/drawing/2018/hyperlinkcolor" val="tx"/>
                    </a:ext>
                  </a:extLst>
                </a:hlinkClick>
              </a:rPr>
              <a:t>一般社団法人 デジタル経営革新協会</a:t>
            </a:r>
            <a:endParaRPr lang="en-US" sz="1300" dirty="0"/>
          </a:p>
        </p:txBody>
      </p:sp>
      <p:sp>
        <p:nvSpPr>
          <p:cNvPr id="25" name="Text 23"/>
          <p:cNvSpPr/>
          <p:nvPr/>
        </p:nvSpPr>
        <p:spPr>
          <a:xfrm>
            <a:off x="548640" y="6537960"/>
            <a:ext cx="5486400" cy="228600"/>
          </a:xfrm>
          <a:prstGeom prst="rect">
            <a:avLst/>
          </a:prstGeom>
          <a:noFill/>
          <a:ln/>
        </p:spPr>
        <p:txBody>
          <a:bodyPr wrap="square" rtlCol="0" anchor="ctr"/>
          <a:lstStyle/>
          <a:p>
            <a:pPr indent="0" marL="0">
              <a:buNone/>
            </a:pPr>
            <a:r>
              <a:rPr lang="en-US" sz="900" dirty="0">
                <a:solidFill>
                  <a:srgbClr val="555555"/>
                </a:solidFill>
                <a:latin typeface="Yu Gothic UI" pitchFamily="34" charset="0"/>
                <a:ea typeface="Yu Gothic UI" pitchFamily="34" charset="-122"/>
                <a:cs typeface="Yu Gothic UI" pitchFamily="34" charset="-120"/>
              </a:rPr>
              <a:t>digi-kaku.or.jp</a:t>
            </a:r>
            <a:endParaRPr lang="en-US" sz="900" dirty="0"/>
          </a:p>
        </p:txBody>
      </p:sp>
      <p:sp>
        <p:nvSpPr>
          <p:cNvPr id="26" name="Text 24"/>
          <p:cNvSpPr/>
          <p:nvPr/>
        </p:nvSpPr>
        <p:spPr>
          <a:xfrm>
            <a:off x="6156655" y="6537960"/>
            <a:ext cx="5486400" cy="228600"/>
          </a:xfrm>
          <a:prstGeom prst="rect">
            <a:avLst/>
          </a:prstGeom>
          <a:noFill/>
          <a:ln/>
        </p:spPr>
        <p:txBody>
          <a:bodyPr wrap="square" rtlCol="0" anchor="ctr"/>
          <a:lstStyle/>
          <a:p>
            <a:pPr algn="r" indent="0" marL="0">
              <a:buNone/>
            </a:pPr>
            <a:r>
              <a:rPr lang="en-US" sz="900" dirty="0">
                <a:solidFill>
                  <a:srgbClr val="555555"/>
                </a:solidFill>
                <a:latin typeface="Yu Gothic UI" pitchFamily="34" charset="0"/>
                <a:ea typeface="Yu Gothic UI" pitchFamily="34" charset="-122"/>
                <a:cs typeface="Yu Gothic UI" pitchFamily="34" charset="-120"/>
              </a:rPr>
              <a:t>戦略指南 AI / AB3C 分析レポート　4 / 27</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A14"/>
        </a:solidFill>
      </p:bgPr>
    </p:bg>
    <p:spTree>
      <p:nvGrpSpPr>
        <p:cNvPr id="1" name=""/>
        <p:cNvGrpSpPr/>
        <p:nvPr/>
      </p:nvGrpSpPr>
      <p:grpSpPr>
        <a:xfrm>
          <a:off x="0" y="0"/>
          <a:ext cx="0" cy="0"/>
          <a:chOff x="0" y="0"/>
          <a:chExt cx="0" cy="0"/>
        </a:xfrm>
      </p:grpSpPr>
      <p:sp>
        <p:nvSpPr>
          <p:cNvPr id="2" name="Text 0"/>
          <p:cNvSpPr/>
          <p:nvPr/>
        </p:nvSpPr>
        <p:spPr>
          <a:xfrm>
            <a:off x="0" y="2194560"/>
            <a:ext cx="12191695" cy="457200"/>
          </a:xfrm>
          <a:prstGeom prst="rect">
            <a:avLst/>
          </a:prstGeom>
          <a:noFill/>
          <a:ln/>
        </p:spPr>
        <p:txBody>
          <a:bodyPr wrap="square" rtlCol="0" anchor="ctr"/>
          <a:lstStyle/>
          <a:p>
            <a:pPr algn="ctr" indent="0" marL="0">
              <a:buNone/>
            </a:pPr>
            <a:r>
              <a:rPr lang="en-US" sz="1800" spc="1000" kern="0" dirty="0">
                <a:solidFill>
                  <a:srgbClr val="FFFFFF"/>
                </a:solidFill>
                <a:latin typeface="Consolas" pitchFamily="34" charset="0"/>
                <a:ea typeface="Consolas" pitchFamily="34" charset="-122"/>
                <a:cs typeface="Consolas" pitchFamily="34" charset="-120"/>
              </a:rPr>
              <a:t>PART  1</a:t>
            </a:r>
            <a:endParaRPr lang="en-US" sz="1800" dirty="0"/>
          </a:p>
        </p:txBody>
      </p:sp>
      <p:sp>
        <p:nvSpPr>
          <p:cNvPr id="3" name="Text 1"/>
          <p:cNvSpPr/>
          <p:nvPr/>
        </p:nvSpPr>
        <p:spPr>
          <a:xfrm>
            <a:off x="0" y="2743200"/>
            <a:ext cx="12191695" cy="914400"/>
          </a:xfrm>
          <a:prstGeom prst="rect">
            <a:avLst/>
          </a:prstGeom>
          <a:noFill/>
          <a:ln/>
        </p:spPr>
        <p:txBody>
          <a:bodyPr wrap="square" rtlCol="0" anchor="ctr"/>
          <a:lstStyle/>
          <a:p>
            <a:pPr algn="ctr" indent="0" marL="0">
              <a:buNone/>
            </a:pPr>
            <a:r>
              <a:rPr lang="en-US" sz="6000" b="1" dirty="0">
                <a:solidFill>
                  <a:srgbClr val="FFFFFF"/>
                </a:solidFill>
                <a:latin typeface="Noto Serif JP" pitchFamily="34" charset="0"/>
                <a:ea typeface="Noto Serif JP" pitchFamily="34" charset="-122"/>
                <a:cs typeface="Noto Serif JP" pitchFamily="34" charset="-120"/>
              </a:rPr>
              <a:t>現状把握</a:t>
            </a:r>
            <a:endParaRPr lang="en-US" sz="6000" dirty="0"/>
          </a:p>
        </p:txBody>
      </p:sp>
      <p:sp>
        <p:nvSpPr>
          <p:cNvPr id="4" name="Text 2"/>
          <p:cNvSpPr/>
          <p:nvPr/>
        </p:nvSpPr>
        <p:spPr>
          <a:xfrm>
            <a:off x="0" y="3840480"/>
            <a:ext cx="12191695" cy="457200"/>
          </a:xfrm>
          <a:prstGeom prst="rect">
            <a:avLst/>
          </a:prstGeom>
          <a:noFill/>
          <a:ln/>
        </p:spPr>
        <p:txBody>
          <a:bodyPr wrap="square" rtlCol="0" anchor="ctr"/>
          <a:lstStyle/>
          <a:p>
            <a:pPr algn="ctr" indent="0" marL="0">
              <a:buNone/>
            </a:pPr>
            <a:r>
              <a:rPr lang="en-US" sz="1800" dirty="0">
                <a:solidFill>
                  <a:srgbClr val="FFFFFF"/>
                </a:solidFill>
                <a:latin typeface="Yu Gothic UI" pitchFamily="34" charset="0"/>
                <a:ea typeface="Yu Gothic UI" pitchFamily="34" charset="-122"/>
                <a:cs typeface="Yu Gothic UI" pitchFamily="34" charset="-120"/>
              </a:rPr>
              <a:t>3C 分析 — 顧客・競合・自社</a:t>
            </a:r>
            <a:endParaRPr lang="en-US" sz="1800" dirty="0"/>
          </a:p>
        </p:txBody>
      </p:sp>
      <p:sp>
        <p:nvSpPr>
          <p:cNvPr id="5" name="Shape 3"/>
          <p:cNvSpPr/>
          <p:nvPr/>
        </p:nvSpPr>
        <p:spPr>
          <a:xfrm>
            <a:off x="4724248" y="4937760"/>
            <a:ext cx="2743200" cy="73152"/>
          </a:xfrm>
          <a:prstGeom prst="rect">
            <a:avLst/>
          </a:prstGeom>
          <a:solidFill>
            <a:srgbClr val="FFFFFF"/>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1A1A14"/>
          </a:solidFill>
          <a:ln w="12700">
            <a:solidFill>
              <a:srgbClr val="1A1A14"/>
            </a:solidFill>
            <a:prstDash val="solid"/>
          </a:ln>
        </p:spPr>
      </p:sp>
      <p:sp>
        <p:nvSpPr>
          <p:cNvPr id="3" name="Text 1"/>
          <p:cNvSpPr/>
          <p:nvPr/>
        </p:nvSpPr>
        <p:spPr>
          <a:xfrm>
            <a:off x="548640" y="411480"/>
            <a:ext cx="11094415" cy="274320"/>
          </a:xfrm>
          <a:prstGeom prst="rect">
            <a:avLst/>
          </a:prstGeom>
          <a:noFill/>
          <a:ln/>
        </p:spPr>
        <p:txBody>
          <a:bodyPr wrap="square" rtlCol="0" anchor="ctr"/>
          <a:lstStyle/>
          <a:p>
            <a:pPr indent="0" marL="0">
              <a:buNone/>
            </a:pPr>
            <a:r>
              <a:rPr lang="en-US" sz="1100" spc="600" kern="0" dirty="0">
                <a:solidFill>
                  <a:srgbClr val="555555"/>
                </a:solidFill>
                <a:latin typeface="Consolas" pitchFamily="34" charset="0"/>
                <a:ea typeface="Consolas" pitchFamily="34" charset="-122"/>
                <a:cs typeface="Consolas" pitchFamily="34" charset="-120"/>
              </a:rPr>
              <a:t>PART 1  ─  CUSTOMER</a:t>
            </a:r>
            <a:endParaRPr lang="en-US" sz="1100" dirty="0"/>
          </a:p>
        </p:txBody>
      </p:sp>
      <p:sp>
        <p:nvSpPr>
          <p:cNvPr id="4" name="Text 2"/>
          <p:cNvSpPr/>
          <p:nvPr/>
        </p:nvSpPr>
        <p:spPr>
          <a:xfrm>
            <a:off x="548640" y="685800"/>
            <a:ext cx="11094415" cy="640080"/>
          </a:xfrm>
          <a:prstGeom prst="rect">
            <a:avLst/>
          </a:prstGeom>
          <a:noFill/>
          <a:ln/>
        </p:spPr>
        <p:txBody>
          <a:bodyPr wrap="square" rtlCol="0" anchor="ctr"/>
          <a:lstStyle/>
          <a:p>
            <a:pPr indent="0" marL="0">
              <a:buNone/>
            </a:pPr>
            <a:r>
              <a:rPr lang="en-US" sz="3000" b="1" dirty="0">
                <a:solidFill>
                  <a:srgbClr val="1A1A14"/>
                </a:solidFill>
                <a:latin typeface="Noto Serif JP" pitchFamily="34" charset="0"/>
                <a:ea typeface="Noto Serif JP" pitchFamily="34" charset="-122"/>
                <a:cs typeface="Noto Serif JP" pitchFamily="34" charset="-120"/>
              </a:rPr>
              <a:t>顧客（Customer）</a:t>
            </a:r>
            <a:endParaRPr lang="en-US" sz="3000" dirty="0"/>
          </a:p>
        </p:txBody>
      </p:sp>
      <p:sp>
        <p:nvSpPr>
          <p:cNvPr id="5" name="Shape 3"/>
          <p:cNvSpPr/>
          <p:nvPr/>
        </p:nvSpPr>
        <p:spPr>
          <a:xfrm>
            <a:off x="548640" y="1280160"/>
            <a:ext cx="11094415" cy="0"/>
          </a:xfrm>
          <a:prstGeom prst="line">
            <a:avLst/>
          </a:prstGeom>
          <a:noFill/>
          <a:ln w="12700">
            <a:solidFill>
              <a:srgbClr val="1A1A14"/>
            </a:solidFill>
            <a:prstDash val="solid"/>
          </a:ln>
        </p:spPr>
      </p:sp>
      <p:sp>
        <p:nvSpPr>
          <p:cNvPr id="6" name="Text 4"/>
          <p:cNvSpPr/>
          <p:nvPr/>
        </p:nvSpPr>
        <p:spPr>
          <a:xfrm>
            <a:off x="548640" y="1508760"/>
            <a:ext cx="5900760" cy="274320"/>
          </a:xfrm>
          <a:prstGeom prst="rect">
            <a:avLst/>
          </a:prstGeom>
          <a:noFill/>
          <a:ln/>
        </p:spPr>
        <p:txBody>
          <a:bodyPr wrap="square" rtlCol="0" anchor="ctr"/>
          <a:lstStyle/>
          <a:p>
            <a:pPr indent="0" marL="0">
              <a:buNone/>
            </a:pPr>
            <a:r>
              <a:rPr lang="en-US" sz="1200" dirty="0">
                <a:solidFill>
                  <a:srgbClr val="555555"/>
                </a:solidFill>
                <a:latin typeface="Yu Gothic UI" pitchFamily="34" charset="0"/>
                <a:ea typeface="Yu Gothic UI" pitchFamily="34" charset="-122"/>
                <a:cs typeface="Yu Gothic UI" pitchFamily="34" charset="-120"/>
              </a:rPr>
              <a:t>ターゲット</a:t>
            </a:r>
            <a:endParaRPr lang="en-US" sz="1200" dirty="0"/>
          </a:p>
        </p:txBody>
      </p:sp>
      <p:sp>
        <p:nvSpPr>
          <p:cNvPr id="7" name="Text 5"/>
          <p:cNvSpPr/>
          <p:nvPr/>
        </p:nvSpPr>
        <p:spPr>
          <a:xfrm>
            <a:off x="548640" y="1783080"/>
            <a:ext cx="5900760" cy="731520"/>
          </a:xfrm>
          <a:prstGeom prst="rect">
            <a:avLst/>
          </a:prstGeom>
          <a:noFill/>
          <a:ln/>
        </p:spPr>
        <p:txBody>
          <a:bodyPr wrap="square" rtlCol="0" anchor="t"/>
          <a:lstStyle/>
          <a:p>
            <a:pPr indent="0" marL="0">
              <a:lnSpc>
                <a:spcPct val="150000"/>
              </a:lnSpc>
              <a:buNone/>
            </a:pPr>
            <a:r>
              <a:rPr lang="en-US" sz="1800" b="1" dirty="0">
                <a:solidFill>
                  <a:srgbClr val="1A1A14"/>
                </a:solidFill>
                <a:latin typeface="Yu Gothic UI" pitchFamily="34" charset="0"/>
                <a:ea typeface="Yu Gothic UI" pitchFamily="34" charset="-122"/>
                <a:cs typeface="Yu Gothic UI" pitchFamily="34" charset="-120"/>
              </a:rPr>
              <a:t>中小企業を支援するウェブコンサルタント・マーケター・中小企業診断士などの独立系専門家で、戦略立案の資格・実力を証明したい人</a:t>
            </a:r>
            <a:endParaRPr lang="en-US" sz="1800" dirty="0"/>
          </a:p>
        </p:txBody>
      </p:sp>
      <p:sp>
        <p:nvSpPr>
          <p:cNvPr id="8" name="Text 6"/>
          <p:cNvSpPr/>
          <p:nvPr/>
        </p:nvSpPr>
        <p:spPr>
          <a:xfrm>
            <a:off x="548640" y="2697480"/>
            <a:ext cx="5900760" cy="274320"/>
          </a:xfrm>
          <a:prstGeom prst="rect">
            <a:avLst/>
          </a:prstGeom>
          <a:noFill/>
          <a:ln/>
        </p:spPr>
        <p:txBody>
          <a:bodyPr wrap="square" rtlCol="0" anchor="ctr"/>
          <a:lstStyle/>
          <a:p>
            <a:pPr indent="0" marL="0">
              <a:buNone/>
            </a:pPr>
            <a:r>
              <a:rPr lang="en-US" sz="1200" dirty="0">
                <a:solidFill>
                  <a:srgbClr val="555555"/>
                </a:solidFill>
                <a:latin typeface="Yu Gothic UI" pitchFamily="34" charset="0"/>
                <a:ea typeface="Yu Gothic UI" pitchFamily="34" charset="-122"/>
                <a:cs typeface="Yu Gothic UI" pitchFamily="34" charset="-120"/>
              </a:rPr>
              <a:t>プロファイル</a:t>
            </a:r>
            <a:endParaRPr lang="en-US" sz="1200" dirty="0"/>
          </a:p>
        </p:txBody>
      </p:sp>
      <p:sp>
        <p:nvSpPr>
          <p:cNvPr id="9" name="Text 7"/>
          <p:cNvSpPr/>
          <p:nvPr/>
        </p:nvSpPr>
        <p:spPr>
          <a:xfrm>
            <a:off x="548640" y="2971800"/>
            <a:ext cx="5900760" cy="3200400"/>
          </a:xfrm>
          <a:prstGeom prst="rect">
            <a:avLst/>
          </a:prstGeom>
          <a:noFill/>
          <a:ln/>
        </p:spPr>
        <p:txBody>
          <a:bodyPr wrap="square" rtlCol="0" anchor="t"/>
          <a:lstStyle/>
          <a:p>
            <a:pPr>
              <a:lnSpc>
                <a:spcPct val="160000"/>
              </a:lnSpc>
              <a:spcAft>
                <a:spcPts val="600"/>
              </a:spcAft>
            </a:pPr>
            <a:r>
              <a:rPr lang="en-US" sz="1300" dirty="0">
                <a:solidFill>
                  <a:srgbClr val="1A1A14"/>
                </a:solidFill>
                <a:latin typeface="Yu Gothic UI" pitchFamily="34" charset="0"/>
                <a:ea typeface="Yu Gothic UI" pitchFamily="34" charset="-122"/>
                <a:cs typeface="Yu Gothic UI" pitchFamily="34" charset="-120"/>
              </a:rPr>
              <a:t>フリーランスまたは小規模法人のウェブコンサルタント・マーケター・デザイナー</a:t>
            </a:r>
            <a:endParaRPr lang="en-US" sz="1300" dirty="0"/>
          </a:p>
          <a:p>
            <a:pPr>
              <a:lnSpc>
                <a:spcPct val="160000"/>
              </a:lnSpc>
              <a:spcAft>
                <a:spcPts val="600"/>
              </a:spcAft>
            </a:pPr>
            <a:r>
              <a:rPr lang="en-US" sz="1300" dirty="0">
                <a:solidFill>
                  <a:srgbClr val="1A1A14"/>
                </a:solidFill>
                <a:latin typeface="Yu Gothic UI" pitchFamily="34" charset="0"/>
                <a:ea typeface="Yu Gothic UI" pitchFamily="34" charset="-122"/>
                <a:cs typeface="Yu Gothic UI" pitchFamily="34" charset="-120"/>
              </a:rPr>
              <a:t>クライアント経営者に戦略提案をしたいが、フレームワークや資格が不足していると感じている</a:t>
            </a:r>
            <a:endParaRPr lang="en-US" sz="1300" dirty="0"/>
          </a:p>
          <a:p>
            <a:pPr>
              <a:lnSpc>
                <a:spcPct val="160000"/>
              </a:lnSpc>
              <a:spcAft>
                <a:spcPts val="600"/>
              </a:spcAft>
            </a:pPr>
            <a:r>
              <a:rPr lang="en-US" sz="1300" dirty="0">
                <a:solidFill>
                  <a:srgbClr val="1A1A14"/>
                </a:solidFill>
                <a:latin typeface="Yu Gothic UI" pitchFamily="34" charset="0"/>
                <a:ea typeface="Yu Gothic UI" pitchFamily="34" charset="-122"/>
                <a:cs typeface="Yu Gothic UI" pitchFamily="34" charset="-120"/>
              </a:rPr>
              <a:t>資格取得でクライアントへの信頼性・提案力を高めたい</a:t>
            </a:r>
            <a:endParaRPr lang="en-US" sz="1300" dirty="0"/>
          </a:p>
          <a:p>
            <a:pPr>
              <a:lnSpc>
                <a:spcPct val="160000"/>
              </a:lnSpc>
              <a:spcAft>
                <a:spcPts val="600"/>
              </a:spcAft>
            </a:pPr>
            <a:r>
              <a:rPr lang="en-US" sz="1300" dirty="0">
                <a:solidFill>
                  <a:srgbClr val="1A1A14"/>
                </a:solidFill>
                <a:latin typeface="Yu Gothic UI" pitchFamily="34" charset="0"/>
                <a:ea typeface="Yu Gothic UI" pitchFamily="34" charset="-122"/>
                <a:cs typeface="Yu Gothic UI" pitchFamily="34" charset="-120"/>
              </a:rPr>
              <a:t>案件獲得のためのネットワーク・紹介ルートも求めている</a:t>
            </a:r>
            <a:endParaRPr lang="en-US" sz="1300" dirty="0"/>
          </a:p>
        </p:txBody>
      </p:sp>
      <p:sp>
        <p:nvSpPr>
          <p:cNvPr id="10" name="Shape 8"/>
          <p:cNvSpPr/>
          <p:nvPr/>
        </p:nvSpPr>
        <p:spPr>
          <a:xfrm>
            <a:off x="6815160" y="1508760"/>
            <a:ext cx="4827895" cy="4983480"/>
          </a:xfrm>
          <a:prstGeom prst="rect">
            <a:avLst/>
          </a:prstGeom>
          <a:solidFill>
            <a:srgbClr val="F8F8F6"/>
          </a:solidFill>
          <a:ln w="12700">
            <a:solidFill>
              <a:srgbClr val="CCCCCC"/>
            </a:solidFill>
            <a:prstDash val="solid"/>
          </a:ln>
        </p:spPr>
      </p:sp>
      <p:sp>
        <p:nvSpPr>
          <p:cNvPr id="11" name="Text 9"/>
          <p:cNvSpPr/>
          <p:nvPr/>
        </p:nvSpPr>
        <p:spPr>
          <a:xfrm>
            <a:off x="6998040" y="1691640"/>
            <a:ext cx="4462135" cy="274320"/>
          </a:xfrm>
          <a:prstGeom prst="rect">
            <a:avLst/>
          </a:prstGeom>
          <a:noFill/>
          <a:ln/>
        </p:spPr>
        <p:txBody>
          <a:bodyPr wrap="square" rtlCol="0" anchor="ctr"/>
          <a:lstStyle/>
          <a:p>
            <a:pPr indent="0" marL="0">
              <a:buNone/>
            </a:pPr>
            <a:r>
              <a:rPr lang="en-US" sz="1300" b="1" dirty="0">
                <a:solidFill>
                  <a:srgbClr val="1A1A14"/>
                </a:solidFill>
                <a:latin typeface="Yu Gothic UI" pitchFamily="34" charset="0"/>
                <a:ea typeface="Yu Gothic UI" pitchFamily="34" charset="-122"/>
                <a:cs typeface="Yu Gothic UI" pitchFamily="34" charset="-120"/>
              </a:rPr>
              <a:t>購買ステージ</a:t>
            </a:r>
            <a:endParaRPr lang="en-US" sz="1300" dirty="0"/>
          </a:p>
        </p:txBody>
      </p:sp>
      <p:sp>
        <p:nvSpPr>
          <p:cNvPr id="12" name="Text 10"/>
          <p:cNvSpPr/>
          <p:nvPr/>
        </p:nvSpPr>
        <p:spPr>
          <a:xfrm>
            <a:off x="6998040" y="1984248"/>
            <a:ext cx="4462135" cy="548640"/>
          </a:xfrm>
          <a:prstGeom prst="rect">
            <a:avLst/>
          </a:prstGeom>
          <a:noFill/>
          <a:ln/>
        </p:spPr>
        <p:txBody>
          <a:bodyPr wrap="square" rtlCol="0" anchor="t">
            <a:normAutofit/>
          </a:bodyPr>
          <a:lstStyle/>
          <a:p>
            <a:pPr indent="0" marL="0">
              <a:lnSpc>
                <a:spcPct val="130000"/>
              </a:lnSpc>
              <a:buNone/>
            </a:pPr>
            <a:r>
              <a:rPr lang="en-US" sz="1100" dirty="0">
                <a:solidFill>
                  <a:srgbClr val="555555"/>
                </a:solidFill>
                <a:latin typeface="Yu Gothic UI" pitchFamily="34" charset="0"/>
                <a:ea typeface="Yu Gothic UI" pitchFamily="34" charset="-122"/>
                <a:cs typeface="Yu Gothic UI" pitchFamily="34" charset="-120"/>
              </a:rPr>
              <a:t>ウォンツ段階（資格・スキルアップが必要と明確に認識している）</a:t>
            </a:r>
            <a:endParaRPr lang="en-US" sz="1100" dirty="0"/>
          </a:p>
        </p:txBody>
      </p:sp>
      <p:sp>
        <p:nvSpPr>
          <p:cNvPr id="13" name="Text 11"/>
          <p:cNvSpPr/>
          <p:nvPr/>
        </p:nvSpPr>
        <p:spPr>
          <a:xfrm>
            <a:off x="6998040" y="2624328"/>
            <a:ext cx="4462135" cy="274320"/>
          </a:xfrm>
          <a:prstGeom prst="rect">
            <a:avLst/>
          </a:prstGeom>
          <a:noFill/>
          <a:ln/>
        </p:spPr>
        <p:txBody>
          <a:bodyPr wrap="square" rtlCol="0" anchor="ctr"/>
          <a:lstStyle/>
          <a:p>
            <a:pPr indent="0" marL="0">
              <a:buNone/>
            </a:pPr>
            <a:r>
              <a:rPr lang="en-US" sz="1300" b="1" dirty="0">
                <a:solidFill>
                  <a:srgbClr val="1A1A14"/>
                </a:solidFill>
                <a:latin typeface="Yu Gothic UI" pitchFamily="34" charset="0"/>
                <a:ea typeface="Yu Gothic UI" pitchFamily="34" charset="-122"/>
                <a:cs typeface="Yu Gothic UI" pitchFamily="34" charset="-120"/>
              </a:rPr>
              <a:t>市場規模（SAM）</a:t>
            </a:r>
            <a:endParaRPr lang="en-US" sz="1300" dirty="0"/>
          </a:p>
        </p:txBody>
      </p:sp>
      <p:sp>
        <p:nvSpPr>
          <p:cNvPr id="14" name="Text 12"/>
          <p:cNvSpPr/>
          <p:nvPr/>
        </p:nvSpPr>
        <p:spPr>
          <a:xfrm>
            <a:off x="6998040" y="2916936"/>
            <a:ext cx="4462135" cy="548640"/>
          </a:xfrm>
          <a:prstGeom prst="rect">
            <a:avLst/>
          </a:prstGeom>
          <a:noFill/>
          <a:ln/>
        </p:spPr>
        <p:txBody>
          <a:bodyPr wrap="square" rtlCol="0" anchor="t">
            <a:normAutofit/>
          </a:bodyPr>
          <a:lstStyle/>
          <a:p>
            <a:pPr indent="0" marL="0">
              <a:lnSpc>
                <a:spcPct val="130000"/>
              </a:lnSpc>
              <a:buNone/>
            </a:pPr>
            <a:r>
              <a:rPr lang="en-US" sz="1100" dirty="0">
                <a:solidFill>
                  <a:srgbClr val="555555"/>
                </a:solidFill>
                <a:latin typeface="Yu Gothic UI" pitchFamily="34" charset="0"/>
                <a:ea typeface="Yu Gothic UI" pitchFamily="34" charset="-122"/>
                <a:cs typeface="Yu Gothic UI" pitchFamily="34" charset="-120"/>
              </a:rPr>
              <a:t>約120億円</a:t>
            </a:r>
            <a:endParaRPr lang="en-US" sz="1100" dirty="0"/>
          </a:p>
        </p:txBody>
      </p:sp>
      <p:sp>
        <p:nvSpPr>
          <p:cNvPr id="15" name="Text 13"/>
          <p:cNvSpPr/>
          <p:nvPr/>
        </p:nvSpPr>
        <p:spPr>
          <a:xfrm>
            <a:off x="6998040" y="3557016"/>
            <a:ext cx="4462135" cy="274320"/>
          </a:xfrm>
          <a:prstGeom prst="rect">
            <a:avLst/>
          </a:prstGeom>
          <a:noFill/>
          <a:ln/>
        </p:spPr>
        <p:txBody>
          <a:bodyPr wrap="square" rtlCol="0" anchor="ctr"/>
          <a:lstStyle/>
          <a:p>
            <a:pPr indent="0" marL="0">
              <a:buNone/>
            </a:pPr>
            <a:r>
              <a:rPr lang="en-US" sz="1300" b="1" dirty="0">
                <a:solidFill>
                  <a:srgbClr val="1A1A14"/>
                </a:solidFill>
                <a:latin typeface="Yu Gothic UI" pitchFamily="34" charset="0"/>
                <a:ea typeface="Yu Gothic UI" pitchFamily="34" charset="-122"/>
                <a:cs typeface="Yu Gothic UI" pitchFamily="34" charset="-120"/>
              </a:rPr>
              <a:t>市場規模（SOM）</a:t>
            </a:r>
            <a:endParaRPr lang="en-US" sz="1300" dirty="0"/>
          </a:p>
        </p:txBody>
      </p:sp>
      <p:sp>
        <p:nvSpPr>
          <p:cNvPr id="16" name="Text 14"/>
          <p:cNvSpPr/>
          <p:nvPr/>
        </p:nvSpPr>
        <p:spPr>
          <a:xfrm>
            <a:off x="6998040" y="3849624"/>
            <a:ext cx="4462135" cy="548640"/>
          </a:xfrm>
          <a:prstGeom prst="rect">
            <a:avLst/>
          </a:prstGeom>
          <a:noFill/>
          <a:ln/>
        </p:spPr>
        <p:txBody>
          <a:bodyPr wrap="square" rtlCol="0" anchor="t">
            <a:normAutofit/>
          </a:bodyPr>
          <a:lstStyle/>
          <a:p>
            <a:pPr indent="0" marL="0">
              <a:lnSpc>
                <a:spcPct val="130000"/>
              </a:lnSpc>
              <a:buNone/>
            </a:pPr>
            <a:r>
              <a:rPr lang="en-US" sz="1100" dirty="0">
                <a:solidFill>
                  <a:srgbClr val="555555"/>
                </a:solidFill>
                <a:latin typeface="Yu Gothic UI" pitchFamily="34" charset="0"/>
                <a:ea typeface="Yu Gothic UI" pitchFamily="34" charset="-122"/>
                <a:cs typeface="Yu Gothic UI" pitchFamily="34" charset="-120"/>
              </a:rPr>
              <a:t>約8億円</a:t>
            </a:r>
            <a:endParaRPr lang="en-US" sz="1100" dirty="0"/>
          </a:p>
        </p:txBody>
      </p:sp>
      <p:sp>
        <p:nvSpPr>
          <p:cNvPr id="17" name="Text 15"/>
          <p:cNvSpPr/>
          <p:nvPr/>
        </p:nvSpPr>
        <p:spPr>
          <a:xfrm>
            <a:off x="6998040" y="4489704"/>
            <a:ext cx="4462135" cy="274320"/>
          </a:xfrm>
          <a:prstGeom prst="rect">
            <a:avLst/>
          </a:prstGeom>
          <a:noFill/>
          <a:ln/>
        </p:spPr>
        <p:txBody>
          <a:bodyPr wrap="square" rtlCol="0" anchor="ctr"/>
          <a:lstStyle/>
          <a:p>
            <a:pPr indent="0" marL="0">
              <a:buNone/>
            </a:pPr>
            <a:r>
              <a:rPr lang="en-US" sz="1300" b="1" dirty="0">
                <a:solidFill>
                  <a:srgbClr val="1A1A14"/>
                </a:solidFill>
                <a:latin typeface="Yu Gothic UI" pitchFamily="34" charset="0"/>
                <a:ea typeface="Yu Gothic UI" pitchFamily="34" charset="-122"/>
                <a:cs typeface="Yu Gothic UI" pitchFamily="34" charset="-120"/>
              </a:rPr>
              <a:t>成長性</a:t>
            </a:r>
            <a:endParaRPr lang="en-US" sz="1300" dirty="0"/>
          </a:p>
        </p:txBody>
      </p:sp>
      <p:sp>
        <p:nvSpPr>
          <p:cNvPr id="18" name="Text 16"/>
          <p:cNvSpPr/>
          <p:nvPr/>
        </p:nvSpPr>
        <p:spPr>
          <a:xfrm>
            <a:off x="6998040" y="4782312"/>
            <a:ext cx="4462135" cy="548640"/>
          </a:xfrm>
          <a:prstGeom prst="rect">
            <a:avLst/>
          </a:prstGeom>
          <a:noFill/>
          <a:ln/>
        </p:spPr>
        <p:txBody>
          <a:bodyPr wrap="square" rtlCol="0" anchor="t">
            <a:normAutofit/>
          </a:bodyPr>
          <a:lstStyle/>
          <a:p>
            <a:pPr indent="0" marL="0">
              <a:lnSpc>
                <a:spcPct val="130000"/>
              </a:lnSpc>
              <a:buNone/>
            </a:pPr>
            <a:r>
              <a:rPr lang="en-US" sz="1100" dirty="0">
                <a:solidFill>
                  <a:srgbClr val="555555"/>
                </a:solidFill>
                <a:latin typeface="Yu Gothic UI" pitchFamily="34" charset="0"/>
                <a:ea typeface="Yu Gothic UI" pitchFamily="34" charset="-122"/>
                <a:cs typeface="Yu Gothic UI" pitchFamily="34" charset="-120"/>
              </a:rPr>
              <a:t>年率8〜12%成長（ウェブコンサルタント・フリーランス市場の拡大、AI活用支援ニーズ増加）</a:t>
            </a:r>
            <a:endParaRPr lang="en-US" sz="1100" dirty="0"/>
          </a:p>
        </p:txBody>
      </p:sp>
      <p:sp>
        <p:nvSpPr>
          <p:cNvPr id="19" name="Text 17"/>
          <p:cNvSpPr/>
          <p:nvPr/>
        </p:nvSpPr>
        <p:spPr>
          <a:xfrm>
            <a:off x="6998040" y="5422392"/>
            <a:ext cx="4462135" cy="274320"/>
          </a:xfrm>
          <a:prstGeom prst="rect">
            <a:avLst/>
          </a:prstGeom>
          <a:noFill/>
          <a:ln/>
        </p:spPr>
        <p:txBody>
          <a:bodyPr wrap="square" rtlCol="0" anchor="ctr"/>
          <a:lstStyle/>
          <a:p>
            <a:pPr indent="0" marL="0">
              <a:buNone/>
            </a:pPr>
            <a:r>
              <a:rPr lang="en-US" sz="1300" b="1" dirty="0">
                <a:solidFill>
                  <a:srgbClr val="1A1A14"/>
                </a:solidFill>
                <a:latin typeface="Yu Gothic UI" pitchFamily="34" charset="0"/>
                <a:ea typeface="Yu Gothic UI" pitchFamily="34" charset="-122"/>
                <a:cs typeface="Yu Gothic UI" pitchFamily="34" charset="-120"/>
              </a:rPr>
              <a:t>絞り込み条件</a:t>
            </a:r>
            <a:endParaRPr lang="en-US" sz="1300" dirty="0"/>
          </a:p>
        </p:txBody>
      </p:sp>
      <p:sp>
        <p:nvSpPr>
          <p:cNvPr id="20" name="Text 18"/>
          <p:cNvSpPr/>
          <p:nvPr/>
        </p:nvSpPr>
        <p:spPr>
          <a:xfrm>
            <a:off x="6998040" y="5715000"/>
            <a:ext cx="4462135" cy="548640"/>
          </a:xfrm>
          <a:prstGeom prst="rect">
            <a:avLst/>
          </a:prstGeom>
          <a:noFill/>
          <a:ln/>
        </p:spPr>
        <p:txBody>
          <a:bodyPr wrap="square" rtlCol="0" anchor="t">
            <a:normAutofit/>
          </a:bodyPr>
          <a:lstStyle/>
          <a:p>
            <a:pPr indent="0" marL="0">
              <a:lnSpc>
                <a:spcPct val="130000"/>
              </a:lnSpc>
              <a:buNone/>
            </a:pPr>
            <a:r>
              <a:rPr lang="en-US" sz="1100" dirty="0">
                <a:solidFill>
                  <a:srgbClr val="555555"/>
                </a:solidFill>
                <a:latin typeface="Yu Gothic UI" pitchFamily="34" charset="0"/>
                <a:ea typeface="Yu Gothic UI" pitchFamily="34" charset="-122"/>
                <a:cs typeface="Yu Gothic UI" pitchFamily="34" charset="-120"/>
              </a:rPr>
              <a:t>大手コンサルティングファーム所属のコンサルタント、純粋な技術者（エンジニア・デザイナー）でビジネス支援に興味のない人</a:t>
            </a:r>
            <a:endParaRPr lang="en-US" sz="1100" dirty="0"/>
          </a:p>
        </p:txBody>
      </p:sp>
      <p:sp>
        <p:nvSpPr>
          <p:cNvPr id="21" name="Text 19"/>
          <p:cNvSpPr/>
          <p:nvPr/>
        </p:nvSpPr>
        <p:spPr>
          <a:xfrm>
            <a:off x="548640" y="6537960"/>
            <a:ext cx="5486400" cy="228600"/>
          </a:xfrm>
          <a:prstGeom prst="rect">
            <a:avLst/>
          </a:prstGeom>
          <a:noFill/>
          <a:ln/>
        </p:spPr>
        <p:txBody>
          <a:bodyPr wrap="square" rtlCol="0" anchor="ctr"/>
          <a:lstStyle/>
          <a:p>
            <a:pPr indent="0" marL="0">
              <a:buNone/>
            </a:pPr>
            <a:r>
              <a:rPr lang="en-US" sz="900" dirty="0">
                <a:solidFill>
                  <a:srgbClr val="555555"/>
                </a:solidFill>
                <a:latin typeface="Yu Gothic UI" pitchFamily="34" charset="0"/>
                <a:ea typeface="Yu Gothic UI" pitchFamily="34" charset="-122"/>
                <a:cs typeface="Yu Gothic UI" pitchFamily="34" charset="-120"/>
              </a:rPr>
              <a:t>digi-kaku.or.jp</a:t>
            </a:r>
            <a:endParaRPr lang="en-US" sz="900" dirty="0"/>
          </a:p>
        </p:txBody>
      </p:sp>
      <p:sp>
        <p:nvSpPr>
          <p:cNvPr id="22" name="Text 20"/>
          <p:cNvSpPr/>
          <p:nvPr/>
        </p:nvSpPr>
        <p:spPr>
          <a:xfrm>
            <a:off x="6156655" y="6537960"/>
            <a:ext cx="5486400" cy="228600"/>
          </a:xfrm>
          <a:prstGeom prst="rect">
            <a:avLst/>
          </a:prstGeom>
          <a:noFill/>
          <a:ln/>
        </p:spPr>
        <p:txBody>
          <a:bodyPr wrap="square" rtlCol="0" anchor="ctr"/>
          <a:lstStyle/>
          <a:p>
            <a:pPr algn="r" indent="0" marL="0">
              <a:buNone/>
            </a:pPr>
            <a:r>
              <a:rPr lang="en-US" sz="900" dirty="0">
                <a:solidFill>
                  <a:srgbClr val="555555"/>
                </a:solidFill>
                <a:latin typeface="Yu Gothic UI" pitchFamily="34" charset="0"/>
                <a:ea typeface="Yu Gothic UI" pitchFamily="34" charset="-122"/>
                <a:cs typeface="Yu Gothic UI" pitchFamily="34" charset="-120"/>
              </a:rPr>
              <a:t>戦略指南 AI / AB3C 分析レポート　6 / 27</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1A1A14"/>
          </a:solidFill>
          <a:ln w="12700">
            <a:solidFill>
              <a:srgbClr val="1A1A14"/>
            </a:solidFill>
            <a:prstDash val="solid"/>
          </a:ln>
        </p:spPr>
      </p:sp>
      <p:sp>
        <p:nvSpPr>
          <p:cNvPr id="3" name="Text 1"/>
          <p:cNvSpPr/>
          <p:nvPr/>
        </p:nvSpPr>
        <p:spPr>
          <a:xfrm>
            <a:off x="548640" y="411480"/>
            <a:ext cx="11094415" cy="274320"/>
          </a:xfrm>
          <a:prstGeom prst="rect">
            <a:avLst/>
          </a:prstGeom>
          <a:noFill/>
          <a:ln/>
        </p:spPr>
        <p:txBody>
          <a:bodyPr wrap="square" rtlCol="0" anchor="ctr"/>
          <a:lstStyle/>
          <a:p>
            <a:pPr indent="0" marL="0">
              <a:buNone/>
            </a:pPr>
            <a:r>
              <a:rPr lang="en-US" sz="1100" spc="600" kern="0" dirty="0">
                <a:solidFill>
                  <a:srgbClr val="555555"/>
                </a:solidFill>
                <a:latin typeface="Consolas" pitchFamily="34" charset="0"/>
                <a:ea typeface="Consolas" pitchFamily="34" charset="-122"/>
                <a:cs typeface="Consolas" pitchFamily="34" charset="-120"/>
              </a:rPr>
              <a:t>PART 1  ─  COMPETITOR</a:t>
            </a:r>
            <a:endParaRPr lang="en-US" sz="1100" dirty="0"/>
          </a:p>
        </p:txBody>
      </p:sp>
      <p:sp>
        <p:nvSpPr>
          <p:cNvPr id="4" name="Text 2"/>
          <p:cNvSpPr/>
          <p:nvPr/>
        </p:nvSpPr>
        <p:spPr>
          <a:xfrm>
            <a:off x="548640" y="685800"/>
            <a:ext cx="11094415" cy="640080"/>
          </a:xfrm>
          <a:prstGeom prst="rect">
            <a:avLst/>
          </a:prstGeom>
          <a:noFill/>
          <a:ln/>
        </p:spPr>
        <p:txBody>
          <a:bodyPr wrap="square" rtlCol="0" anchor="ctr"/>
          <a:lstStyle/>
          <a:p>
            <a:pPr indent="0" marL="0">
              <a:buNone/>
            </a:pPr>
            <a:r>
              <a:rPr lang="en-US" sz="3000" b="1" dirty="0">
                <a:solidFill>
                  <a:srgbClr val="1A1A14"/>
                </a:solidFill>
                <a:latin typeface="Noto Serif JP" pitchFamily="34" charset="0"/>
                <a:ea typeface="Noto Serif JP" pitchFamily="34" charset="-122"/>
                <a:cs typeface="Noto Serif JP" pitchFamily="34" charset="-120"/>
              </a:rPr>
              <a:t>競合（Competitor）</a:t>
            </a:r>
            <a:endParaRPr lang="en-US" sz="3000" dirty="0"/>
          </a:p>
        </p:txBody>
      </p:sp>
      <p:sp>
        <p:nvSpPr>
          <p:cNvPr id="5" name="Shape 3"/>
          <p:cNvSpPr/>
          <p:nvPr/>
        </p:nvSpPr>
        <p:spPr>
          <a:xfrm>
            <a:off x="548640" y="1280160"/>
            <a:ext cx="11094415" cy="0"/>
          </a:xfrm>
          <a:prstGeom prst="line">
            <a:avLst/>
          </a:prstGeom>
          <a:noFill/>
          <a:ln w="12700">
            <a:solidFill>
              <a:srgbClr val="1A1A14"/>
            </a:solidFill>
            <a:prstDash val="solid"/>
          </a:ln>
        </p:spPr>
      </p:sp>
      <p:sp>
        <p:nvSpPr>
          <p:cNvPr id="6" name="Text 4"/>
          <p:cNvSpPr/>
          <p:nvPr/>
        </p:nvSpPr>
        <p:spPr>
          <a:xfrm>
            <a:off x="548640" y="1508760"/>
            <a:ext cx="5364328" cy="365760"/>
          </a:xfrm>
          <a:prstGeom prst="rect">
            <a:avLst/>
          </a:prstGeom>
          <a:noFill/>
          <a:ln/>
        </p:spPr>
        <p:txBody>
          <a:bodyPr wrap="square" rtlCol="0" anchor="ctr"/>
          <a:lstStyle/>
          <a:p>
            <a:pPr indent="0" marL="0">
              <a:buNone/>
            </a:pPr>
            <a:r>
              <a:rPr lang="en-US" sz="1400" b="1" dirty="0">
                <a:solidFill>
                  <a:srgbClr val="1A1A14"/>
                </a:solidFill>
                <a:latin typeface="Yu Gothic UI" pitchFamily="34" charset="0"/>
                <a:ea typeface="Yu Gothic UI" pitchFamily="34" charset="-122"/>
                <a:cs typeface="Yu Gothic UI" pitchFamily="34" charset="-120"/>
              </a:rPr>
              <a:t>直接競合</a:t>
            </a:r>
            <a:endParaRPr lang="en-US" sz="1400" dirty="0"/>
          </a:p>
        </p:txBody>
      </p:sp>
      <p:sp>
        <p:nvSpPr>
          <p:cNvPr id="7" name="Shape 5"/>
          <p:cNvSpPr/>
          <p:nvPr/>
        </p:nvSpPr>
        <p:spPr>
          <a:xfrm>
            <a:off x="548640" y="1874520"/>
            <a:ext cx="5364328" cy="4389120"/>
          </a:xfrm>
          <a:prstGeom prst="rect">
            <a:avLst/>
          </a:prstGeom>
          <a:solidFill>
            <a:srgbClr val="F8F8F6"/>
          </a:solidFill>
          <a:ln w="12700">
            <a:solidFill>
              <a:srgbClr val="CCCCCC"/>
            </a:solidFill>
            <a:prstDash val="solid"/>
          </a:ln>
        </p:spPr>
      </p:sp>
      <p:sp>
        <p:nvSpPr>
          <p:cNvPr id="8" name="Text 6"/>
          <p:cNvSpPr/>
          <p:nvPr/>
        </p:nvSpPr>
        <p:spPr>
          <a:xfrm>
            <a:off x="731520" y="2011680"/>
            <a:ext cx="4998568" cy="4206240"/>
          </a:xfrm>
          <a:prstGeom prst="rect">
            <a:avLst/>
          </a:prstGeom>
          <a:noFill/>
          <a:ln/>
        </p:spPr>
        <p:txBody>
          <a:bodyPr wrap="square" rtlCol="0" anchor="t">
            <a:normAutofit/>
          </a:bodyPr>
          <a:lstStyle/>
          <a:p>
            <a:pPr indent="0" marL="0">
              <a:lnSpc>
                <a:spcPct val="130000"/>
              </a:lnSpc>
              <a:buNone/>
            </a:pPr>
            <a:r>
              <a:rPr lang="en-US" sz="1200" b="1" dirty="0">
                <a:solidFill>
                  <a:srgbClr val="1A1A14"/>
                </a:solidFill>
                <a:latin typeface="Yu Gothic UI" pitchFamily="34" charset="0"/>
                <a:ea typeface="Yu Gothic UI" pitchFamily="34" charset="-122"/>
                <a:cs typeface="Yu Gothic UI" pitchFamily="34" charset="-120"/>
              </a:rPr>
              <a:t>中小企業診断士資格</a:t>
            </a:r>
            <a:endParaRPr lang="en-US" sz="1200" dirty="0"/>
          </a:p>
          <a:p>
            <a:pPr indent="0" marL="0">
              <a:lnSpc>
                <a:spcPct val="130000"/>
              </a:lnSpc>
              <a:buNone/>
            </a:pPr>
            <a:r>
              <a:rPr lang="en-US" sz="1200" dirty="0">
                <a:solidFill>
                  <a:srgbClr val="555555"/>
                </a:solidFill>
                <a:latin typeface="Yu Gothic UI" pitchFamily="34" charset="0"/>
                <a:ea typeface="Yu Gothic UI" pitchFamily="34" charset="-122"/>
                <a:cs typeface="Yu Gothic UI" pitchFamily="34" charset="-120"/>
              </a:rPr>
              <a:t> （経営コンサルタント唯一の国家資格、受験者数年間約2万人）</a:t>
            </a:r>
            <a:endParaRPr lang="en-US" sz="1200" dirty="0"/>
          </a:p>
          <a:p>
            <a:pPr indent="0" marL="0">
              <a:lnSpc>
                <a:spcPct val="130000"/>
              </a:lnSpc>
              <a:buNone/>
            </a:pPr>
            <a:r>
              <a:rPr lang="en-US" sz="1000" dirty="0">
                <a:solidFill>
                  <a:srgbClr val="1A6FD4"/>
                </a:solidFill>
                <a:latin typeface="Yu Gothic UI" pitchFamily="34" charset="0"/>
                <a:ea typeface="Yu Gothic UI" pitchFamily="34" charset="-122"/>
                <a:cs typeface="Yu Gothic UI" pitchFamily="34" charset="-120"/>
              </a:rPr>
              <a:t>　https://www.j-smeca.jp/</a:t>
            </a:r>
            <a:endParaRPr lang="en-US" sz="1200" dirty="0"/>
          </a:p>
          <a:p>
            <a:pPr indent="0" marL="0">
              <a:lnSpc>
                <a:spcPct val="130000"/>
              </a:lnSpc>
              <a:buNone/>
            </a:pPr>
            <a:r>
              <a:rPr lang="en-US" sz="600" dirty="0">
                <a:solidFill>
                  <a:srgbClr val="1A1A14"/>
                </a:solidFill>
                <a:latin typeface="Yu Gothic UI" pitchFamily="34" charset="0"/>
                <a:ea typeface="Yu Gothic UI" pitchFamily="34" charset="-122"/>
                <a:cs typeface="Yu Gothic UI" pitchFamily="34" charset="-120"/>
              </a:rPr>
              <a:t> </a:t>
            </a:r>
            <a:endParaRPr lang="en-US" sz="1200" dirty="0"/>
          </a:p>
          <a:p>
            <a:pPr indent="0" marL="0">
              <a:lnSpc>
                <a:spcPct val="130000"/>
              </a:lnSpc>
              <a:buNone/>
            </a:pPr>
            <a:r>
              <a:rPr lang="en-US" sz="1200" b="1" dirty="0">
                <a:solidFill>
                  <a:srgbClr val="1A1A14"/>
                </a:solidFill>
                <a:latin typeface="Yu Gothic UI" pitchFamily="34" charset="0"/>
                <a:ea typeface="Yu Gothic UI" pitchFamily="34" charset="-122"/>
                <a:cs typeface="Yu Gothic UI" pitchFamily="34" charset="-120"/>
              </a:rPr>
              <a:t>ウェブ解析士協会</a:t>
            </a:r>
            <a:endParaRPr lang="en-US" sz="1200" dirty="0"/>
          </a:p>
          <a:p>
            <a:pPr indent="0" marL="0">
              <a:lnSpc>
                <a:spcPct val="130000"/>
              </a:lnSpc>
              <a:buNone/>
            </a:pPr>
            <a:r>
              <a:rPr lang="en-US" sz="1200" dirty="0">
                <a:solidFill>
                  <a:srgbClr val="555555"/>
                </a:solidFill>
                <a:latin typeface="Yu Gothic UI" pitchFamily="34" charset="0"/>
                <a:ea typeface="Yu Gothic UI" pitchFamily="34" charset="-122"/>
                <a:cs typeface="Yu Gothic UI" pitchFamily="34" charset="-120"/>
              </a:rPr>
              <a:t> （ウェブ解析士・上級ウェブ解析士資格）</a:t>
            </a:r>
            <a:endParaRPr lang="en-US" sz="1200" dirty="0"/>
          </a:p>
          <a:p>
            <a:pPr indent="0" marL="0">
              <a:lnSpc>
                <a:spcPct val="130000"/>
              </a:lnSpc>
              <a:buNone/>
            </a:pPr>
            <a:r>
              <a:rPr lang="en-US" sz="1000" dirty="0">
                <a:solidFill>
                  <a:srgbClr val="1A6FD4"/>
                </a:solidFill>
                <a:latin typeface="Yu Gothic UI" pitchFamily="34" charset="0"/>
                <a:ea typeface="Yu Gothic UI" pitchFamily="34" charset="-122"/>
                <a:cs typeface="Yu Gothic UI" pitchFamily="34" charset="-120"/>
              </a:rPr>
              <a:t>　https://www.waca.associates/jp/</a:t>
            </a:r>
            <a:endParaRPr lang="en-US" sz="1200" dirty="0"/>
          </a:p>
          <a:p>
            <a:pPr indent="0" marL="0">
              <a:lnSpc>
                <a:spcPct val="130000"/>
              </a:lnSpc>
              <a:buNone/>
            </a:pPr>
            <a:r>
              <a:rPr lang="en-US" sz="600" dirty="0">
                <a:solidFill>
                  <a:srgbClr val="1A1A14"/>
                </a:solidFill>
                <a:latin typeface="Yu Gothic UI" pitchFamily="34" charset="0"/>
                <a:ea typeface="Yu Gothic UI" pitchFamily="34" charset="-122"/>
                <a:cs typeface="Yu Gothic UI" pitchFamily="34" charset="-120"/>
              </a:rPr>
              <a:t> </a:t>
            </a:r>
            <a:endParaRPr lang="en-US" sz="1200" dirty="0"/>
          </a:p>
          <a:p>
            <a:pPr indent="0" marL="0">
              <a:lnSpc>
                <a:spcPct val="130000"/>
              </a:lnSpc>
              <a:buNone/>
            </a:pPr>
            <a:r>
              <a:rPr lang="en-US" sz="1200" b="1" dirty="0">
                <a:solidFill>
                  <a:srgbClr val="1A1A14"/>
                </a:solidFill>
                <a:latin typeface="Yu Gothic UI" pitchFamily="34" charset="0"/>
                <a:ea typeface="Yu Gothic UI" pitchFamily="34" charset="-122"/>
                <a:cs typeface="Yu Gothic UI" pitchFamily="34" charset="-120"/>
              </a:rPr>
              <a:t>Google認定資格・HubSpot認定資格等</a:t>
            </a:r>
            <a:endParaRPr lang="en-US" sz="1200" dirty="0"/>
          </a:p>
          <a:p>
            <a:pPr indent="0" marL="0">
              <a:lnSpc>
                <a:spcPct val="130000"/>
              </a:lnSpc>
              <a:buNone/>
            </a:pPr>
            <a:r>
              <a:rPr lang="en-US" sz="1200" dirty="0">
                <a:solidFill>
                  <a:srgbClr val="555555"/>
                </a:solidFill>
                <a:latin typeface="Yu Gothic UI" pitchFamily="34" charset="0"/>
                <a:ea typeface="Yu Gothic UI" pitchFamily="34" charset="-122"/>
                <a:cs typeface="Yu Gothic UI" pitchFamily="34" charset="-120"/>
              </a:rPr>
              <a:t> （デジタルマーケティング系資格）</a:t>
            </a:r>
            <a:endParaRPr lang="en-US" sz="1200" dirty="0"/>
          </a:p>
          <a:p>
            <a:pPr indent="0" marL="0">
              <a:lnSpc>
                <a:spcPct val="130000"/>
              </a:lnSpc>
              <a:buNone/>
            </a:pPr>
            <a:r>
              <a:rPr lang="en-US" sz="1000" dirty="0">
                <a:solidFill>
                  <a:srgbClr val="1A6FD4"/>
                </a:solidFill>
                <a:latin typeface="Yu Gothic UI" pitchFamily="34" charset="0"/>
                <a:ea typeface="Yu Gothic UI" pitchFamily="34" charset="-122"/>
                <a:cs typeface="Yu Gothic UI" pitchFamily="34" charset="-120"/>
              </a:rPr>
              <a:t>　https://skillshop.withgoogle.com/</a:t>
            </a:r>
            <a:endParaRPr lang="en-US" sz="1200" dirty="0"/>
          </a:p>
        </p:txBody>
      </p:sp>
      <p:sp>
        <p:nvSpPr>
          <p:cNvPr id="9" name="Text 7"/>
          <p:cNvSpPr/>
          <p:nvPr/>
        </p:nvSpPr>
        <p:spPr>
          <a:xfrm>
            <a:off x="6278728" y="1508760"/>
            <a:ext cx="5364328" cy="365760"/>
          </a:xfrm>
          <a:prstGeom prst="rect">
            <a:avLst/>
          </a:prstGeom>
          <a:noFill/>
          <a:ln/>
        </p:spPr>
        <p:txBody>
          <a:bodyPr wrap="square" rtlCol="0" anchor="ctr"/>
          <a:lstStyle/>
          <a:p>
            <a:pPr indent="0" marL="0">
              <a:buNone/>
            </a:pPr>
            <a:r>
              <a:rPr lang="en-US" sz="1400" b="1" dirty="0">
                <a:solidFill>
                  <a:srgbClr val="1A1A14"/>
                </a:solidFill>
                <a:latin typeface="Yu Gothic UI" pitchFamily="34" charset="0"/>
                <a:ea typeface="Yu Gothic UI" pitchFamily="34" charset="-122"/>
                <a:cs typeface="Yu Gothic UI" pitchFamily="34" charset="-120"/>
              </a:rPr>
              <a:t>間接競合</a:t>
            </a:r>
            <a:endParaRPr lang="en-US" sz="1400" dirty="0"/>
          </a:p>
        </p:txBody>
      </p:sp>
      <p:sp>
        <p:nvSpPr>
          <p:cNvPr id="10" name="Shape 8"/>
          <p:cNvSpPr/>
          <p:nvPr/>
        </p:nvSpPr>
        <p:spPr>
          <a:xfrm>
            <a:off x="6278728" y="1874520"/>
            <a:ext cx="5364328" cy="4389120"/>
          </a:xfrm>
          <a:prstGeom prst="rect">
            <a:avLst/>
          </a:prstGeom>
          <a:solidFill>
            <a:srgbClr val="F8F8F6"/>
          </a:solidFill>
          <a:ln w="12700">
            <a:solidFill>
              <a:srgbClr val="CCCCCC"/>
            </a:solidFill>
            <a:prstDash val="solid"/>
          </a:ln>
        </p:spPr>
      </p:sp>
      <p:sp>
        <p:nvSpPr>
          <p:cNvPr id="11" name="Text 9"/>
          <p:cNvSpPr/>
          <p:nvPr/>
        </p:nvSpPr>
        <p:spPr>
          <a:xfrm>
            <a:off x="6461608" y="2011680"/>
            <a:ext cx="4998568" cy="4206240"/>
          </a:xfrm>
          <a:prstGeom prst="rect">
            <a:avLst/>
          </a:prstGeom>
          <a:noFill/>
          <a:ln/>
        </p:spPr>
        <p:txBody>
          <a:bodyPr wrap="square" rtlCol="0" anchor="t">
            <a:normAutofit/>
          </a:bodyPr>
          <a:lstStyle/>
          <a:p>
            <a:pPr indent="0" marL="0">
              <a:lnSpc>
                <a:spcPct val="130000"/>
              </a:lnSpc>
              <a:buNone/>
            </a:pPr>
            <a:r>
              <a:rPr lang="en-US" sz="1200" b="1" dirty="0">
                <a:solidFill>
                  <a:srgbClr val="1A1A14"/>
                </a:solidFill>
                <a:latin typeface="Yu Gothic UI" pitchFamily="34" charset="0"/>
                <a:ea typeface="Yu Gothic UI" pitchFamily="34" charset="-122"/>
                <a:cs typeface="Yu Gothic UI" pitchFamily="34" charset="-120"/>
              </a:rPr>
              <a:t>Udemy・Coursera等のオンライン学習プラットフォーム</a:t>
            </a:r>
            <a:endParaRPr lang="en-US" sz="1200" dirty="0"/>
          </a:p>
          <a:p>
            <a:pPr indent="0" marL="0">
              <a:lnSpc>
                <a:spcPct val="130000"/>
              </a:lnSpc>
              <a:buNone/>
            </a:pPr>
            <a:r>
              <a:rPr lang="en-US" sz="1200" dirty="0">
                <a:solidFill>
                  <a:srgbClr val="555555"/>
                </a:solidFill>
                <a:latin typeface="Yu Gothic UI" pitchFamily="34" charset="0"/>
                <a:ea typeface="Yu Gothic UI" pitchFamily="34" charset="-122"/>
                <a:cs typeface="Yu Gothic UI" pitchFamily="34" charset="-120"/>
              </a:rPr>
              <a:t> （個別スキル習得の代替）</a:t>
            </a:r>
            <a:endParaRPr lang="en-US" sz="1200" dirty="0"/>
          </a:p>
          <a:p>
            <a:pPr indent="0" marL="0">
              <a:lnSpc>
                <a:spcPct val="130000"/>
              </a:lnSpc>
              <a:buNone/>
            </a:pPr>
            <a:r>
              <a:rPr lang="en-US" sz="1000" dirty="0">
                <a:solidFill>
                  <a:srgbClr val="1A6FD4"/>
                </a:solidFill>
                <a:latin typeface="Yu Gothic UI" pitchFamily="34" charset="0"/>
                <a:ea typeface="Yu Gothic UI" pitchFamily="34" charset="-122"/>
                <a:cs typeface="Yu Gothic UI" pitchFamily="34" charset="-120"/>
              </a:rPr>
              <a:t>　https://www.udemy.com/</a:t>
            </a:r>
            <a:endParaRPr lang="en-US" sz="1200" dirty="0"/>
          </a:p>
          <a:p>
            <a:pPr indent="0" marL="0">
              <a:lnSpc>
                <a:spcPct val="130000"/>
              </a:lnSpc>
              <a:buNone/>
            </a:pPr>
            <a:r>
              <a:rPr lang="en-US" sz="600" dirty="0">
                <a:solidFill>
                  <a:srgbClr val="1A1A14"/>
                </a:solidFill>
                <a:latin typeface="Yu Gothic UI" pitchFamily="34" charset="0"/>
                <a:ea typeface="Yu Gothic UI" pitchFamily="34" charset="-122"/>
                <a:cs typeface="Yu Gothic UI" pitchFamily="34" charset="-120"/>
              </a:rPr>
              <a:t> </a:t>
            </a:r>
            <a:endParaRPr lang="en-US" sz="1200" dirty="0"/>
          </a:p>
          <a:p>
            <a:pPr indent="0" marL="0">
              <a:lnSpc>
                <a:spcPct val="130000"/>
              </a:lnSpc>
              <a:buNone/>
            </a:pPr>
            <a:r>
              <a:rPr lang="en-US" sz="1200" b="1" dirty="0">
                <a:solidFill>
                  <a:srgbClr val="1A1A14"/>
                </a:solidFill>
                <a:latin typeface="Yu Gothic UI" pitchFamily="34" charset="0"/>
                <a:ea typeface="Yu Gothic UI" pitchFamily="34" charset="-122"/>
                <a:cs typeface="Yu Gothic UI" pitchFamily="34" charset="-120"/>
              </a:rPr>
              <a:t>中小企業家同友会・商工会議所</a:t>
            </a:r>
            <a:endParaRPr lang="en-US" sz="1200" dirty="0"/>
          </a:p>
          <a:p>
            <a:pPr indent="0" marL="0">
              <a:lnSpc>
                <a:spcPct val="130000"/>
              </a:lnSpc>
              <a:buNone/>
            </a:pPr>
            <a:r>
              <a:rPr lang="en-US" sz="1200" dirty="0">
                <a:solidFill>
                  <a:srgbClr val="555555"/>
                </a:solidFill>
                <a:latin typeface="Yu Gothic UI" pitchFamily="34" charset="0"/>
                <a:ea typeface="Yu Gothic UI" pitchFamily="34" charset="-122"/>
                <a:cs typeface="Yu Gothic UI" pitchFamily="34" charset="-120"/>
              </a:rPr>
              <a:t> （異業種交流・案件紹介の代替）</a:t>
            </a:r>
            <a:endParaRPr lang="en-US" sz="1200" dirty="0"/>
          </a:p>
          <a:p>
            <a:pPr indent="0" marL="0">
              <a:lnSpc>
                <a:spcPct val="130000"/>
              </a:lnSpc>
              <a:buNone/>
            </a:pPr>
            <a:r>
              <a:rPr lang="en-US" sz="1000" dirty="0">
                <a:solidFill>
                  <a:srgbClr val="1A6FD4"/>
                </a:solidFill>
                <a:latin typeface="Yu Gothic UI" pitchFamily="34" charset="0"/>
                <a:ea typeface="Yu Gothic UI" pitchFamily="34" charset="-122"/>
                <a:cs typeface="Yu Gothic UI" pitchFamily="34" charset="-120"/>
              </a:rPr>
              <a:t>　https://www.doyu.jp/</a:t>
            </a:r>
            <a:endParaRPr lang="en-US" sz="1200" dirty="0"/>
          </a:p>
          <a:p>
            <a:pPr indent="0" marL="0">
              <a:lnSpc>
                <a:spcPct val="130000"/>
              </a:lnSpc>
              <a:buNone/>
            </a:pPr>
            <a:r>
              <a:rPr lang="en-US" sz="600" dirty="0">
                <a:solidFill>
                  <a:srgbClr val="1A1A14"/>
                </a:solidFill>
                <a:latin typeface="Yu Gothic UI" pitchFamily="34" charset="0"/>
                <a:ea typeface="Yu Gothic UI" pitchFamily="34" charset="-122"/>
                <a:cs typeface="Yu Gothic UI" pitchFamily="34" charset="-120"/>
              </a:rPr>
              <a:t> </a:t>
            </a:r>
            <a:endParaRPr lang="en-US" sz="1200" dirty="0"/>
          </a:p>
          <a:p>
            <a:pPr indent="0" marL="0">
              <a:lnSpc>
                <a:spcPct val="130000"/>
              </a:lnSpc>
              <a:buNone/>
            </a:pPr>
            <a:r>
              <a:rPr lang="en-US" sz="1200" b="1" dirty="0">
                <a:solidFill>
                  <a:srgbClr val="1A1A14"/>
                </a:solidFill>
                <a:latin typeface="Yu Gothic UI" pitchFamily="34" charset="0"/>
                <a:ea typeface="Yu Gothic UI" pitchFamily="34" charset="-122"/>
                <a:cs typeface="Yu Gothic UI" pitchFamily="34" charset="-120"/>
              </a:rPr>
              <a:t>個人ブログ・YouTube</a:t>
            </a:r>
            <a:endParaRPr lang="en-US" sz="1200" dirty="0"/>
          </a:p>
          <a:p>
            <a:pPr indent="0" marL="0">
              <a:lnSpc>
                <a:spcPct val="130000"/>
              </a:lnSpc>
              <a:buNone/>
            </a:pPr>
            <a:r>
              <a:rPr lang="en-US" sz="1200" dirty="0">
                <a:solidFill>
                  <a:srgbClr val="555555"/>
                </a:solidFill>
                <a:latin typeface="Yu Gothic UI" pitchFamily="34" charset="0"/>
                <a:ea typeface="Yu Gothic UI" pitchFamily="34" charset="-122"/>
                <a:cs typeface="Yu Gothic UI" pitchFamily="34" charset="-120"/>
              </a:rPr>
              <a:t> （無料で戦略知識を習得する代替手段）</a:t>
            </a:r>
            <a:endParaRPr lang="en-US" sz="1200" dirty="0"/>
          </a:p>
        </p:txBody>
      </p:sp>
      <p:sp>
        <p:nvSpPr>
          <p:cNvPr id="12" name="Text 10"/>
          <p:cNvSpPr/>
          <p:nvPr/>
        </p:nvSpPr>
        <p:spPr>
          <a:xfrm>
            <a:off x="548640" y="6537960"/>
            <a:ext cx="5486400" cy="228600"/>
          </a:xfrm>
          <a:prstGeom prst="rect">
            <a:avLst/>
          </a:prstGeom>
          <a:noFill/>
          <a:ln/>
        </p:spPr>
        <p:txBody>
          <a:bodyPr wrap="square" rtlCol="0" anchor="ctr"/>
          <a:lstStyle/>
          <a:p>
            <a:pPr indent="0" marL="0">
              <a:buNone/>
            </a:pPr>
            <a:r>
              <a:rPr lang="en-US" sz="900" dirty="0">
                <a:solidFill>
                  <a:srgbClr val="555555"/>
                </a:solidFill>
                <a:latin typeface="Yu Gothic UI" pitchFamily="34" charset="0"/>
                <a:ea typeface="Yu Gothic UI" pitchFamily="34" charset="-122"/>
                <a:cs typeface="Yu Gothic UI" pitchFamily="34" charset="-120"/>
              </a:rPr>
              <a:t>digi-kaku.or.jp</a:t>
            </a:r>
            <a:endParaRPr lang="en-US" sz="900" dirty="0"/>
          </a:p>
        </p:txBody>
      </p:sp>
      <p:sp>
        <p:nvSpPr>
          <p:cNvPr id="13" name="Text 11"/>
          <p:cNvSpPr/>
          <p:nvPr/>
        </p:nvSpPr>
        <p:spPr>
          <a:xfrm>
            <a:off x="6156655" y="6537960"/>
            <a:ext cx="5486400" cy="228600"/>
          </a:xfrm>
          <a:prstGeom prst="rect">
            <a:avLst/>
          </a:prstGeom>
          <a:noFill/>
          <a:ln/>
        </p:spPr>
        <p:txBody>
          <a:bodyPr wrap="square" rtlCol="0" anchor="ctr"/>
          <a:lstStyle/>
          <a:p>
            <a:pPr algn="r" indent="0" marL="0">
              <a:buNone/>
            </a:pPr>
            <a:r>
              <a:rPr lang="en-US" sz="900" dirty="0">
                <a:solidFill>
                  <a:srgbClr val="555555"/>
                </a:solidFill>
                <a:latin typeface="Yu Gothic UI" pitchFamily="34" charset="0"/>
                <a:ea typeface="Yu Gothic UI" pitchFamily="34" charset="-122"/>
                <a:cs typeface="Yu Gothic UI" pitchFamily="34" charset="-120"/>
              </a:rPr>
              <a:t>戦略指南 AI / AB3C 分析レポート　7 / 27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1A1A14"/>
          </a:solidFill>
          <a:ln w="12700">
            <a:solidFill>
              <a:srgbClr val="1A1A14"/>
            </a:solidFill>
            <a:prstDash val="solid"/>
          </a:ln>
        </p:spPr>
      </p:sp>
      <p:sp>
        <p:nvSpPr>
          <p:cNvPr id="3" name="Text 1"/>
          <p:cNvSpPr/>
          <p:nvPr/>
        </p:nvSpPr>
        <p:spPr>
          <a:xfrm>
            <a:off x="548640" y="411480"/>
            <a:ext cx="11094415" cy="274320"/>
          </a:xfrm>
          <a:prstGeom prst="rect">
            <a:avLst/>
          </a:prstGeom>
          <a:noFill/>
          <a:ln/>
        </p:spPr>
        <p:txBody>
          <a:bodyPr wrap="square" rtlCol="0" anchor="ctr"/>
          <a:lstStyle/>
          <a:p>
            <a:pPr indent="0" marL="0">
              <a:buNone/>
            </a:pPr>
            <a:r>
              <a:rPr lang="en-US" sz="1100" spc="600" kern="0" dirty="0">
                <a:solidFill>
                  <a:srgbClr val="555555"/>
                </a:solidFill>
                <a:latin typeface="Consolas" pitchFamily="34" charset="0"/>
                <a:ea typeface="Consolas" pitchFamily="34" charset="-122"/>
                <a:cs typeface="Consolas" pitchFamily="34" charset="-120"/>
              </a:rPr>
              <a:t>PART 1  ─  COMPANY</a:t>
            </a:r>
            <a:endParaRPr lang="en-US" sz="1100" dirty="0"/>
          </a:p>
        </p:txBody>
      </p:sp>
      <p:sp>
        <p:nvSpPr>
          <p:cNvPr id="4" name="Text 2"/>
          <p:cNvSpPr/>
          <p:nvPr/>
        </p:nvSpPr>
        <p:spPr>
          <a:xfrm>
            <a:off x="548640" y="685800"/>
            <a:ext cx="11094415" cy="640080"/>
          </a:xfrm>
          <a:prstGeom prst="rect">
            <a:avLst/>
          </a:prstGeom>
          <a:noFill/>
          <a:ln/>
        </p:spPr>
        <p:txBody>
          <a:bodyPr wrap="square" rtlCol="0" anchor="ctr"/>
          <a:lstStyle/>
          <a:p>
            <a:pPr indent="0" marL="0">
              <a:buNone/>
            </a:pPr>
            <a:r>
              <a:rPr lang="en-US" sz="3000" b="1" dirty="0">
                <a:solidFill>
                  <a:srgbClr val="1A1A14"/>
                </a:solidFill>
                <a:latin typeface="Noto Serif JP" pitchFamily="34" charset="0"/>
                <a:ea typeface="Noto Serif JP" pitchFamily="34" charset="-122"/>
                <a:cs typeface="Noto Serif JP" pitchFamily="34" charset="-120"/>
              </a:rPr>
              <a:t>自社（Company）</a:t>
            </a:r>
            <a:endParaRPr lang="en-US" sz="3000" dirty="0"/>
          </a:p>
        </p:txBody>
      </p:sp>
      <p:sp>
        <p:nvSpPr>
          <p:cNvPr id="5" name="Shape 3"/>
          <p:cNvSpPr/>
          <p:nvPr/>
        </p:nvSpPr>
        <p:spPr>
          <a:xfrm>
            <a:off x="548640" y="1280160"/>
            <a:ext cx="11094415" cy="0"/>
          </a:xfrm>
          <a:prstGeom prst="line">
            <a:avLst/>
          </a:prstGeom>
          <a:noFill/>
          <a:ln w="12700">
            <a:solidFill>
              <a:srgbClr val="1A1A14"/>
            </a:solidFill>
            <a:prstDash val="solid"/>
          </a:ln>
        </p:spPr>
      </p:sp>
      <p:sp>
        <p:nvSpPr>
          <p:cNvPr id="6" name="Text 4"/>
          <p:cNvSpPr/>
          <p:nvPr/>
        </p:nvSpPr>
        <p:spPr>
          <a:xfrm>
            <a:off x="548640" y="1417320"/>
            <a:ext cx="11094415" cy="365760"/>
          </a:xfrm>
          <a:prstGeom prst="rect">
            <a:avLst/>
          </a:prstGeom>
          <a:noFill/>
          <a:ln/>
        </p:spPr>
        <p:txBody>
          <a:bodyPr wrap="square" rtlCol="0" anchor="ctr"/>
          <a:lstStyle/>
          <a:p>
            <a:pPr indent="0" marL="0">
              <a:buNone/>
            </a:pPr>
            <a:r>
              <a:rPr lang="en-US" sz="1600" b="1" dirty="0">
                <a:solidFill>
                  <a:srgbClr val="1A1A14"/>
                </a:solidFill>
                <a:latin typeface="Yu Gothic UI" pitchFamily="34" charset="0"/>
                <a:ea typeface="Yu Gothic UI" pitchFamily="34" charset="-122"/>
                <a:cs typeface="Yu Gothic UI" pitchFamily="34" charset="-120"/>
              </a:rPr>
              <a:t>強み</a:t>
            </a:r>
            <a:endParaRPr lang="en-US" sz="1600" dirty="0"/>
          </a:p>
        </p:txBody>
      </p:sp>
      <p:sp>
        <p:nvSpPr>
          <p:cNvPr id="7" name="Text 5"/>
          <p:cNvSpPr/>
          <p:nvPr/>
        </p:nvSpPr>
        <p:spPr>
          <a:xfrm>
            <a:off x="548640" y="1828800"/>
            <a:ext cx="11094415" cy="1467612"/>
          </a:xfrm>
          <a:prstGeom prst="rect">
            <a:avLst/>
          </a:prstGeom>
          <a:noFill/>
          <a:ln/>
        </p:spPr>
        <p:txBody>
          <a:bodyPr wrap="square" rtlCol="0" anchor="t">
            <a:normAutofit/>
          </a:bodyPr>
          <a:lstStyle/>
          <a:p>
            <a:pPr>
              <a:lnSpc>
                <a:spcPct val="135000"/>
              </a:lnSpc>
              <a:spcAft>
                <a:spcPts val="200"/>
              </a:spcAft>
            </a:pPr>
            <a:r>
              <a:rPr lang="en-US" sz="1200" dirty="0">
                <a:solidFill>
                  <a:srgbClr val="1A1A14"/>
                </a:solidFill>
                <a:latin typeface="Yu Gothic UI" pitchFamily="34" charset="0"/>
                <a:ea typeface="Yu Gothic UI" pitchFamily="34" charset="-122"/>
                <a:cs typeface="Yu Gothic UI" pitchFamily="34" charset="-120"/>
              </a:rPr>
              <a:t>AB3Cフレームワークの独自開発・著作権保有（大前研一の3C分析を発展させた独自フレームワーク、2007年著作で初出）</a:t>
            </a:r>
            <a:endParaRPr lang="en-US" sz="1200" dirty="0"/>
          </a:p>
          <a:p>
            <a:pPr>
              <a:lnSpc>
                <a:spcPct val="135000"/>
              </a:lnSpc>
              <a:spcAft>
                <a:spcPts val="200"/>
              </a:spcAft>
            </a:pPr>
            <a:r>
              <a:rPr lang="en-US" sz="1200" dirty="0">
                <a:solidFill>
                  <a:srgbClr val="1A1A14"/>
                </a:solidFill>
                <a:latin typeface="Yu Gothic UI" pitchFamily="34" charset="0"/>
                <a:ea typeface="Yu Gothic UI" pitchFamily="34" charset="-122"/>
                <a:cs typeface="Yu Gothic UI" pitchFamily="34" charset="-120"/>
              </a:rPr>
              <a:t>代表理事・権成俊が『日本のウェブコンサルタントの先駆者』として複数の著書（翔泳社・技術評論社刊）を出版し、日経クロストレンド連載実績あり</a:t>
            </a:r>
            <a:endParaRPr lang="en-US" sz="1200" dirty="0"/>
          </a:p>
          <a:p>
            <a:pPr>
              <a:lnSpc>
                <a:spcPct val="135000"/>
              </a:lnSpc>
              <a:spcAft>
                <a:spcPts val="200"/>
              </a:spcAft>
            </a:pPr>
            <a:r>
              <a:rPr lang="en-US" sz="1200" dirty="0">
                <a:solidFill>
                  <a:srgbClr val="1A1A14"/>
                </a:solidFill>
                <a:latin typeface="Yu Gothic UI" pitchFamily="34" charset="0"/>
                <a:ea typeface="Yu Gothic UI" pitchFamily="34" charset="-122"/>
                <a:cs typeface="Yu Gothic UI" pitchFamily="34" charset="-120"/>
              </a:rPr>
              <a:t>自社開発AIツール『戦略指南AI（senryaku.ai）』をAB3Cフレームワークに組み込み、URLを入力するだけで戦略分析を自動出力する仕組みを保有</a:t>
            </a:r>
            <a:endParaRPr lang="en-US" sz="1200" dirty="0"/>
          </a:p>
          <a:p>
            <a:pPr>
              <a:lnSpc>
                <a:spcPct val="135000"/>
              </a:lnSpc>
              <a:spcAft>
                <a:spcPts val="200"/>
              </a:spcAft>
            </a:pPr>
            <a:r>
              <a:rPr lang="en-US" sz="1200" dirty="0">
                <a:solidFill>
                  <a:srgbClr val="1A1A14"/>
                </a:solidFill>
                <a:latin typeface="Yu Gothic UI" pitchFamily="34" charset="0"/>
                <a:ea typeface="Yu Gothic UI" pitchFamily="34" charset="-122"/>
                <a:cs typeface="Yu Gothic UI" pitchFamily="34" charset="-120"/>
              </a:rPr>
              <a:t>学習・資格・共創コミュニティの3本柱を一体運営（eラーニング200本超、4資格制度、月例定例会・案件協力の仕組みを持つ）</a:t>
            </a:r>
            <a:endParaRPr lang="en-US" sz="1200" dirty="0"/>
          </a:p>
          <a:p>
            <a:pPr>
              <a:lnSpc>
                <a:spcPct val="135000"/>
              </a:lnSpc>
              <a:spcAft>
                <a:spcPts val="200"/>
              </a:spcAft>
            </a:pPr>
            <a:r>
              <a:rPr lang="en-US" sz="1200" dirty="0">
                <a:solidFill>
                  <a:srgbClr val="1A1A14"/>
                </a:solidFill>
                <a:latin typeface="Yu Gothic UI" pitchFamily="34" charset="0"/>
                <a:ea typeface="Yu Gothic UI" pitchFamily="34" charset="-122"/>
                <a:cs typeface="Yu Gothic UI" pitchFamily="34" charset="-120"/>
              </a:rPr>
              <a:t>2013年創業以来の経営者・コンサルタント向けコミュニティ運営ノウハウと全国の会員ネットワーク</a:t>
            </a:r>
            <a:endParaRPr lang="en-US" sz="1200" dirty="0"/>
          </a:p>
          <a:p>
            <a:pPr>
              <a:lnSpc>
                <a:spcPct val="135000"/>
              </a:lnSpc>
              <a:spcAft>
                <a:spcPts val="200"/>
              </a:spcAft>
            </a:pPr>
            <a:r>
              <a:rPr lang="en-US" sz="1200" dirty="0">
                <a:solidFill>
                  <a:srgbClr val="1A1A14"/>
                </a:solidFill>
                <a:latin typeface="Yu Gothic UI" pitchFamily="34" charset="0"/>
                <a:ea typeface="Yu Gothic UI" pitchFamily="34" charset="-122"/>
                <a:cs typeface="Yu Gothic UI" pitchFamily="34" charset="-120"/>
              </a:rPr>
              <a:t>AB3Cを実装した戦略指南AIが『AB3Cフレームワークを実装した国内唯一の戦略策定AI』として2026年4月にリリース（プレスリリース記載）</a:t>
            </a:r>
            <a:endParaRPr lang="en-US" sz="1200" dirty="0"/>
          </a:p>
        </p:txBody>
      </p:sp>
      <p:sp>
        <p:nvSpPr>
          <p:cNvPr id="8" name="Text 6"/>
          <p:cNvSpPr/>
          <p:nvPr/>
        </p:nvSpPr>
        <p:spPr>
          <a:xfrm>
            <a:off x="548640" y="3570732"/>
            <a:ext cx="11094415" cy="365760"/>
          </a:xfrm>
          <a:prstGeom prst="rect">
            <a:avLst/>
          </a:prstGeom>
          <a:noFill/>
          <a:ln/>
        </p:spPr>
        <p:txBody>
          <a:bodyPr wrap="square" rtlCol="0" anchor="ctr"/>
          <a:lstStyle/>
          <a:p>
            <a:pPr indent="0" marL="0">
              <a:buNone/>
            </a:pPr>
            <a:r>
              <a:rPr lang="en-US" sz="1600" b="1" dirty="0">
                <a:solidFill>
                  <a:srgbClr val="1A1A14"/>
                </a:solidFill>
                <a:latin typeface="Yu Gothic UI" pitchFamily="34" charset="0"/>
                <a:ea typeface="Yu Gothic UI" pitchFamily="34" charset="-122"/>
                <a:cs typeface="Yu Gothic UI" pitchFamily="34" charset="-120"/>
              </a:rPr>
              <a:t>仕組み</a:t>
            </a:r>
            <a:endParaRPr lang="en-US" sz="1600" dirty="0"/>
          </a:p>
        </p:txBody>
      </p:sp>
      <p:sp>
        <p:nvSpPr>
          <p:cNvPr id="9" name="Text 7"/>
          <p:cNvSpPr/>
          <p:nvPr/>
        </p:nvSpPr>
        <p:spPr>
          <a:xfrm>
            <a:off x="548640" y="3982212"/>
            <a:ext cx="11094415" cy="726948"/>
          </a:xfrm>
          <a:prstGeom prst="rect">
            <a:avLst/>
          </a:prstGeom>
          <a:noFill/>
          <a:ln/>
        </p:spPr>
        <p:txBody>
          <a:bodyPr wrap="square" rtlCol="0" anchor="t">
            <a:normAutofit/>
          </a:bodyPr>
          <a:lstStyle/>
          <a:p>
            <a:pPr indent="0" marL="0">
              <a:lnSpc>
                <a:spcPct val="135000"/>
              </a:lnSpc>
              <a:buNone/>
            </a:pPr>
            <a:r>
              <a:rPr lang="en-US" sz="1200" dirty="0">
                <a:solidFill>
                  <a:srgbClr val="1A1A14"/>
                </a:solidFill>
                <a:latin typeface="Yu Gothic UI" pitchFamily="34" charset="0"/>
                <a:ea typeface="Yu Gothic UI" pitchFamily="34" charset="-122"/>
                <a:cs typeface="Yu Gothic UI" pitchFamily="34" charset="-120"/>
              </a:rPr>
              <a:t>「戦略コンサルティング実績20年超の実務家が自ら教壇に立つ」という構造。代表理事・権成俊が2002年にウェブコンサルティングを創業し、AB3Cフレームワークを独自開発。学習（eラーニング200本超）・資格（4制度）・共創コミュニティ（ウェブアドバイザーユニオン等）の3本柱を一体運営することで、学んで終わらない実装サイクルを組織として維持している。さらに自社開発AIツール『戦略指南AI』をカリキュラムに組み込み、学習→資格→実装→AI活用の一気通貫フローを提供できる体制を持つ。</a:t>
            </a:r>
            <a:endParaRPr lang="en-US" sz="1200" dirty="0"/>
          </a:p>
        </p:txBody>
      </p:sp>
      <p:sp>
        <p:nvSpPr>
          <p:cNvPr id="10" name="Text 8"/>
          <p:cNvSpPr/>
          <p:nvPr/>
        </p:nvSpPr>
        <p:spPr>
          <a:xfrm>
            <a:off x="548640" y="4983480"/>
            <a:ext cx="11094415" cy="365760"/>
          </a:xfrm>
          <a:prstGeom prst="rect">
            <a:avLst/>
          </a:prstGeom>
          <a:noFill/>
          <a:ln/>
        </p:spPr>
        <p:txBody>
          <a:bodyPr wrap="square" rtlCol="0" anchor="ctr"/>
          <a:lstStyle/>
          <a:p>
            <a:pPr indent="0" marL="0">
              <a:buNone/>
            </a:pPr>
            <a:r>
              <a:rPr lang="en-US" sz="1600" b="1" dirty="0">
                <a:solidFill>
                  <a:srgbClr val="1A1A14"/>
                </a:solidFill>
                <a:latin typeface="Yu Gothic UI" pitchFamily="34" charset="0"/>
                <a:ea typeface="Yu Gothic UI" pitchFamily="34" charset="-122"/>
                <a:cs typeface="Yu Gothic UI" pitchFamily="34" charset="-120"/>
              </a:rPr>
              <a:t>価値観</a:t>
            </a:r>
            <a:endParaRPr lang="en-US" sz="1600" dirty="0"/>
          </a:p>
        </p:txBody>
      </p:sp>
      <p:sp>
        <p:nvSpPr>
          <p:cNvPr id="11" name="Text 9"/>
          <p:cNvSpPr/>
          <p:nvPr/>
        </p:nvSpPr>
        <p:spPr>
          <a:xfrm>
            <a:off x="548640" y="5394960"/>
            <a:ext cx="11094415" cy="521208"/>
          </a:xfrm>
          <a:prstGeom prst="rect">
            <a:avLst/>
          </a:prstGeom>
          <a:noFill/>
          <a:ln/>
        </p:spPr>
        <p:txBody>
          <a:bodyPr wrap="square" rtlCol="0" anchor="t">
            <a:normAutofit/>
          </a:bodyPr>
          <a:lstStyle/>
          <a:p>
            <a:pPr indent="0" marL="0">
              <a:lnSpc>
                <a:spcPct val="135000"/>
              </a:lnSpc>
              <a:buNone/>
            </a:pPr>
            <a:r>
              <a:rPr lang="en-US" sz="1200" dirty="0">
                <a:solidFill>
                  <a:srgbClr val="1A1A14"/>
                </a:solidFill>
                <a:latin typeface="Yu Gothic UI" pitchFamily="34" charset="0"/>
                <a:ea typeface="Yu Gothic UI" pitchFamily="34" charset="-122"/>
                <a:cs typeface="Yu Gothic UI" pitchFamily="34" charset="-120"/>
              </a:rPr>
              <a:t>「ツールの使い方ではなく、デジタル時代の経営を設計し直す力を経営者に渡したい」という信念。AIに仕事を奪われる不安を、自社の強みを解き放つチャンスに変える、という姿勢。代表自身が『ウェブコンサルティング業界の父』と称される先駆者として、対症療法ではなく根本治療としてのウェブ・AI活用を20年以上訴え続けてきた。</a:t>
            </a:r>
            <a:endParaRPr lang="en-US" sz="1200" dirty="0"/>
          </a:p>
        </p:txBody>
      </p:sp>
      <p:sp>
        <p:nvSpPr>
          <p:cNvPr id="12" name="Text 10"/>
          <p:cNvSpPr/>
          <p:nvPr/>
        </p:nvSpPr>
        <p:spPr>
          <a:xfrm>
            <a:off x="548640" y="6537960"/>
            <a:ext cx="5486400" cy="228600"/>
          </a:xfrm>
          <a:prstGeom prst="rect">
            <a:avLst/>
          </a:prstGeom>
          <a:noFill/>
          <a:ln/>
        </p:spPr>
        <p:txBody>
          <a:bodyPr wrap="square" rtlCol="0" anchor="ctr"/>
          <a:lstStyle/>
          <a:p>
            <a:pPr indent="0" marL="0">
              <a:buNone/>
            </a:pPr>
            <a:r>
              <a:rPr lang="en-US" sz="900" dirty="0">
                <a:solidFill>
                  <a:srgbClr val="555555"/>
                </a:solidFill>
                <a:latin typeface="Yu Gothic UI" pitchFamily="34" charset="0"/>
                <a:ea typeface="Yu Gothic UI" pitchFamily="34" charset="-122"/>
                <a:cs typeface="Yu Gothic UI" pitchFamily="34" charset="-120"/>
              </a:rPr>
              <a:t>digi-kaku.or.jp</a:t>
            </a:r>
            <a:endParaRPr lang="en-US" sz="900" dirty="0"/>
          </a:p>
        </p:txBody>
      </p:sp>
      <p:sp>
        <p:nvSpPr>
          <p:cNvPr id="13" name="Text 11"/>
          <p:cNvSpPr/>
          <p:nvPr/>
        </p:nvSpPr>
        <p:spPr>
          <a:xfrm>
            <a:off x="6156655" y="6537960"/>
            <a:ext cx="5486400" cy="228600"/>
          </a:xfrm>
          <a:prstGeom prst="rect">
            <a:avLst/>
          </a:prstGeom>
          <a:noFill/>
          <a:ln/>
        </p:spPr>
        <p:txBody>
          <a:bodyPr wrap="square" rtlCol="0" anchor="ctr"/>
          <a:lstStyle/>
          <a:p>
            <a:pPr algn="r" indent="0" marL="0">
              <a:buNone/>
            </a:pPr>
            <a:r>
              <a:rPr lang="en-US" sz="900" dirty="0">
                <a:solidFill>
                  <a:srgbClr val="555555"/>
                </a:solidFill>
                <a:latin typeface="Yu Gothic UI" pitchFamily="34" charset="0"/>
                <a:ea typeface="Yu Gothic UI" pitchFamily="34" charset="-122"/>
                <a:cs typeface="Yu Gothic UI" pitchFamily="34" charset="-120"/>
              </a:rPr>
              <a:t>戦略指南 AI / AB3C 分析レポート　8 / 27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6095848" cy="6858000"/>
          </a:xfrm>
          <a:prstGeom prst="rect">
            <a:avLst/>
          </a:prstGeom>
          <a:solidFill>
            <a:srgbClr val="FF0000"/>
          </a:solidFill>
          <a:ln w="12700">
            <a:solidFill>
              <a:srgbClr val="FF0000"/>
            </a:solidFill>
            <a:prstDash val="solid"/>
          </a:ln>
        </p:spPr>
      </p:sp>
      <p:sp>
        <p:nvSpPr>
          <p:cNvPr id="3" name="Shape 1"/>
          <p:cNvSpPr/>
          <p:nvPr/>
        </p:nvSpPr>
        <p:spPr>
          <a:xfrm>
            <a:off x="6095848" y="0"/>
            <a:ext cx="6095848" cy="6858000"/>
          </a:xfrm>
          <a:prstGeom prst="rect">
            <a:avLst/>
          </a:prstGeom>
          <a:solidFill>
            <a:srgbClr val="1A6FD4"/>
          </a:solidFill>
          <a:ln w="12700">
            <a:solidFill>
              <a:srgbClr val="1A6FD4"/>
            </a:solidFill>
            <a:prstDash val="solid"/>
          </a:ln>
        </p:spPr>
      </p:sp>
      <p:sp>
        <p:nvSpPr>
          <p:cNvPr id="4" name="Text 2"/>
          <p:cNvSpPr/>
          <p:nvPr/>
        </p:nvSpPr>
        <p:spPr>
          <a:xfrm>
            <a:off x="0" y="2194560"/>
            <a:ext cx="12191695" cy="457200"/>
          </a:xfrm>
          <a:prstGeom prst="rect">
            <a:avLst/>
          </a:prstGeom>
          <a:noFill/>
          <a:ln/>
        </p:spPr>
        <p:txBody>
          <a:bodyPr wrap="square" rtlCol="0" anchor="ctr"/>
          <a:lstStyle/>
          <a:p>
            <a:pPr algn="ctr" indent="0" marL="0">
              <a:buNone/>
            </a:pPr>
            <a:r>
              <a:rPr lang="en-US" sz="1800" spc="1000" kern="0" dirty="0">
                <a:solidFill>
                  <a:srgbClr val="FFFFFF"/>
                </a:solidFill>
                <a:latin typeface="Consolas" pitchFamily="34" charset="0"/>
                <a:ea typeface="Consolas" pitchFamily="34" charset="-122"/>
                <a:cs typeface="Consolas" pitchFamily="34" charset="-120"/>
              </a:rPr>
              <a:t>PART  2</a:t>
            </a:r>
            <a:endParaRPr lang="en-US" sz="1800" dirty="0"/>
          </a:p>
        </p:txBody>
      </p:sp>
      <p:sp>
        <p:nvSpPr>
          <p:cNvPr id="5" name="Text 3"/>
          <p:cNvSpPr/>
          <p:nvPr/>
        </p:nvSpPr>
        <p:spPr>
          <a:xfrm>
            <a:off x="0" y="2743200"/>
            <a:ext cx="12191695" cy="914400"/>
          </a:xfrm>
          <a:prstGeom prst="rect">
            <a:avLst/>
          </a:prstGeom>
          <a:noFill/>
          <a:ln/>
        </p:spPr>
        <p:txBody>
          <a:bodyPr wrap="square" rtlCol="0" anchor="ctr"/>
          <a:lstStyle/>
          <a:p>
            <a:pPr algn="ctr" indent="0" marL="0">
              <a:buNone/>
            </a:pPr>
            <a:r>
              <a:rPr lang="en-US" sz="6000" b="1" dirty="0">
                <a:solidFill>
                  <a:srgbClr val="FFFFFF"/>
                </a:solidFill>
                <a:latin typeface="Noto Serif JP" pitchFamily="34" charset="0"/>
                <a:ea typeface="Noto Serif JP" pitchFamily="34" charset="-122"/>
                <a:cs typeface="Noto Serif JP" pitchFamily="34" charset="-120"/>
              </a:rPr>
              <a:t>戦略の核</a:t>
            </a:r>
            <a:endParaRPr lang="en-US" sz="6000" dirty="0"/>
          </a:p>
        </p:txBody>
      </p:sp>
      <p:sp>
        <p:nvSpPr>
          <p:cNvPr id="6" name="Text 4"/>
          <p:cNvSpPr/>
          <p:nvPr/>
        </p:nvSpPr>
        <p:spPr>
          <a:xfrm>
            <a:off x="0" y="3840480"/>
            <a:ext cx="12191695" cy="457200"/>
          </a:xfrm>
          <a:prstGeom prst="rect">
            <a:avLst/>
          </a:prstGeom>
          <a:noFill/>
          <a:ln/>
        </p:spPr>
        <p:txBody>
          <a:bodyPr wrap="square" rtlCol="0" anchor="ctr"/>
          <a:lstStyle/>
          <a:p>
            <a:pPr algn="ctr" indent="0" marL="0">
              <a:buNone/>
            </a:pPr>
            <a:r>
              <a:rPr lang="en-US" sz="1800" dirty="0">
                <a:solidFill>
                  <a:srgbClr val="FFFFFF"/>
                </a:solidFill>
                <a:latin typeface="Yu Gothic UI" pitchFamily="34" charset="0"/>
                <a:ea typeface="Yu Gothic UI" pitchFamily="34" charset="-122"/>
                <a:cs typeface="Yu Gothic UI" pitchFamily="34" charset="-120"/>
              </a:rPr>
              <a:t>Benefit・Advantage・戦略メッセージ</a:t>
            </a:r>
            <a:endParaRPr lang="en-US" sz="1800" dirty="0"/>
          </a:p>
        </p:txBody>
      </p:sp>
      <p:sp>
        <p:nvSpPr>
          <p:cNvPr id="7" name="Shape 5"/>
          <p:cNvSpPr/>
          <p:nvPr/>
        </p:nvSpPr>
        <p:spPr>
          <a:xfrm>
            <a:off x="4724248" y="4937760"/>
            <a:ext cx="2743200" cy="73152"/>
          </a:xfrm>
          <a:prstGeom prst="rect">
            <a:avLst/>
          </a:prstGeom>
          <a:solidFill>
            <a:srgbClr val="FFFFFF"/>
          </a:solidFill>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FF0000"/>
          </a:solidFill>
          <a:ln w="12700">
            <a:solidFill>
              <a:srgbClr val="FF0000"/>
            </a:solidFill>
            <a:prstDash val="solid"/>
          </a:ln>
        </p:spPr>
      </p:sp>
      <p:sp>
        <p:nvSpPr>
          <p:cNvPr id="3" name="Text 1"/>
          <p:cNvSpPr/>
          <p:nvPr/>
        </p:nvSpPr>
        <p:spPr>
          <a:xfrm>
            <a:off x="548640" y="411480"/>
            <a:ext cx="11094415" cy="274320"/>
          </a:xfrm>
          <a:prstGeom prst="rect">
            <a:avLst/>
          </a:prstGeom>
          <a:noFill/>
          <a:ln/>
        </p:spPr>
        <p:txBody>
          <a:bodyPr wrap="square" rtlCol="0" anchor="ctr"/>
          <a:lstStyle/>
          <a:p>
            <a:pPr indent="0" marL="0">
              <a:buNone/>
            </a:pPr>
            <a:r>
              <a:rPr lang="en-US" sz="1100" spc="600" kern="0" dirty="0">
                <a:solidFill>
                  <a:srgbClr val="555555"/>
                </a:solidFill>
                <a:latin typeface="Consolas" pitchFamily="34" charset="0"/>
                <a:ea typeface="Consolas" pitchFamily="34" charset="-122"/>
                <a:cs typeface="Consolas" pitchFamily="34" charset="-120"/>
              </a:rPr>
              <a:t>PART 2  ─  BENEFIT</a:t>
            </a:r>
            <a:endParaRPr lang="en-US" sz="1100" dirty="0"/>
          </a:p>
        </p:txBody>
      </p:sp>
      <p:sp>
        <p:nvSpPr>
          <p:cNvPr id="4" name="Text 2"/>
          <p:cNvSpPr/>
          <p:nvPr/>
        </p:nvSpPr>
        <p:spPr>
          <a:xfrm>
            <a:off x="548640" y="685800"/>
            <a:ext cx="11094415" cy="640080"/>
          </a:xfrm>
          <a:prstGeom prst="rect">
            <a:avLst/>
          </a:prstGeom>
          <a:noFill/>
          <a:ln/>
        </p:spPr>
        <p:txBody>
          <a:bodyPr wrap="square" rtlCol="0" anchor="ctr"/>
          <a:lstStyle/>
          <a:p>
            <a:pPr indent="0" marL="0">
              <a:buNone/>
            </a:pPr>
            <a:r>
              <a:rPr lang="en-US" sz="3000" b="1" dirty="0">
                <a:solidFill>
                  <a:srgbClr val="FF0000"/>
                </a:solidFill>
                <a:latin typeface="Noto Serif JP" pitchFamily="34" charset="0"/>
                <a:ea typeface="Noto Serif JP" pitchFamily="34" charset="-122"/>
                <a:cs typeface="Noto Serif JP" pitchFamily="34" charset="-120"/>
              </a:rPr>
              <a:t>ベネフィット（Benefit）</a:t>
            </a:r>
            <a:endParaRPr lang="en-US" sz="3000" dirty="0"/>
          </a:p>
        </p:txBody>
      </p:sp>
      <p:sp>
        <p:nvSpPr>
          <p:cNvPr id="5" name="Shape 3"/>
          <p:cNvSpPr/>
          <p:nvPr/>
        </p:nvSpPr>
        <p:spPr>
          <a:xfrm>
            <a:off x="548640" y="1280160"/>
            <a:ext cx="11094415" cy="0"/>
          </a:xfrm>
          <a:prstGeom prst="line">
            <a:avLst/>
          </a:prstGeom>
          <a:noFill/>
          <a:ln w="12700">
            <a:solidFill>
              <a:srgbClr val="FF0000"/>
            </a:solidFill>
            <a:prstDash val="solid"/>
          </a:ln>
        </p:spPr>
      </p:sp>
      <p:sp>
        <p:nvSpPr>
          <p:cNvPr id="6" name="Shape 4"/>
          <p:cNvSpPr/>
          <p:nvPr/>
        </p:nvSpPr>
        <p:spPr>
          <a:xfrm>
            <a:off x="548640" y="1508760"/>
            <a:ext cx="11094415" cy="2011680"/>
          </a:xfrm>
          <a:prstGeom prst="rect">
            <a:avLst/>
          </a:prstGeom>
          <a:solidFill>
            <a:srgbClr val="FFF5F5"/>
          </a:solidFill>
          <a:ln w="19050">
            <a:solidFill>
              <a:srgbClr val="FF0000"/>
            </a:solidFill>
            <a:prstDash val="solid"/>
          </a:ln>
        </p:spPr>
      </p:sp>
      <p:sp>
        <p:nvSpPr>
          <p:cNvPr id="7" name="Text 5"/>
          <p:cNvSpPr/>
          <p:nvPr/>
        </p:nvSpPr>
        <p:spPr>
          <a:xfrm>
            <a:off x="731520" y="1627632"/>
            <a:ext cx="10728655" cy="274320"/>
          </a:xfrm>
          <a:prstGeom prst="rect">
            <a:avLst/>
          </a:prstGeom>
          <a:noFill/>
          <a:ln/>
        </p:spPr>
        <p:txBody>
          <a:bodyPr wrap="square" rtlCol="0" anchor="ctr"/>
          <a:lstStyle/>
          <a:p>
            <a:pPr indent="0" marL="0">
              <a:buNone/>
            </a:pPr>
            <a:r>
              <a:rPr lang="en-US" sz="1100" spc="400" kern="0" dirty="0">
                <a:solidFill>
                  <a:srgbClr val="FF0000"/>
                </a:solidFill>
                <a:latin typeface="Yu Gothic UI" pitchFamily="34" charset="0"/>
                <a:ea typeface="Yu Gothic UI" pitchFamily="34" charset="-122"/>
                <a:cs typeface="Yu Gothic UI" pitchFamily="34" charset="-120"/>
              </a:rPr>
              <a:t>お客様が求めるコア価値</a:t>
            </a:r>
            <a:endParaRPr lang="en-US" sz="1100" dirty="0"/>
          </a:p>
        </p:txBody>
      </p:sp>
      <p:sp>
        <p:nvSpPr>
          <p:cNvPr id="8" name="Text 6"/>
          <p:cNvSpPr/>
          <p:nvPr/>
        </p:nvSpPr>
        <p:spPr>
          <a:xfrm>
            <a:off x="777240" y="1920240"/>
            <a:ext cx="10637215" cy="1508760"/>
          </a:xfrm>
          <a:prstGeom prst="rect">
            <a:avLst/>
          </a:prstGeom>
          <a:noFill/>
          <a:ln/>
        </p:spPr>
        <p:txBody>
          <a:bodyPr wrap="square" rtlCol="0" anchor="t">
            <a:normAutofit/>
          </a:bodyPr>
          <a:lstStyle/>
          <a:p>
            <a:pPr indent="0" marL="0">
              <a:lnSpc>
                <a:spcPct val="150000"/>
              </a:lnSpc>
              <a:buNone/>
            </a:pPr>
            <a:r>
              <a:rPr lang="en-US" sz="1800" b="1" dirty="0">
                <a:solidFill>
                  <a:srgbClr val="1A1A14"/>
                </a:solidFill>
                <a:latin typeface="Yu Gothic UI" pitchFamily="34" charset="0"/>
                <a:ea typeface="Yu Gothic UI" pitchFamily="34" charset="-122"/>
                <a:cs typeface="Yu Gothic UI" pitchFamily="34" charset="-120"/>
              </a:rPr>
              <a:t>中小企業経営者の信頼を得て案件を継続受注できる『戦略提案の専門家』として認められる</a:t>
            </a:r>
            <a:endParaRPr lang="en-US" sz="1800" dirty="0"/>
          </a:p>
        </p:txBody>
      </p:sp>
      <p:sp>
        <p:nvSpPr>
          <p:cNvPr id="9" name="Text 7"/>
          <p:cNvSpPr/>
          <p:nvPr/>
        </p:nvSpPr>
        <p:spPr>
          <a:xfrm>
            <a:off x="548640" y="3794760"/>
            <a:ext cx="5364328" cy="274320"/>
          </a:xfrm>
          <a:prstGeom prst="rect">
            <a:avLst/>
          </a:prstGeom>
          <a:noFill/>
          <a:ln/>
        </p:spPr>
        <p:txBody>
          <a:bodyPr wrap="square" rtlCol="0" anchor="ctr"/>
          <a:lstStyle/>
          <a:p>
            <a:pPr indent="0" marL="0">
              <a:buNone/>
            </a:pPr>
            <a:r>
              <a:rPr lang="en-US" sz="1200" b="1" dirty="0">
                <a:solidFill>
                  <a:srgbClr val="FF0000"/>
                </a:solidFill>
                <a:latin typeface="Yu Gothic UI" pitchFamily="34" charset="0"/>
                <a:ea typeface="Yu Gothic UI" pitchFamily="34" charset="-122"/>
                <a:cs typeface="Yu Gothic UI" pitchFamily="34" charset="-120"/>
              </a:rPr>
              <a:t>ニーズ（顕在化前の必要性）</a:t>
            </a:r>
            <a:endParaRPr lang="en-US" sz="1200" dirty="0"/>
          </a:p>
        </p:txBody>
      </p:sp>
      <p:sp>
        <p:nvSpPr>
          <p:cNvPr id="10" name="Text 8"/>
          <p:cNvSpPr/>
          <p:nvPr/>
        </p:nvSpPr>
        <p:spPr>
          <a:xfrm>
            <a:off x="548640" y="4114800"/>
            <a:ext cx="5364328" cy="2286000"/>
          </a:xfrm>
          <a:prstGeom prst="rect">
            <a:avLst/>
          </a:prstGeom>
          <a:noFill/>
          <a:ln/>
        </p:spPr>
        <p:txBody>
          <a:bodyPr wrap="square" rtlCol="0" anchor="t"/>
          <a:lstStyle/>
          <a:p>
            <a:pPr>
              <a:lnSpc>
                <a:spcPct val="160000"/>
              </a:lnSpc>
              <a:spcAft>
                <a:spcPts val="600"/>
              </a:spcAft>
            </a:pPr>
            <a:r>
              <a:rPr lang="en-US" sz="1300" dirty="0">
                <a:solidFill>
                  <a:srgbClr val="1A1A14"/>
                </a:solidFill>
                <a:latin typeface="Yu Gothic UI" pitchFamily="34" charset="0"/>
                <a:ea typeface="Yu Gothic UI" pitchFamily="34" charset="-122"/>
                <a:cs typeface="Yu Gothic UI" pitchFamily="34" charset="-120"/>
              </a:rPr>
              <a:t>クライアントに経営レベルの戦略提案ができる実力と根拠が欲しい（欠乏感）</a:t>
            </a:r>
            <a:endParaRPr lang="en-US" sz="1300" dirty="0"/>
          </a:p>
          <a:p>
            <a:pPr>
              <a:lnSpc>
                <a:spcPct val="160000"/>
              </a:lnSpc>
              <a:spcAft>
                <a:spcPts val="600"/>
              </a:spcAft>
            </a:pPr>
            <a:r>
              <a:rPr lang="en-US" sz="1300" dirty="0">
                <a:solidFill>
                  <a:srgbClr val="1A1A14"/>
                </a:solidFill>
                <a:latin typeface="Yu Gothic UI" pitchFamily="34" charset="0"/>
                <a:ea typeface="Yu Gothic UI" pitchFamily="34" charset="-122"/>
                <a:cs typeface="Yu Gothic UI" pitchFamily="34" charset="-120"/>
              </a:rPr>
              <a:t>AI活用が当たり前になった時代に、自分の価値をどう定義すべきか迷っている（欠乏感）</a:t>
            </a:r>
            <a:endParaRPr lang="en-US" sz="1300" dirty="0"/>
          </a:p>
        </p:txBody>
      </p:sp>
      <p:sp>
        <p:nvSpPr>
          <p:cNvPr id="11" name="Text 9"/>
          <p:cNvSpPr/>
          <p:nvPr/>
        </p:nvSpPr>
        <p:spPr>
          <a:xfrm>
            <a:off x="6278728" y="3794760"/>
            <a:ext cx="5364328" cy="274320"/>
          </a:xfrm>
          <a:prstGeom prst="rect">
            <a:avLst/>
          </a:prstGeom>
          <a:noFill/>
          <a:ln/>
        </p:spPr>
        <p:txBody>
          <a:bodyPr wrap="square" rtlCol="0" anchor="ctr"/>
          <a:lstStyle/>
          <a:p>
            <a:pPr indent="0" marL="0">
              <a:buNone/>
            </a:pPr>
            <a:r>
              <a:rPr lang="en-US" sz="1200" b="1" dirty="0">
                <a:solidFill>
                  <a:srgbClr val="FF0000"/>
                </a:solidFill>
                <a:latin typeface="Yu Gothic UI" pitchFamily="34" charset="0"/>
                <a:ea typeface="Yu Gothic UI" pitchFamily="34" charset="-122"/>
                <a:cs typeface="Yu Gothic UI" pitchFamily="34" charset="-120"/>
              </a:rPr>
              <a:t>ウォンツ（具体的な欲求）</a:t>
            </a:r>
            <a:endParaRPr lang="en-US" sz="1200" dirty="0"/>
          </a:p>
        </p:txBody>
      </p:sp>
      <p:sp>
        <p:nvSpPr>
          <p:cNvPr id="12" name="Text 10"/>
          <p:cNvSpPr/>
          <p:nvPr/>
        </p:nvSpPr>
        <p:spPr>
          <a:xfrm>
            <a:off x="6278728" y="4114800"/>
            <a:ext cx="5364328" cy="2286000"/>
          </a:xfrm>
          <a:prstGeom prst="rect">
            <a:avLst/>
          </a:prstGeom>
          <a:noFill/>
          <a:ln/>
        </p:spPr>
        <p:txBody>
          <a:bodyPr wrap="square" rtlCol="0" anchor="t"/>
          <a:lstStyle/>
          <a:p>
            <a:pPr>
              <a:lnSpc>
                <a:spcPct val="160000"/>
              </a:lnSpc>
              <a:spcAft>
                <a:spcPts val="600"/>
              </a:spcAft>
            </a:pPr>
            <a:r>
              <a:rPr lang="en-US" sz="1300" dirty="0">
                <a:solidFill>
                  <a:srgbClr val="1A1A14"/>
                </a:solidFill>
                <a:latin typeface="Yu Gothic UI" pitchFamily="34" charset="0"/>
                <a:ea typeface="Yu Gothic UI" pitchFamily="34" charset="-122"/>
                <a:cs typeface="Yu Gothic UI" pitchFamily="34" charset="-120"/>
              </a:rPr>
              <a:t>AB3Cファシリテーター・ウェブコンサルタント・AI戦略アドバイザーなどの資格を取得したい</a:t>
            </a:r>
            <a:endParaRPr lang="en-US" sz="1300" dirty="0"/>
          </a:p>
          <a:p>
            <a:pPr>
              <a:lnSpc>
                <a:spcPct val="160000"/>
              </a:lnSpc>
              <a:spcAft>
                <a:spcPts val="600"/>
              </a:spcAft>
            </a:pPr>
            <a:r>
              <a:rPr lang="en-US" sz="1300" dirty="0">
                <a:solidFill>
                  <a:srgbClr val="1A1A14"/>
                </a:solidFill>
                <a:latin typeface="Yu Gothic UI" pitchFamily="34" charset="0"/>
                <a:ea typeface="Yu Gothic UI" pitchFamily="34" charset="-122"/>
                <a:cs typeface="Yu Gothic UI" pitchFamily="34" charset="-120"/>
              </a:rPr>
              <a:t>案件紹介・協力ができる全国ネットワークに入りたい</a:t>
            </a:r>
            <a:endParaRPr lang="en-US" sz="1300" dirty="0"/>
          </a:p>
          <a:p>
            <a:pPr>
              <a:lnSpc>
                <a:spcPct val="160000"/>
              </a:lnSpc>
              <a:spcAft>
                <a:spcPts val="600"/>
              </a:spcAft>
            </a:pPr>
            <a:r>
              <a:rPr lang="en-US" sz="1300" dirty="0">
                <a:solidFill>
                  <a:srgbClr val="1A1A14"/>
                </a:solidFill>
                <a:latin typeface="Yu Gothic UI" pitchFamily="34" charset="0"/>
                <a:ea typeface="Yu Gothic UI" pitchFamily="34" charset="-122"/>
                <a:cs typeface="Yu Gothic UI" pitchFamily="34" charset="-120"/>
              </a:rPr>
              <a:t>戦略指南AIを使って提案書作成・競合分析を効率化したい</a:t>
            </a:r>
            <a:endParaRPr lang="en-US" sz="1300" dirty="0"/>
          </a:p>
        </p:txBody>
      </p:sp>
      <p:sp>
        <p:nvSpPr>
          <p:cNvPr id="13" name="Text 11"/>
          <p:cNvSpPr/>
          <p:nvPr/>
        </p:nvSpPr>
        <p:spPr>
          <a:xfrm>
            <a:off x="548640" y="6537960"/>
            <a:ext cx="5486400" cy="228600"/>
          </a:xfrm>
          <a:prstGeom prst="rect">
            <a:avLst/>
          </a:prstGeom>
          <a:noFill/>
          <a:ln/>
        </p:spPr>
        <p:txBody>
          <a:bodyPr wrap="square" rtlCol="0" anchor="ctr"/>
          <a:lstStyle/>
          <a:p>
            <a:pPr indent="0" marL="0">
              <a:buNone/>
            </a:pPr>
            <a:r>
              <a:rPr lang="en-US" sz="900" dirty="0">
                <a:solidFill>
                  <a:srgbClr val="555555"/>
                </a:solidFill>
                <a:latin typeface="Yu Gothic UI" pitchFamily="34" charset="0"/>
                <a:ea typeface="Yu Gothic UI" pitchFamily="34" charset="-122"/>
                <a:cs typeface="Yu Gothic UI" pitchFamily="34" charset="-120"/>
              </a:rPr>
              <a:t>digi-kaku.or.jp</a:t>
            </a:r>
            <a:endParaRPr lang="en-US" sz="900" dirty="0"/>
          </a:p>
        </p:txBody>
      </p:sp>
      <p:sp>
        <p:nvSpPr>
          <p:cNvPr id="14" name="Text 12"/>
          <p:cNvSpPr/>
          <p:nvPr/>
        </p:nvSpPr>
        <p:spPr>
          <a:xfrm>
            <a:off x="6156655" y="6537960"/>
            <a:ext cx="5486400" cy="228600"/>
          </a:xfrm>
          <a:prstGeom prst="rect">
            <a:avLst/>
          </a:prstGeom>
          <a:noFill/>
          <a:ln/>
        </p:spPr>
        <p:txBody>
          <a:bodyPr wrap="square" rtlCol="0" anchor="ctr"/>
          <a:lstStyle/>
          <a:p>
            <a:pPr algn="r" indent="0" marL="0">
              <a:buNone/>
            </a:pPr>
            <a:r>
              <a:rPr lang="en-US" sz="900" dirty="0">
                <a:solidFill>
                  <a:srgbClr val="555555"/>
                </a:solidFill>
                <a:latin typeface="Yu Gothic UI" pitchFamily="34" charset="0"/>
                <a:ea typeface="Yu Gothic UI" pitchFamily="34" charset="-122"/>
                <a:cs typeface="Yu Gothic UI" pitchFamily="34" charset="-120"/>
              </a:rPr>
              <a:t>戦略指南 AI / AB3C 分析レポート　10 / 27</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1A6FD4"/>
          </a:solidFill>
          <a:ln w="12700">
            <a:solidFill>
              <a:srgbClr val="1A6FD4"/>
            </a:solidFill>
            <a:prstDash val="solid"/>
          </a:ln>
        </p:spPr>
      </p:sp>
      <p:sp>
        <p:nvSpPr>
          <p:cNvPr id="3" name="Text 1"/>
          <p:cNvSpPr/>
          <p:nvPr/>
        </p:nvSpPr>
        <p:spPr>
          <a:xfrm>
            <a:off x="548640" y="411480"/>
            <a:ext cx="11094415" cy="274320"/>
          </a:xfrm>
          <a:prstGeom prst="rect">
            <a:avLst/>
          </a:prstGeom>
          <a:noFill/>
          <a:ln/>
        </p:spPr>
        <p:txBody>
          <a:bodyPr wrap="square" rtlCol="0" anchor="ctr"/>
          <a:lstStyle/>
          <a:p>
            <a:pPr indent="0" marL="0">
              <a:buNone/>
            </a:pPr>
            <a:r>
              <a:rPr lang="en-US" sz="1100" spc="600" kern="0" dirty="0">
                <a:solidFill>
                  <a:srgbClr val="555555"/>
                </a:solidFill>
                <a:latin typeface="Consolas" pitchFamily="34" charset="0"/>
                <a:ea typeface="Consolas" pitchFamily="34" charset="-122"/>
                <a:cs typeface="Consolas" pitchFamily="34" charset="-120"/>
              </a:rPr>
              <a:t>PART 2  ─  ADVANTAGE</a:t>
            </a:r>
            <a:endParaRPr lang="en-US" sz="1100" dirty="0"/>
          </a:p>
        </p:txBody>
      </p:sp>
      <p:sp>
        <p:nvSpPr>
          <p:cNvPr id="4" name="Text 2"/>
          <p:cNvSpPr/>
          <p:nvPr/>
        </p:nvSpPr>
        <p:spPr>
          <a:xfrm>
            <a:off x="548640" y="685800"/>
            <a:ext cx="11094415" cy="640080"/>
          </a:xfrm>
          <a:prstGeom prst="rect">
            <a:avLst/>
          </a:prstGeom>
          <a:noFill/>
          <a:ln/>
        </p:spPr>
        <p:txBody>
          <a:bodyPr wrap="square" rtlCol="0" anchor="ctr"/>
          <a:lstStyle/>
          <a:p>
            <a:pPr indent="0" marL="0">
              <a:buNone/>
            </a:pPr>
            <a:r>
              <a:rPr lang="en-US" sz="3000" b="1" dirty="0">
                <a:solidFill>
                  <a:srgbClr val="1A6FD4"/>
                </a:solidFill>
                <a:latin typeface="Noto Serif JP" pitchFamily="34" charset="0"/>
                <a:ea typeface="Noto Serif JP" pitchFamily="34" charset="-122"/>
                <a:cs typeface="Noto Serif JP" pitchFamily="34" charset="-120"/>
              </a:rPr>
              <a:t>アドバンテージ（Advantage）</a:t>
            </a:r>
            <a:endParaRPr lang="en-US" sz="3000" dirty="0"/>
          </a:p>
        </p:txBody>
      </p:sp>
      <p:sp>
        <p:nvSpPr>
          <p:cNvPr id="5" name="Shape 3"/>
          <p:cNvSpPr/>
          <p:nvPr/>
        </p:nvSpPr>
        <p:spPr>
          <a:xfrm>
            <a:off x="548640" y="1280160"/>
            <a:ext cx="11094415" cy="0"/>
          </a:xfrm>
          <a:prstGeom prst="line">
            <a:avLst/>
          </a:prstGeom>
          <a:noFill/>
          <a:ln w="12700">
            <a:solidFill>
              <a:srgbClr val="1A6FD4"/>
            </a:solidFill>
            <a:prstDash val="solid"/>
          </a:ln>
        </p:spPr>
      </p:sp>
      <p:sp>
        <p:nvSpPr>
          <p:cNvPr id="6" name="Shape 4"/>
          <p:cNvSpPr/>
          <p:nvPr/>
        </p:nvSpPr>
        <p:spPr>
          <a:xfrm>
            <a:off x="548640" y="1508760"/>
            <a:ext cx="11094415" cy="2286000"/>
          </a:xfrm>
          <a:prstGeom prst="rect">
            <a:avLst/>
          </a:prstGeom>
          <a:solidFill>
            <a:srgbClr val="F2F8FF"/>
          </a:solidFill>
          <a:ln w="19050">
            <a:solidFill>
              <a:srgbClr val="1A6FD4"/>
            </a:solidFill>
            <a:prstDash val="solid"/>
          </a:ln>
        </p:spPr>
      </p:sp>
      <p:sp>
        <p:nvSpPr>
          <p:cNvPr id="7" name="Text 5"/>
          <p:cNvSpPr/>
          <p:nvPr/>
        </p:nvSpPr>
        <p:spPr>
          <a:xfrm>
            <a:off x="731520" y="1627632"/>
            <a:ext cx="10728655" cy="274320"/>
          </a:xfrm>
          <a:prstGeom prst="rect">
            <a:avLst/>
          </a:prstGeom>
          <a:noFill/>
          <a:ln/>
        </p:spPr>
        <p:txBody>
          <a:bodyPr wrap="square" rtlCol="0" anchor="ctr"/>
          <a:lstStyle/>
          <a:p>
            <a:pPr indent="0" marL="0">
              <a:buNone/>
            </a:pPr>
            <a:r>
              <a:rPr lang="en-US" sz="1100" spc="400" kern="0" dirty="0">
                <a:solidFill>
                  <a:srgbClr val="1A6FD4"/>
                </a:solidFill>
                <a:latin typeface="Yu Gothic UI" pitchFamily="34" charset="0"/>
                <a:ea typeface="Yu Gothic UI" pitchFamily="34" charset="-122"/>
                <a:cs typeface="Yu Gothic UI" pitchFamily="34" charset="-120"/>
              </a:rPr>
              <a:t>競合より選ばれる差別的優位点</a:t>
            </a:r>
            <a:endParaRPr lang="en-US" sz="1100" dirty="0"/>
          </a:p>
        </p:txBody>
      </p:sp>
      <p:sp>
        <p:nvSpPr>
          <p:cNvPr id="8" name="Text 6"/>
          <p:cNvSpPr/>
          <p:nvPr/>
        </p:nvSpPr>
        <p:spPr>
          <a:xfrm>
            <a:off x="777240" y="1920240"/>
            <a:ext cx="10637215" cy="1783080"/>
          </a:xfrm>
          <a:prstGeom prst="rect">
            <a:avLst/>
          </a:prstGeom>
          <a:noFill/>
          <a:ln/>
        </p:spPr>
        <p:txBody>
          <a:bodyPr wrap="square" rtlCol="0" anchor="t">
            <a:normAutofit/>
          </a:bodyPr>
          <a:lstStyle/>
          <a:p>
            <a:pPr indent="0" marL="0">
              <a:lnSpc>
                <a:spcPct val="150000"/>
              </a:lnSpc>
              <a:buNone/>
            </a:pPr>
            <a:r>
              <a:rPr lang="en-US" sz="1800" b="1" dirty="0">
                <a:solidFill>
                  <a:srgbClr val="1A1A14"/>
                </a:solidFill>
                <a:latin typeface="Yu Gothic UI" pitchFamily="34" charset="0"/>
                <a:ea typeface="Yu Gothic UI" pitchFamily="34" charset="-122"/>
                <a:cs typeface="Yu Gothic UI" pitchFamily="34" charset="-120"/>
              </a:rPr>
              <a:t>『AB3C×AI』という独自フレームワークに特化した資格制度で、中小企業経営者への戦略提案力を証明できる唯一の資格体系</a:t>
            </a:r>
            <a:endParaRPr lang="en-US" sz="1800" dirty="0"/>
          </a:p>
        </p:txBody>
      </p:sp>
      <p:sp>
        <p:nvSpPr>
          <p:cNvPr id="9" name="Text 7"/>
          <p:cNvSpPr/>
          <p:nvPr/>
        </p:nvSpPr>
        <p:spPr>
          <a:xfrm>
            <a:off x="548640" y="4069080"/>
            <a:ext cx="5364328" cy="274320"/>
          </a:xfrm>
          <a:prstGeom prst="rect">
            <a:avLst/>
          </a:prstGeom>
          <a:noFill/>
          <a:ln/>
        </p:spPr>
        <p:txBody>
          <a:bodyPr wrap="square" rtlCol="0" anchor="ctr"/>
          <a:lstStyle/>
          <a:p>
            <a:pPr indent="0" marL="0">
              <a:buNone/>
            </a:pPr>
            <a:r>
              <a:rPr lang="en-US" sz="1200" b="1" dirty="0">
                <a:solidFill>
                  <a:srgbClr val="1A6FD4"/>
                </a:solidFill>
                <a:latin typeface="Yu Gothic UI" pitchFamily="34" charset="0"/>
                <a:ea typeface="Yu Gothic UI" pitchFamily="34" charset="-122"/>
                <a:cs typeface="Yu Gothic UI" pitchFamily="34" charset="-120"/>
              </a:rPr>
              <a:t>なぜそれが選ばれるのか</a:t>
            </a:r>
            <a:endParaRPr lang="en-US" sz="1200" dirty="0"/>
          </a:p>
        </p:txBody>
      </p:sp>
      <p:sp>
        <p:nvSpPr>
          <p:cNvPr id="10" name="Text 8"/>
          <p:cNvSpPr/>
          <p:nvPr/>
        </p:nvSpPr>
        <p:spPr>
          <a:xfrm>
            <a:off x="548640" y="4389120"/>
            <a:ext cx="5364328" cy="2011680"/>
          </a:xfrm>
          <a:prstGeom prst="rect">
            <a:avLst/>
          </a:prstGeom>
          <a:noFill/>
          <a:ln/>
        </p:spPr>
        <p:txBody>
          <a:bodyPr wrap="square" rtlCol="0" anchor="t"/>
          <a:lstStyle/>
          <a:p>
            <a:pPr indent="0" marL="0">
              <a:lnSpc>
                <a:spcPct val="160000"/>
              </a:lnSpc>
              <a:buNone/>
            </a:pPr>
            <a:r>
              <a:rPr lang="en-US" sz="1300" dirty="0">
                <a:solidFill>
                  <a:srgbClr val="1A1A14"/>
                </a:solidFill>
                <a:latin typeface="Yu Gothic UI" pitchFamily="34" charset="0"/>
                <a:ea typeface="Yu Gothic UI" pitchFamily="34" charset="-122"/>
                <a:cs typeface="Yu Gothic UI" pitchFamily="34" charset="-120"/>
              </a:rPr>
              <a:t>中小企業診断士は経営全般の国家資格だが、デジタル・AI戦略・ウェブ特化の実践訓練が弱い。ウェブ解析士はデータ分析寄りで経営戦略立案の訓練が少ない。デジ革の資格はAB3Cフレームワークを使った実在企業への戦略提案訓練と、取得後の案件協力ネットワークがセットになっており、資格が『看板』と『仕事』の両方につながる。</a:t>
            </a:r>
            <a:endParaRPr lang="en-US" sz="1300" dirty="0"/>
          </a:p>
        </p:txBody>
      </p:sp>
      <p:sp>
        <p:nvSpPr>
          <p:cNvPr id="11" name="Text 9"/>
          <p:cNvSpPr/>
          <p:nvPr/>
        </p:nvSpPr>
        <p:spPr>
          <a:xfrm>
            <a:off x="6278728" y="4069080"/>
            <a:ext cx="5364328" cy="274320"/>
          </a:xfrm>
          <a:prstGeom prst="rect">
            <a:avLst/>
          </a:prstGeom>
          <a:noFill/>
          <a:ln/>
        </p:spPr>
        <p:txBody>
          <a:bodyPr wrap="square" rtlCol="0" anchor="ctr"/>
          <a:lstStyle/>
          <a:p>
            <a:pPr indent="0" marL="0">
              <a:buNone/>
            </a:pPr>
            <a:r>
              <a:rPr lang="en-US" sz="1200" b="1" dirty="0">
                <a:solidFill>
                  <a:srgbClr val="1A6FD4"/>
                </a:solidFill>
                <a:latin typeface="Yu Gothic UI" pitchFamily="34" charset="0"/>
                <a:ea typeface="Yu Gothic UI" pitchFamily="34" charset="-122"/>
                <a:cs typeface="Yu Gothic UI" pitchFamily="34" charset="-120"/>
              </a:rPr>
              <a:t>なぜ真似しづらいのか</a:t>
            </a:r>
            <a:endParaRPr lang="en-US" sz="1200" dirty="0"/>
          </a:p>
        </p:txBody>
      </p:sp>
      <p:sp>
        <p:nvSpPr>
          <p:cNvPr id="12" name="Text 10"/>
          <p:cNvSpPr/>
          <p:nvPr/>
        </p:nvSpPr>
        <p:spPr>
          <a:xfrm>
            <a:off x="6278728" y="4389120"/>
            <a:ext cx="5364328" cy="2011680"/>
          </a:xfrm>
          <a:prstGeom prst="rect">
            <a:avLst/>
          </a:prstGeom>
          <a:noFill/>
          <a:ln/>
        </p:spPr>
        <p:txBody>
          <a:bodyPr wrap="square" rtlCol="0" anchor="t"/>
          <a:lstStyle/>
          <a:p>
            <a:pPr indent="0" marL="0">
              <a:lnSpc>
                <a:spcPct val="160000"/>
              </a:lnSpc>
              <a:buNone/>
            </a:pPr>
            <a:r>
              <a:rPr lang="en-US" sz="1300" dirty="0">
                <a:solidFill>
                  <a:srgbClr val="1A1A14"/>
                </a:solidFill>
                <a:latin typeface="Yu Gothic UI" pitchFamily="34" charset="0"/>
                <a:ea typeface="Yu Gothic UI" pitchFamily="34" charset="-122"/>
                <a:cs typeface="Yu Gothic UI" pitchFamily="34" charset="-120"/>
              </a:rPr>
              <a:t>AB3Cフレームワークは権成俊の独自開発資産（2007年著作初出）であり、同フレームワークに基づく資格制度は他社が設計できない。また日経クロストレンド連載・翔泳社著書という外部権威による信頼性の積み上げは短期間で再現不可能。取得後の案件協力ネットワークも会員数の積み上げとともに価値が高まる仕組みのため、後発が追いつくには長い時間がかかる。ただし、資格の知名度・認知度については本人に現状の普及状況を確認しておくと、今後の訴求強化ポイントが明確になる。</a:t>
            </a:r>
            <a:endParaRPr lang="en-US" sz="1300" dirty="0"/>
          </a:p>
        </p:txBody>
      </p:sp>
      <p:sp>
        <p:nvSpPr>
          <p:cNvPr id="13" name="Text 11"/>
          <p:cNvSpPr/>
          <p:nvPr/>
        </p:nvSpPr>
        <p:spPr>
          <a:xfrm>
            <a:off x="548640" y="6537960"/>
            <a:ext cx="5486400" cy="228600"/>
          </a:xfrm>
          <a:prstGeom prst="rect">
            <a:avLst/>
          </a:prstGeom>
          <a:noFill/>
          <a:ln/>
        </p:spPr>
        <p:txBody>
          <a:bodyPr wrap="square" rtlCol="0" anchor="ctr"/>
          <a:lstStyle/>
          <a:p>
            <a:pPr indent="0" marL="0">
              <a:buNone/>
            </a:pPr>
            <a:r>
              <a:rPr lang="en-US" sz="900" dirty="0">
                <a:solidFill>
                  <a:srgbClr val="555555"/>
                </a:solidFill>
                <a:latin typeface="Yu Gothic UI" pitchFamily="34" charset="0"/>
                <a:ea typeface="Yu Gothic UI" pitchFamily="34" charset="-122"/>
                <a:cs typeface="Yu Gothic UI" pitchFamily="34" charset="-120"/>
              </a:rPr>
              <a:t>digi-kaku.or.jp</a:t>
            </a:r>
            <a:endParaRPr lang="en-US" sz="900" dirty="0"/>
          </a:p>
        </p:txBody>
      </p:sp>
      <p:sp>
        <p:nvSpPr>
          <p:cNvPr id="14" name="Text 12"/>
          <p:cNvSpPr/>
          <p:nvPr/>
        </p:nvSpPr>
        <p:spPr>
          <a:xfrm>
            <a:off x="6156655" y="6537960"/>
            <a:ext cx="5486400" cy="228600"/>
          </a:xfrm>
          <a:prstGeom prst="rect">
            <a:avLst/>
          </a:prstGeom>
          <a:noFill/>
          <a:ln/>
        </p:spPr>
        <p:txBody>
          <a:bodyPr wrap="square" rtlCol="0" anchor="ctr"/>
          <a:lstStyle/>
          <a:p>
            <a:pPr algn="r" indent="0" marL="0">
              <a:buNone/>
            </a:pPr>
            <a:r>
              <a:rPr lang="en-US" sz="900" dirty="0">
                <a:solidFill>
                  <a:srgbClr val="555555"/>
                </a:solidFill>
                <a:latin typeface="Yu Gothic UI" pitchFamily="34" charset="0"/>
                <a:ea typeface="Yu Gothic UI" pitchFamily="34" charset="-122"/>
                <a:cs typeface="Yu Gothic UI" pitchFamily="34" charset="-120"/>
              </a:rPr>
              <a:t>戦略指南 AI / AB3C 分析レポート　11 / 27</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1A14"/>
        </a:solidFill>
      </p:bgPr>
    </p:bg>
    <p:spTree>
      <p:nvGrpSpPr>
        <p:cNvPr id="1" name=""/>
        <p:cNvGrpSpPr/>
        <p:nvPr/>
      </p:nvGrpSpPr>
      <p:grpSpPr>
        <a:xfrm>
          <a:off x="0" y="0"/>
          <a:ext cx="0" cy="0"/>
          <a:chOff x="0" y="0"/>
          <a:chExt cx="0" cy="0"/>
        </a:xfrm>
      </p:grpSpPr>
      <p:sp>
        <p:nvSpPr>
          <p:cNvPr id="2" name="Text 0"/>
          <p:cNvSpPr/>
          <p:nvPr/>
        </p:nvSpPr>
        <p:spPr>
          <a:xfrm>
            <a:off x="0" y="548640"/>
            <a:ext cx="12191695" cy="274320"/>
          </a:xfrm>
          <a:prstGeom prst="rect">
            <a:avLst/>
          </a:prstGeom>
          <a:noFill/>
          <a:ln/>
        </p:spPr>
        <p:txBody>
          <a:bodyPr wrap="square" rtlCol="0" anchor="ctr"/>
          <a:lstStyle/>
          <a:p>
            <a:pPr algn="ctr" indent="0" marL="0">
              <a:buNone/>
            </a:pPr>
            <a:r>
              <a:rPr lang="en-US" sz="1200" spc="400" kern="0" dirty="0">
                <a:solidFill>
                  <a:srgbClr val="FFFFFF"/>
                </a:solidFill>
                <a:latin typeface="Yu Gothic UI" pitchFamily="34" charset="0"/>
                <a:ea typeface="Yu Gothic UI" pitchFamily="34" charset="-122"/>
                <a:cs typeface="Yu Gothic UI" pitchFamily="34" charset="-120"/>
              </a:rPr>
              <a:t>ここまでの分析の結果として導かれる</a:t>
            </a:r>
            <a:endParaRPr lang="en-US" sz="1200" dirty="0"/>
          </a:p>
        </p:txBody>
      </p:sp>
      <p:sp>
        <p:nvSpPr>
          <p:cNvPr id="3" name="Text 1"/>
          <p:cNvSpPr/>
          <p:nvPr/>
        </p:nvSpPr>
        <p:spPr>
          <a:xfrm>
            <a:off x="0" y="868680"/>
            <a:ext cx="12191695" cy="457200"/>
          </a:xfrm>
          <a:prstGeom prst="rect">
            <a:avLst/>
          </a:prstGeom>
          <a:noFill/>
          <a:ln/>
        </p:spPr>
        <p:txBody>
          <a:bodyPr wrap="square" rtlCol="0" anchor="ctr"/>
          <a:lstStyle/>
          <a:p>
            <a:pPr algn="ctr" indent="0" marL="0">
              <a:buNone/>
            </a:pPr>
            <a:r>
              <a:rPr lang="en-US" sz="2600" b="1" dirty="0">
                <a:solidFill>
                  <a:srgbClr val="FFFFFF"/>
                </a:solidFill>
                <a:latin typeface="Noto Serif JP" pitchFamily="34" charset="0"/>
                <a:ea typeface="Noto Serif JP" pitchFamily="34" charset="-122"/>
                <a:cs typeface="Noto Serif JP" pitchFamily="34" charset="-120"/>
              </a:rPr>
              <a:t>戦略メッセージ</a:t>
            </a:r>
            <a:endParaRPr lang="en-US" sz="2600" dirty="0"/>
          </a:p>
        </p:txBody>
      </p:sp>
      <p:sp>
        <p:nvSpPr>
          <p:cNvPr id="4" name="Text 2"/>
          <p:cNvSpPr/>
          <p:nvPr/>
        </p:nvSpPr>
        <p:spPr>
          <a:xfrm>
            <a:off x="914400" y="1737360"/>
            <a:ext cx="10362895" cy="2743200"/>
          </a:xfrm>
          <a:prstGeom prst="rect">
            <a:avLst/>
          </a:prstGeom>
          <a:noFill/>
          <a:ln/>
        </p:spPr>
        <p:txBody>
          <a:bodyPr wrap="square" rtlCol="0" anchor="ctr"/>
          <a:lstStyle/>
          <a:p>
            <a:pPr algn="ctr" indent="0" marL="0">
              <a:lnSpc>
                <a:spcPct val="150000"/>
              </a:lnSpc>
              <a:buNone/>
            </a:pPr>
            <a:r>
              <a:rPr lang="en-US" sz="2800" b="1" dirty="0">
                <a:solidFill>
                  <a:srgbClr val="FFFFFF"/>
                </a:solidFill>
                <a:latin typeface="Noto Serif JP" pitchFamily="34" charset="0"/>
                <a:ea typeface="Noto Serif JP" pitchFamily="34" charset="-122"/>
                <a:cs typeface="Noto Serif JP" pitchFamily="34" charset="-120"/>
              </a:rPr>
              <a:t>AIで戦略提案できる専門家に、資格で証明する</a:t>
            </a:r>
            <a:endParaRPr lang="en-US" sz="2800" dirty="0"/>
          </a:p>
        </p:txBody>
      </p:sp>
      <p:sp>
        <p:nvSpPr>
          <p:cNvPr id="5" name="Shape 3"/>
          <p:cNvSpPr/>
          <p:nvPr/>
        </p:nvSpPr>
        <p:spPr>
          <a:xfrm>
            <a:off x="1828800" y="4846320"/>
            <a:ext cx="8534095" cy="0"/>
          </a:xfrm>
          <a:prstGeom prst="line">
            <a:avLst/>
          </a:prstGeom>
          <a:noFill/>
          <a:ln w="6350">
            <a:solidFill>
              <a:srgbClr val="FFFFFF"/>
            </a:solidFill>
            <a:prstDash val="solid"/>
          </a:ln>
        </p:spPr>
      </p:sp>
      <p:sp>
        <p:nvSpPr>
          <p:cNvPr id="6" name="Text 4"/>
          <p:cNvSpPr/>
          <p:nvPr/>
        </p:nvSpPr>
        <p:spPr>
          <a:xfrm>
            <a:off x="1371600" y="5029200"/>
            <a:ext cx="9448495" cy="457200"/>
          </a:xfrm>
          <a:prstGeom prst="rect">
            <a:avLst/>
          </a:prstGeom>
          <a:noFill/>
          <a:ln/>
        </p:spPr>
        <p:txBody>
          <a:bodyPr wrap="square" rtlCol="0" anchor="ctr"/>
          <a:lstStyle/>
          <a:p>
            <a:pPr algn="ctr" indent="0" marL="0">
              <a:buNone/>
            </a:pPr>
            <a:r>
              <a:rPr lang="en-US" sz="1400" b="1" dirty="0">
                <a:solidFill>
                  <a:srgbClr val="FF0000"/>
                </a:solidFill>
                <a:latin typeface="Consolas" pitchFamily="34" charset="0"/>
                <a:ea typeface="Consolas" pitchFamily="34" charset="-122"/>
                <a:cs typeface="Consolas" pitchFamily="34" charset="-120"/>
              </a:rPr>
              <a:t>B（Benefit）  </a:t>
            </a:r>
            <a:pPr algn="ctr" indent="0" marL="0">
              <a:buNone/>
            </a:pPr>
            <a:r>
              <a:rPr lang="en-US" sz="1400" dirty="0">
                <a:solidFill>
                  <a:srgbClr val="FFFFFF"/>
                </a:solidFill>
                <a:latin typeface="Yu Gothic UI" pitchFamily="34" charset="0"/>
                <a:ea typeface="Yu Gothic UI" pitchFamily="34" charset="-122"/>
                <a:cs typeface="Yu Gothic UI" pitchFamily="34" charset="-120"/>
              </a:rPr>
              <a:t>経営者から信頼される戦略提案力を身につける</a:t>
            </a:r>
            <a:endParaRPr lang="en-US" sz="1400" dirty="0"/>
          </a:p>
        </p:txBody>
      </p:sp>
      <p:sp>
        <p:nvSpPr>
          <p:cNvPr id="7" name="Text 5"/>
          <p:cNvSpPr/>
          <p:nvPr/>
        </p:nvSpPr>
        <p:spPr>
          <a:xfrm>
            <a:off x="1371600" y="5532120"/>
            <a:ext cx="9448495" cy="457200"/>
          </a:xfrm>
          <a:prstGeom prst="rect">
            <a:avLst/>
          </a:prstGeom>
          <a:noFill/>
          <a:ln/>
        </p:spPr>
        <p:txBody>
          <a:bodyPr wrap="square" rtlCol="0" anchor="ctr"/>
          <a:lstStyle/>
          <a:p>
            <a:pPr algn="ctr" indent="0" marL="0">
              <a:buNone/>
            </a:pPr>
            <a:r>
              <a:rPr lang="en-US" sz="1400" b="1" dirty="0">
                <a:solidFill>
                  <a:srgbClr val="1A6FD4"/>
                </a:solidFill>
                <a:latin typeface="Consolas" pitchFamily="34" charset="0"/>
                <a:ea typeface="Consolas" pitchFamily="34" charset="-122"/>
                <a:cs typeface="Consolas" pitchFamily="34" charset="-120"/>
              </a:rPr>
              <a:t>A（Advantage）  </a:t>
            </a:r>
            <a:pPr algn="ctr" indent="0" marL="0">
              <a:buNone/>
            </a:pPr>
            <a:r>
              <a:rPr lang="en-US" sz="1400" dirty="0">
                <a:solidFill>
                  <a:srgbClr val="FFFFFF"/>
                </a:solidFill>
                <a:latin typeface="Yu Gothic UI" pitchFamily="34" charset="0"/>
                <a:ea typeface="Yu Gothic UI" pitchFamily="34" charset="-122"/>
                <a:cs typeface="Yu Gothic UI" pitchFamily="34" charset="-120"/>
              </a:rPr>
              <a:t>AB3C×AI特化の唯一の資格体系</a:t>
            </a:r>
            <a:endParaRPr lang="en-US" sz="1400" dirty="0"/>
          </a:p>
        </p:txBody>
      </p:sp>
      <p:sp>
        <p:nvSpPr>
          <p:cNvPr id="8" name="Text 6"/>
          <p:cNvSpPr/>
          <p:nvPr/>
        </p:nvSpPr>
        <p:spPr>
          <a:xfrm>
            <a:off x="548640" y="6537960"/>
            <a:ext cx="5486400" cy="228600"/>
          </a:xfrm>
          <a:prstGeom prst="rect">
            <a:avLst/>
          </a:prstGeom>
          <a:noFill/>
          <a:ln/>
        </p:spPr>
        <p:txBody>
          <a:bodyPr wrap="square" rtlCol="0" anchor="ctr"/>
          <a:lstStyle/>
          <a:p>
            <a:pPr indent="0" marL="0">
              <a:buNone/>
            </a:pPr>
            <a:r>
              <a:rPr lang="en-US" sz="900" dirty="0">
                <a:solidFill>
                  <a:srgbClr val="555555"/>
                </a:solidFill>
                <a:latin typeface="Yu Gothic UI" pitchFamily="34" charset="0"/>
                <a:ea typeface="Yu Gothic UI" pitchFamily="34" charset="-122"/>
                <a:cs typeface="Yu Gothic UI" pitchFamily="34" charset="-120"/>
              </a:rPr>
              <a:t>digi-kaku.or.jp</a:t>
            </a:r>
            <a:endParaRPr lang="en-US" sz="900" dirty="0"/>
          </a:p>
        </p:txBody>
      </p:sp>
      <p:sp>
        <p:nvSpPr>
          <p:cNvPr id="9" name="Text 7"/>
          <p:cNvSpPr/>
          <p:nvPr/>
        </p:nvSpPr>
        <p:spPr>
          <a:xfrm>
            <a:off x="6156655" y="6537960"/>
            <a:ext cx="5486400" cy="228600"/>
          </a:xfrm>
          <a:prstGeom prst="rect">
            <a:avLst/>
          </a:prstGeom>
          <a:noFill/>
          <a:ln/>
        </p:spPr>
        <p:txBody>
          <a:bodyPr wrap="square" rtlCol="0" anchor="ctr"/>
          <a:lstStyle/>
          <a:p>
            <a:pPr algn="r" indent="0" marL="0">
              <a:buNone/>
            </a:pPr>
            <a:r>
              <a:rPr lang="en-US" sz="900" dirty="0">
                <a:solidFill>
                  <a:srgbClr val="555555"/>
                </a:solidFill>
                <a:latin typeface="Yu Gothic UI" pitchFamily="34" charset="0"/>
                <a:ea typeface="Yu Gothic UI" pitchFamily="34" charset="-122"/>
                <a:cs typeface="Yu Gothic UI" pitchFamily="34" charset="-120"/>
              </a:rPr>
              <a:t>戦略指南 AI / AB3C 分析レポート　12 / 27</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555555"/>
        </a:solidFill>
      </p:bgPr>
    </p:bg>
    <p:spTree>
      <p:nvGrpSpPr>
        <p:cNvPr id="1" name=""/>
        <p:cNvGrpSpPr/>
        <p:nvPr/>
      </p:nvGrpSpPr>
      <p:grpSpPr>
        <a:xfrm>
          <a:off x="0" y="0"/>
          <a:ext cx="0" cy="0"/>
          <a:chOff x="0" y="0"/>
          <a:chExt cx="0" cy="0"/>
        </a:xfrm>
      </p:grpSpPr>
      <p:sp>
        <p:nvSpPr>
          <p:cNvPr id="2" name="Text 0"/>
          <p:cNvSpPr/>
          <p:nvPr/>
        </p:nvSpPr>
        <p:spPr>
          <a:xfrm>
            <a:off x="0" y="2194560"/>
            <a:ext cx="12191695" cy="457200"/>
          </a:xfrm>
          <a:prstGeom prst="rect">
            <a:avLst/>
          </a:prstGeom>
          <a:noFill/>
          <a:ln/>
        </p:spPr>
        <p:txBody>
          <a:bodyPr wrap="square" rtlCol="0" anchor="ctr"/>
          <a:lstStyle/>
          <a:p>
            <a:pPr algn="ctr" indent="0" marL="0">
              <a:buNone/>
            </a:pPr>
            <a:r>
              <a:rPr lang="en-US" sz="1800" spc="1000" kern="0" dirty="0">
                <a:solidFill>
                  <a:srgbClr val="FFFFFF"/>
                </a:solidFill>
                <a:latin typeface="Consolas" pitchFamily="34" charset="0"/>
                <a:ea typeface="Consolas" pitchFamily="34" charset="-122"/>
                <a:cs typeface="Consolas" pitchFamily="34" charset="-120"/>
              </a:rPr>
              <a:t>PART  3</a:t>
            </a:r>
            <a:endParaRPr lang="en-US" sz="1800" dirty="0"/>
          </a:p>
        </p:txBody>
      </p:sp>
      <p:sp>
        <p:nvSpPr>
          <p:cNvPr id="3" name="Text 1"/>
          <p:cNvSpPr/>
          <p:nvPr/>
        </p:nvSpPr>
        <p:spPr>
          <a:xfrm>
            <a:off x="0" y="2743200"/>
            <a:ext cx="12191695" cy="914400"/>
          </a:xfrm>
          <a:prstGeom prst="rect">
            <a:avLst/>
          </a:prstGeom>
          <a:noFill/>
          <a:ln/>
        </p:spPr>
        <p:txBody>
          <a:bodyPr wrap="square" rtlCol="0" anchor="ctr"/>
          <a:lstStyle/>
          <a:p>
            <a:pPr algn="ctr" indent="0" marL="0">
              <a:buNone/>
            </a:pPr>
            <a:r>
              <a:rPr lang="en-US" sz="6000" b="1" dirty="0">
                <a:solidFill>
                  <a:srgbClr val="FFFFFF"/>
                </a:solidFill>
                <a:latin typeface="Noto Serif JP" pitchFamily="34" charset="0"/>
                <a:ea typeface="Noto Serif JP" pitchFamily="34" charset="-122"/>
                <a:cs typeface="Noto Serif JP" pitchFamily="34" charset="-120"/>
              </a:rPr>
              <a:t>品質チェック</a:t>
            </a:r>
            <a:endParaRPr lang="en-US" sz="6000" dirty="0"/>
          </a:p>
        </p:txBody>
      </p:sp>
      <p:sp>
        <p:nvSpPr>
          <p:cNvPr id="4" name="Text 2"/>
          <p:cNvSpPr/>
          <p:nvPr/>
        </p:nvSpPr>
        <p:spPr>
          <a:xfrm>
            <a:off x="0" y="3840480"/>
            <a:ext cx="12191695" cy="457200"/>
          </a:xfrm>
          <a:prstGeom prst="rect">
            <a:avLst/>
          </a:prstGeom>
          <a:noFill/>
          <a:ln/>
        </p:spPr>
        <p:txBody>
          <a:bodyPr wrap="square" rtlCol="0" anchor="ctr"/>
          <a:lstStyle/>
          <a:p>
            <a:pPr algn="ctr" indent="0" marL="0">
              <a:buNone/>
            </a:pPr>
            <a:r>
              <a:rPr lang="en-US" sz="1800" dirty="0">
                <a:solidFill>
                  <a:srgbClr val="FFFFFF"/>
                </a:solidFill>
                <a:latin typeface="Yu Gothic UI" pitchFamily="34" charset="0"/>
                <a:ea typeface="Yu Gothic UI" pitchFamily="34" charset="-122"/>
                <a:cs typeface="Yu Gothic UI" pitchFamily="34" charset="-120"/>
              </a:rPr>
              <a:t>戦略の自己点検</a:t>
            </a:r>
            <a:endParaRPr lang="en-US" sz="1800" dirty="0"/>
          </a:p>
        </p:txBody>
      </p:sp>
      <p:sp>
        <p:nvSpPr>
          <p:cNvPr id="5" name="Shape 3"/>
          <p:cNvSpPr/>
          <p:nvPr/>
        </p:nvSpPr>
        <p:spPr>
          <a:xfrm>
            <a:off x="4724248" y="4937760"/>
            <a:ext cx="2743200" cy="73152"/>
          </a:xfrm>
          <a:prstGeom prst="rect">
            <a:avLst/>
          </a:prstGeom>
          <a:solidFill>
            <a:srgbClr val="FFFFFF"/>
          </a:solidFill>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1A1A14"/>
          </a:solidFill>
          <a:ln w="12700">
            <a:solidFill>
              <a:srgbClr val="1A1A14"/>
            </a:solidFill>
            <a:prstDash val="solid"/>
          </a:ln>
        </p:spPr>
      </p:sp>
      <p:sp>
        <p:nvSpPr>
          <p:cNvPr id="3" name="Text 1"/>
          <p:cNvSpPr/>
          <p:nvPr/>
        </p:nvSpPr>
        <p:spPr>
          <a:xfrm>
            <a:off x="548640" y="411480"/>
            <a:ext cx="11094415" cy="274320"/>
          </a:xfrm>
          <a:prstGeom prst="rect">
            <a:avLst/>
          </a:prstGeom>
          <a:noFill/>
          <a:ln/>
        </p:spPr>
        <p:txBody>
          <a:bodyPr wrap="square" rtlCol="0" anchor="ctr"/>
          <a:lstStyle/>
          <a:p>
            <a:pPr indent="0" marL="0">
              <a:buNone/>
            </a:pPr>
            <a:r>
              <a:rPr lang="en-US" sz="1100" spc="600" kern="0" dirty="0">
                <a:solidFill>
                  <a:srgbClr val="555555"/>
                </a:solidFill>
                <a:latin typeface="Consolas" pitchFamily="34" charset="0"/>
                <a:ea typeface="Consolas" pitchFamily="34" charset="-122"/>
                <a:cs typeface="Consolas" pitchFamily="34" charset="-120"/>
              </a:rPr>
              <a:t>PART 3  ─  CHECKPOINTS</a:t>
            </a:r>
            <a:endParaRPr lang="en-US" sz="1100" dirty="0"/>
          </a:p>
        </p:txBody>
      </p:sp>
      <p:sp>
        <p:nvSpPr>
          <p:cNvPr id="4" name="Text 2"/>
          <p:cNvSpPr/>
          <p:nvPr/>
        </p:nvSpPr>
        <p:spPr>
          <a:xfrm>
            <a:off x="548640" y="685800"/>
            <a:ext cx="11094415" cy="640080"/>
          </a:xfrm>
          <a:prstGeom prst="rect">
            <a:avLst/>
          </a:prstGeom>
          <a:noFill/>
          <a:ln/>
        </p:spPr>
        <p:txBody>
          <a:bodyPr wrap="square" rtlCol="0" anchor="ctr"/>
          <a:lstStyle/>
          <a:p>
            <a:pPr indent="0" marL="0">
              <a:buNone/>
            </a:pPr>
            <a:r>
              <a:rPr lang="en-US" sz="3000" b="1" dirty="0">
                <a:solidFill>
                  <a:srgbClr val="1A1A14"/>
                </a:solidFill>
                <a:latin typeface="Noto Serif JP" pitchFamily="34" charset="0"/>
                <a:ea typeface="Noto Serif JP" pitchFamily="34" charset="-122"/>
                <a:cs typeface="Noto Serif JP" pitchFamily="34" charset="-120"/>
              </a:rPr>
              <a:t>品質チェック</a:t>
            </a:r>
            <a:endParaRPr lang="en-US" sz="3000" dirty="0"/>
          </a:p>
        </p:txBody>
      </p:sp>
      <p:sp>
        <p:nvSpPr>
          <p:cNvPr id="5" name="Shape 3"/>
          <p:cNvSpPr/>
          <p:nvPr/>
        </p:nvSpPr>
        <p:spPr>
          <a:xfrm>
            <a:off x="548640" y="1280160"/>
            <a:ext cx="11094415" cy="0"/>
          </a:xfrm>
          <a:prstGeom prst="line">
            <a:avLst/>
          </a:prstGeom>
          <a:noFill/>
          <a:ln w="12700">
            <a:solidFill>
              <a:srgbClr val="1A1A14"/>
            </a:solidFill>
            <a:prstDash val="solid"/>
          </a:ln>
        </p:spPr>
      </p:sp>
      <p:sp>
        <p:nvSpPr>
          <p:cNvPr id="6" name="Shape 4"/>
          <p:cNvSpPr/>
          <p:nvPr/>
        </p:nvSpPr>
        <p:spPr>
          <a:xfrm>
            <a:off x="548640" y="1371600"/>
            <a:ext cx="822960" cy="914400"/>
          </a:xfrm>
          <a:prstGeom prst="rect">
            <a:avLst/>
          </a:prstGeom>
          <a:solidFill>
            <a:srgbClr val="0D9488"/>
          </a:solidFill>
          <a:ln w="12700">
            <a:solidFill>
              <a:srgbClr val="0D9488"/>
            </a:solidFill>
            <a:prstDash val="solid"/>
          </a:ln>
        </p:spPr>
      </p:sp>
      <p:sp>
        <p:nvSpPr>
          <p:cNvPr id="7" name="Text 5"/>
          <p:cNvSpPr/>
          <p:nvPr/>
        </p:nvSpPr>
        <p:spPr>
          <a:xfrm>
            <a:off x="548640" y="1371600"/>
            <a:ext cx="822960" cy="914400"/>
          </a:xfrm>
          <a:prstGeom prst="rect">
            <a:avLst/>
          </a:prstGeom>
          <a:noFill/>
          <a:ln/>
        </p:spPr>
        <p:txBody>
          <a:bodyPr wrap="square" rtlCol="0" anchor="ctr"/>
          <a:lstStyle/>
          <a:p>
            <a:pPr algn="ctr" indent="0" marL="0">
              <a:buNone/>
            </a:pPr>
            <a:r>
              <a:rPr lang="en-US" sz="1400" b="1" dirty="0">
                <a:solidFill>
                  <a:srgbClr val="FFFFFF"/>
                </a:solidFill>
                <a:latin typeface="Yu Gothic UI" pitchFamily="34" charset="0"/>
                <a:ea typeface="Yu Gothic UI" pitchFamily="34" charset="-122"/>
                <a:cs typeface="Yu Gothic UI" pitchFamily="34" charset="-120"/>
              </a:rPr>
              <a:t>OK</a:t>
            </a:r>
            <a:endParaRPr lang="en-US" sz="1400" dirty="0"/>
          </a:p>
        </p:txBody>
      </p:sp>
      <p:sp>
        <p:nvSpPr>
          <p:cNvPr id="8" name="Text 6"/>
          <p:cNvSpPr/>
          <p:nvPr/>
        </p:nvSpPr>
        <p:spPr>
          <a:xfrm>
            <a:off x="1554480" y="1371600"/>
            <a:ext cx="10088575" cy="365760"/>
          </a:xfrm>
          <a:prstGeom prst="rect">
            <a:avLst/>
          </a:prstGeom>
          <a:noFill/>
          <a:ln/>
        </p:spPr>
        <p:txBody>
          <a:bodyPr wrap="square" rtlCol="0" anchor="ctr"/>
          <a:lstStyle/>
          <a:p>
            <a:pPr indent="0" marL="0">
              <a:buNone/>
            </a:pPr>
            <a:r>
              <a:rPr lang="en-US" sz="1500" b="1" dirty="0">
                <a:solidFill>
                  <a:srgbClr val="1A1A14"/>
                </a:solidFill>
                <a:latin typeface="Yu Gothic UI" pitchFamily="34" charset="0"/>
                <a:ea typeface="Yu Gothic UI" pitchFamily="34" charset="-122"/>
                <a:cs typeface="Yu Gothic UI" pitchFamily="34" charset="-120"/>
              </a:rPr>
              <a:t>切り捨てができているか</a:t>
            </a:r>
            <a:endParaRPr lang="en-US" sz="1500" dirty="0"/>
          </a:p>
        </p:txBody>
      </p:sp>
      <p:sp>
        <p:nvSpPr>
          <p:cNvPr id="9" name="Text 7"/>
          <p:cNvSpPr/>
          <p:nvPr/>
        </p:nvSpPr>
        <p:spPr>
          <a:xfrm>
            <a:off x="1554480" y="1755648"/>
            <a:ext cx="10088575" cy="512064"/>
          </a:xfrm>
          <a:prstGeom prst="rect">
            <a:avLst/>
          </a:prstGeom>
          <a:noFill/>
          <a:ln/>
        </p:spPr>
        <p:txBody>
          <a:bodyPr wrap="square" rtlCol="0" anchor="t">
            <a:normAutofit/>
          </a:bodyPr>
          <a:lstStyle/>
          <a:p>
            <a:pPr indent="0" marL="0">
              <a:lnSpc>
                <a:spcPct val="130000"/>
              </a:lnSpc>
              <a:buNone/>
            </a:pPr>
            <a:r>
              <a:rPr lang="en-US" sz="1100" dirty="0">
                <a:solidFill>
                  <a:srgbClr val="555555"/>
                </a:solidFill>
                <a:latin typeface="Yu Gothic UI" pitchFamily="34" charset="0"/>
                <a:ea typeface="Yu Gothic UI" pitchFamily="34" charset="-122"/>
                <a:cs typeface="Yu Gothic UI" pitchFamily="34" charset="-120"/>
              </a:rPr>
              <a:t>大手ファーム所属者・純粋な技術者を切り捨て、『戦略提案力を高めたい独立系専門家』に絞り込めている。資格取得という明確な行動目標があるため訴求がシャープ。</a:t>
            </a:r>
            <a:endParaRPr lang="en-US" sz="1100" dirty="0"/>
          </a:p>
        </p:txBody>
      </p:sp>
      <p:sp>
        <p:nvSpPr>
          <p:cNvPr id="10" name="Shape 8"/>
          <p:cNvSpPr/>
          <p:nvPr/>
        </p:nvSpPr>
        <p:spPr>
          <a:xfrm>
            <a:off x="548640" y="2395728"/>
            <a:ext cx="822960" cy="914400"/>
          </a:xfrm>
          <a:prstGeom prst="rect">
            <a:avLst/>
          </a:prstGeom>
          <a:solidFill>
            <a:srgbClr val="0D9488"/>
          </a:solidFill>
          <a:ln w="12700">
            <a:solidFill>
              <a:srgbClr val="0D9488"/>
            </a:solidFill>
            <a:prstDash val="solid"/>
          </a:ln>
        </p:spPr>
      </p:sp>
      <p:sp>
        <p:nvSpPr>
          <p:cNvPr id="11" name="Text 9"/>
          <p:cNvSpPr/>
          <p:nvPr/>
        </p:nvSpPr>
        <p:spPr>
          <a:xfrm>
            <a:off x="548640" y="2395728"/>
            <a:ext cx="822960" cy="914400"/>
          </a:xfrm>
          <a:prstGeom prst="rect">
            <a:avLst/>
          </a:prstGeom>
          <a:noFill/>
          <a:ln/>
        </p:spPr>
        <p:txBody>
          <a:bodyPr wrap="square" rtlCol="0" anchor="ctr"/>
          <a:lstStyle/>
          <a:p>
            <a:pPr algn="ctr" indent="0" marL="0">
              <a:buNone/>
            </a:pPr>
            <a:r>
              <a:rPr lang="en-US" sz="1400" b="1" dirty="0">
                <a:solidFill>
                  <a:srgbClr val="FFFFFF"/>
                </a:solidFill>
                <a:latin typeface="Yu Gothic UI" pitchFamily="34" charset="0"/>
                <a:ea typeface="Yu Gothic UI" pitchFamily="34" charset="-122"/>
                <a:cs typeface="Yu Gothic UI" pitchFamily="34" charset="-120"/>
              </a:rPr>
              <a:t>OK</a:t>
            </a:r>
            <a:endParaRPr lang="en-US" sz="1400" dirty="0"/>
          </a:p>
        </p:txBody>
      </p:sp>
      <p:sp>
        <p:nvSpPr>
          <p:cNvPr id="12" name="Text 10"/>
          <p:cNvSpPr/>
          <p:nvPr/>
        </p:nvSpPr>
        <p:spPr>
          <a:xfrm>
            <a:off x="1554480" y="2395728"/>
            <a:ext cx="10088575" cy="365760"/>
          </a:xfrm>
          <a:prstGeom prst="rect">
            <a:avLst/>
          </a:prstGeom>
          <a:noFill/>
          <a:ln/>
        </p:spPr>
        <p:txBody>
          <a:bodyPr wrap="square" rtlCol="0" anchor="ctr"/>
          <a:lstStyle/>
          <a:p>
            <a:pPr indent="0" marL="0">
              <a:buNone/>
            </a:pPr>
            <a:r>
              <a:rPr lang="en-US" sz="1500" b="1" dirty="0">
                <a:solidFill>
                  <a:srgbClr val="1A1A14"/>
                </a:solidFill>
                <a:latin typeface="Yu Gothic UI" pitchFamily="34" charset="0"/>
                <a:ea typeface="Yu Gothic UI" pitchFamily="34" charset="-122"/>
                <a:cs typeface="Yu Gothic UI" pitchFamily="34" charset="-120"/>
              </a:rPr>
              <a:t>価値の本質（ニーズまで掘り下げた戦略・コンテンツになっているか）</a:t>
            </a:r>
            <a:endParaRPr lang="en-US" sz="1500" dirty="0"/>
          </a:p>
        </p:txBody>
      </p:sp>
      <p:sp>
        <p:nvSpPr>
          <p:cNvPr id="13" name="Text 11"/>
          <p:cNvSpPr/>
          <p:nvPr/>
        </p:nvSpPr>
        <p:spPr>
          <a:xfrm>
            <a:off x="1554480" y="2779776"/>
            <a:ext cx="10088575" cy="512064"/>
          </a:xfrm>
          <a:prstGeom prst="rect">
            <a:avLst/>
          </a:prstGeom>
          <a:noFill/>
          <a:ln/>
        </p:spPr>
        <p:txBody>
          <a:bodyPr wrap="square" rtlCol="0" anchor="t">
            <a:normAutofit/>
          </a:bodyPr>
          <a:lstStyle/>
          <a:p>
            <a:pPr indent="0" marL="0">
              <a:lnSpc>
                <a:spcPct val="130000"/>
              </a:lnSpc>
              <a:buNone/>
            </a:pPr>
            <a:r>
              <a:rPr lang="en-US" sz="1100" dirty="0">
                <a:solidFill>
                  <a:srgbClr val="555555"/>
                </a:solidFill>
                <a:latin typeface="Yu Gothic UI" pitchFamily="34" charset="0"/>
                <a:ea typeface="Yu Gothic UI" pitchFamily="34" charset="-122"/>
                <a:cs typeface="Yu Gothic UI" pitchFamily="34" charset="-120"/>
              </a:rPr>
              <a:t>資格取得（ウォンツ）の奥にある『クライアントに信頼される専門家として継続受注したい』というニーズに正面から応えており、本質的な目的に届く設計になっている。</a:t>
            </a:r>
            <a:endParaRPr lang="en-US" sz="1100" dirty="0"/>
          </a:p>
        </p:txBody>
      </p:sp>
      <p:sp>
        <p:nvSpPr>
          <p:cNvPr id="14" name="Shape 12"/>
          <p:cNvSpPr/>
          <p:nvPr/>
        </p:nvSpPr>
        <p:spPr>
          <a:xfrm>
            <a:off x="548640" y="3419856"/>
            <a:ext cx="822960" cy="914400"/>
          </a:xfrm>
          <a:prstGeom prst="rect">
            <a:avLst/>
          </a:prstGeom>
          <a:solidFill>
            <a:srgbClr val="0D9488"/>
          </a:solidFill>
          <a:ln w="12700">
            <a:solidFill>
              <a:srgbClr val="0D9488"/>
            </a:solidFill>
            <a:prstDash val="solid"/>
          </a:ln>
        </p:spPr>
      </p:sp>
      <p:sp>
        <p:nvSpPr>
          <p:cNvPr id="15" name="Text 13"/>
          <p:cNvSpPr/>
          <p:nvPr/>
        </p:nvSpPr>
        <p:spPr>
          <a:xfrm>
            <a:off x="548640" y="3419856"/>
            <a:ext cx="822960" cy="914400"/>
          </a:xfrm>
          <a:prstGeom prst="rect">
            <a:avLst/>
          </a:prstGeom>
          <a:noFill/>
          <a:ln/>
        </p:spPr>
        <p:txBody>
          <a:bodyPr wrap="square" rtlCol="0" anchor="ctr"/>
          <a:lstStyle/>
          <a:p>
            <a:pPr algn="ctr" indent="0" marL="0">
              <a:buNone/>
            </a:pPr>
            <a:r>
              <a:rPr lang="en-US" sz="1400" b="1" dirty="0">
                <a:solidFill>
                  <a:srgbClr val="FFFFFF"/>
                </a:solidFill>
                <a:latin typeface="Yu Gothic UI" pitchFamily="34" charset="0"/>
                <a:ea typeface="Yu Gothic UI" pitchFamily="34" charset="-122"/>
                <a:cs typeface="Yu Gothic UI" pitchFamily="34" charset="-120"/>
              </a:rPr>
              <a:t>OK</a:t>
            </a:r>
            <a:endParaRPr lang="en-US" sz="1400" dirty="0"/>
          </a:p>
        </p:txBody>
      </p:sp>
      <p:sp>
        <p:nvSpPr>
          <p:cNvPr id="16" name="Text 14"/>
          <p:cNvSpPr/>
          <p:nvPr/>
        </p:nvSpPr>
        <p:spPr>
          <a:xfrm>
            <a:off x="1554480" y="3419856"/>
            <a:ext cx="10088575" cy="365760"/>
          </a:xfrm>
          <a:prstGeom prst="rect">
            <a:avLst/>
          </a:prstGeom>
          <a:noFill/>
          <a:ln/>
        </p:spPr>
        <p:txBody>
          <a:bodyPr wrap="square" rtlCol="0" anchor="ctr"/>
          <a:lstStyle/>
          <a:p>
            <a:pPr indent="0" marL="0">
              <a:buNone/>
            </a:pPr>
            <a:r>
              <a:rPr lang="en-US" sz="1500" b="1" dirty="0">
                <a:solidFill>
                  <a:srgbClr val="1A1A14"/>
                </a:solidFill>
                <a:latin typeface="Yu Gothic UI" pitchFamily="34" charset="0"/>
                <a:ea typeface="Yu Gothic UI" pitchFamily="34" charset="-122"/>
                <a:cs typeface="Yu Gothic UI" pitchFamily="34" charset="-120"/>
              </a:rPr>
              <a:t>同業種・異業種、両方の競合との違いを表現できているか</a:t>
            </a:r>
            <a:endParaRPr lang="en-US" sz="1500" dirty="0"/>
          </a:p>
        </p:txBody>
      </p:sp>
      <p:sp>
        <p:nvSpPr>
          <p:cNvPr id="17" name="Text 15"/>
          <p:cNvSpPr/>
          <p:nvPr/>
        </p:nvSpPr>
        <p:spPr>
          <a:xfrm>
            <a:off x="1554480" y="3803904"/>
            <a:ext cx="10088575" cy="512064"/>
          </a:xfrm>
          <a:prstGeom prst="rect">
            <a:avLst/>
          </a:prstGeom>
          <a:noFill/>
          <a:ln/>
        </p:spPr>
        <p:txBody>
          <a:bodyPr wrap="square" rtlCol="0" anchor="t">
            <a:normAutofit/>
          </a:bodyPr>
          <a:lstStyle/>
          <a:p>
            <a:pPr indent="0" marL="0">
              <a:lnSpc>
                <a:spcPct val="130000"/>
              </a:lnSpc>
              <a:buNone/>
            </a:pPr>
            <a:r>
              <a:rPr lang="en-US" sz="1100" dirty="0">
                <a:solidFill>
                  <a:srgbClr val="555555"/>
                </a:solidFill>
                <a:latin typeface="Yu Gothic UI" pitchFamily="34" charset="0"/>
                <a:ea typeface="Yu Gothic UI" pitchFamily="34" charset="-122"/>
                <a:cs typeface="Yu Gothic UI" pitchFamily="34" charset="-120"/>
              </a:rPr>
              <a:t>同業（ウェブ解析士・診断士等の資格）との違い（AI×戦略特化・実践訓練）も、異業種競合（Udemy等の学習プラットフォーム）との違い（資格+案件ネットワーク）も表現できている。</a:t>
            </a:r>
            <a:endParaRPr lang="en-US" sz="1100" dirty="0"/>
          </a:p>
        </p:txBody>
      </p:sp>
      <p:sp>
        <p:nvSpPr>
          <p:cNvPr id="18" name="Shape 16"/>
          <p:cNvSpPr/>
          <p:nvPr/>
        </p:nvSpPr>
        <p:spPr>
          <a:xfrm>
            <a:off x="548640" y="4443984"/>
            <a:ext cx="822960" cy="914400"/>
          </a:xfrm>
          <a:prstGeom prst="rect">
            <a:avLst/>
          </a:prstGeom>
          <a:solidFill>
            <a:srgbClr val="0D9488"/>
          </a:solidFill>
          <a:ln w="12700">
            <a:solidFill>
              <a:srgbClr val="0D9488"/>
            </a:solidFill>
            <a:prstDash val="solid"/>
          </a:ln>
        </p:spPr>
      </p:sp>
      <p:sp>
        <p:nvSpPr>
          <p:cNvPr id="19" name="Text 17"/>
          <p:cNvSpPr/>
          <p:nvPr/>
        </p:nvSpPr>
        <p:spPr>
          <a:xfrm>
            <a:off x="548640" y="4443984"/>
            <a:ext cx="822960" cy="914400"/>
          </a:xfrm>
          <a:prstGeom prst="rect">
            <a:avLst/>
          </a:prstGeom>
          <a:noFill/>
          <a:ln/>
        </p:spPr>
        <p:txBody>
          <a:bodyPr wrap="square" rtlCol="0" anchor="ctr"/>
          <a:lstStyle/>
          <a:p>
            <a:pPr algn="ctr" indent="0" marL="0">
              <a:buNone/>
            </a:pPr>
            <a:r>
              <a:rPr lang="en-US" sz="1400" b="1" dirty="0">
                <a:solidFill>
                  <a:srgbClr val="FFFFFF"/>
                </a:solidFill>
                <a:latin typeface="Yu Gothic UI" pitchFamily="34" charset="0"/>
                <a:ea typeface="Yu Gothic UI" pitchFamily="34" charset="-122"/>
                <a:cs typeface="Yu Gothic UI" pitchFamily="34" charset="-120"/>
              </a:rPr>
              <a:t>OK</a:t>
            </a:r>
            <a:endParaRPr lang="en-US" sz="1400" dirty="0"/>
          </a:p>
        </p:txBody>
      </p:sp>
      <p:sp>
        <p:nvSpPr>
          <p:cNvPr id="20" name="Text 18"/>
          <p:cNvSpPr/>
          <p:nvPr/>
        </p:nvSpPr>
        <p:spPr>
          <a:xfrm>
            <a:off x="1554480" y="4443984"/>
            <a:ext cx="10088575" cy="365760"/>
          </a:xfrm>
          <a:prstGeom prst="rect">
            <a:avLst/>
          </a:prstGeom>
          <a:noFill/>
          <a:ln/>
        </p:spPr>
        <p:txBody>
          <a:bodyPr wrap="square" rtlCol="0" anchor="ctr"/>
          <a:lstStyle/>
          <a:p>
            <a:pPr indent="0" marL="0">
              <a:buNone/>
            </a:pPr>
            <a:r>
              <a:rPr lang="en-US" sz="1500" b="1" dirty="0">
                <a:solidFill>
                  <a:srgbClr val="1A1A14"/>
                </a:solidFill>
                <a:latin typeface="Yu Gothic UI" pitchFamily="34" charset="0"/>
                <a:ea typeface="Yu Gothic UI" pitchFamily="34" charset="-122"/>
                <a:cs typeface="Yu Gothic UI" pitchFamily="34" charset="-120"/>
              </a:rPr>
              <a:t>アドバンテージは模倣されにくいか</a:t>
            </a:r>
            <a:endParaRPr lang="en-US" sz="1500" dirty="0"/>
          </a:p>
        </p:txBody>
      </p:sp>
      <p:sp>
        <p:nvSpPr>
          <p:cNvPr id="21" name="Text 19"/>
          <p:cNvSpPr/>
          <p:nvPr/>
        </p:nvSpPr>
        <p:spPr>
          <a:xfrm>
            <a:off x="1554480" y="4828032"/>
            <a:ext cx="10088575" cy="512064"/>
          </a:xfrm>
          <a:prstGeom prst="rect">
            <a:avLst/>
          </a:prstGeom>
          <a:noFill/>
          <a:ln/>
        </p:spPr>
        <p:txBody>
          <a:bodyPr wrap="square" rtlCol="0" anchor="t">
            <a:normAutofit/>
          </a:bodyPr>
          <a:lstStyle/>
          <a:p>
            <a:pPr indent="0" marL="0">
              <a:lnSpc>
                <a:spcPct val="130000"/>
              </a:lnSpc>
              <a:buNone/>
            </a:pPr>
            <a:r>
              <a:rPr lang="en-US" sz="1100" dirty="0">
                <a:solidFill>
                  <a:srgbClr val="555555"/>
                </a:solidFill>
                <a:latin typeface="Yu Gothic UI" pitchFamily="34" charset="0"/>
                <a:ea typeface="Yu Gothic UI" pitchFamily="34" charset="-122"/>
                <a:cs typeface="Yu Gothic UI" pitchFamily="34" charset="-120"/>
              </a:rPr>
              <a:t>AB3Cフレームワークの著作権と17年超の蓄積、著書・連載による外部権威の積み上げは他社が短期で再現できない。資格制度に紐づく案件ネットワークも会員数とともに強化される仕組みを持つ。</a:t>
            </a:r>
            <a:endParaRPr lang="en-US" sz="1100" dirty="0"/>
          </a:p>
        </p:txBody>
      </p:sp>
      <p:sp>
        <p:nvSpPr>
          <p:cNvPr id="22" name="Shape 20"/>
          <p:cNvSpPr/>
          <p:nvPr/>
        </p:nvSpPr>
        <p:spPr>
          <a:xfrm>
            <a:off x="548640" y="5468112"/>
            <a:ext cx="822960" cy="914400"/>
          </a:xfrm>
          <a:prstGeom prst="rect">
            <a:avLst/>
          </a:prstGeom>
          <a:solidFill>
            <a:srgbClr val="0D9488"/>
          </a:solidFill>
          <a:ln w="12700">
            <a:solidFill>
              <a:srgbClr val="0D9488"/>
            </a:solidFill>
            <a:prstDash val="solid"/>
          </a:ln>
        </p:spPr>
      </p:sp>
      <p:sp>
        <p:nvSpPr>
          <p:cNvPr id="23" name="Text 21"/>
          <p:cNvSpPr/>
          <p:nvPr/>
        </p:nvSpPr>
        <p:spPr>
          <a:xfrm>
            <a:off x="548640" y="5468112"/>
            <a:ext cx="822960" cy="914400"/>
          </a:xfrm>
          <a:prstGeom prst="rect">
            <a:avLst/>
          </a:prstGeom>
          <a:noFill/>
          <a:ln/>
        </p:spPr>
        <p:txBody>
          <a:bodyPr wrap="square" rtlCol="0" anchor="ctr"/>
          <a:lstStyle/>
          <a:p>
            <a:pPr algn="ctr" indent="0" marL="0">
              <a:buNone/>
            </a:pPr>
            <a:r>
              <a:rPr lang="en-US" sz="1400" b="1" dirty="0">
                <a:solidFill>
                  <a:srgbClr val="FFFFFF"/>
                </a:solidFill>
                <a:latin typeface="Yu Gothic UI" pitchFamily="34" charset="0"/>
                <a:ea typeface="Yu Gothic UI" pitchFamily="34" charset="-122"/>
                <a:cs typeface="Yu Gothic UI" pitchFamily="34" charset="-120"/>
              </a:rPr>
              <a:t>OK</a:t>
            </a:r>
            <a:endParaRPr lang="en-US" sz="1400" dirty="0"/>
          </a:p>
        </p:txBody>
      </p:sp>
      <p:sp>
        <p:nvSpPr>
          <p:cNvPr id="24" name="Text 22"/>
          <p:cNvSpPr/>
          <p:nvPr/>
        </p:nvSpPr>
        <p:spPr>
          <a:xfrm>
            <a:off x="1554480" y="5468112"/>
            <a:ext cx="10088575" cy="365760"/>
          </a:xfrm>
          <a:prstGeom prst="rect">
            <a:avLst/>
          </a:prstGeom>
          <a:noFill/>
          <a:ln/>
        </p:spPr>
        <p:txBody>
          <a:bodyPr wrap="square" rtlCol="0" anchor="ctr"/>
          <a:lstStyle/>
          <a:p>
            <a:pPr indent="0" marL="0">
              <a:buNone/>
            </a:pPr>
            <a:r>
              <a:rPr lang="en-US" sz="1500" b="1" dirty="0">
                <a:solidFill>
                  <a:srgbClr val="1A1A14"/>
                </a:solidFill>
                <a:latin typeface="Yu Gothic UI" pitchFamily="34" charset="0"/>
                <a:ea typeface="Yu Gothic UI" pitchFamily="34" charset="-122"/>
                <a:cs typeface="Yu Gothic UI" pitchFamily="34" charset="-120"/>
              </a:rPr>
              <a:t>戦略メッセージのわかりやすさ（戦略要素が絞られているか、優先順位をつけられているか）</a:t>
            </a:r>
            <a:endParaRPr lang="en-US" sz="1500" dirty="0"/>
          </a:p>
        </p:txBody>
      </p:sp>
      <p:sp>
        <p:nvSpPr>
          <p:cNvPr id="25" name="Text 23"/>
          <p:cNvSpPr/>
          <p:nvPr/>
        </p:nvSpPr>
        <p:spPr>
          <a:xfrm>
            <a:off x="1554480" y="5852160"/>
            <a:ext cx="10088575" cy="512064"/>
          </a:xfrm>
          <a:prstGeom prst="rect">
            <a:avLst/>
          </a:prstGeom>
          <a:noFill/>
          <a:ln/>
        </p:spPr>
        <p:txBody>
          <a:bodyPr wrap="square" rtlCol="0" anchor="t">
            <a:normAutofit/>
          </a:bodyPr>
          <a:lstStyle/>
          <a:p>
            <a:pPr indent="0" marL="0">
              <a:lnSpc>
                <a:spcPct val="130000"/>
              </a:lnSpc>
              <a:buNone/>
            </a:pPr>
            <a:r>
              <a:rPr lang="en-US" sz="1100" dirty="0">
                <a:solidFill>
                  <a:srgbClr val="555555"/>
                </a:solidFill>
                <a:latin typeface="Yu Gothic UI" pitchFamily="34" charset="0"/>
                <a:ea typeface="Yu Gothic UI" pitchFamily="34" charset="-122"/>
                <a:cs typeface="Yu Gothic UI" pitchFamily="34" charset="-120"/>
              </a:rPr>
              <a:t>『AIで戦略提案できる専門家に、資格で証明する』という一文が、ターゲット・ベネフィット・差別化を端的に表現しており、コンサルタント層に刺さるメッセージになっている。</a:t>
            </a:r>
            <a:endParaRPr lang="en-US" sz="1100" dirty="0"/>
          </a:p>
        </p:txBody>
      </p:sp>
      <p:sp>
        <p:nvSpPr>
          <p:cNvPr id="26" name="Text 24"/>
          <p:cNvSpPr/>
          <p:nvPr/>
        </p:nvSpPr>
        <p:spPr>
          <a:xfrm>
            <a:off x="548640" y="6537960"/>
            <a:ext cx="5486400" cy="228600"/>
          </a:xfrm>
          <a:prstGeom prst="rect">
            <a:avLst/>
          </a:prstGeom>
          <a:noFill/>
          <a:ln/>
        </p:spPr>
        <p:txBody>
          <a:bodyPr wrap="square" rtlCol="0" anchor="ctr"/>
          <a:lstStyle/>
          <a:p>
            <a:pPr indent="0" marL="0">
              <a:buNone/>
            </a:pPr>
            <a:r>
              <a:rPr lang="en-US" sz="900" dirty="0">
                <a:solidFill>
                  <a:srgbClr val="555555"/>
                </a:solidFill>
                <a:latin typeface="Yu Gothic UI" pitchFamily="34" charset="0"/>
                <a:ea typeface="Yu Gothic UI" pitchFamily="34" charset="-122"/>
                <a:cs typeface="Yu Gothic UI" pitchFamily="34" charset="-120"/>
              </a:rPr>
              <a:t>digi-kaku.or.jp</a:t>
            </a:r>
            <a:endParaRPr lang="en-US" sz="900" dirty="0"/>
          </a:p>
        </p:txBody>
      </p:sp>
      <p:sp>
        <p:nvSpPr>
          <p:cNvPr id="27" name="Text 25"/>
          <p:cNvSpPr/>
          <p:nvPr/>
        </p:nvSpPr>
        <p:spPr>
          <a:xfrm>
            <a:off x="6156655" y="6537960"/>
            <a:ext cx="5486400" cy="228600"/>
          </a:xfrm>
          <a:prstGeom prst="rect">
            <a:avLst/>
          </a:prstGeom>
          <a:noFill/>
          <a:ln/>
        </p:spPr>
        <p:txBody>
          <a:bodyPr wrap="square" rtlCol="0" anchor="ctr"/>
          <a:lstStyle/>
          <a:p>
            <a:pPr algn="r" indent="0" marL="0">
              <a:buNone/>
            </a:pPr>
            <a:r>
              <a:rPr lang="en-US" sz="900" dirty="0">
                <a:solidFill>
                  <a:srgbClr val="555555"/>
                </a:solidFill>
                <a:latin typeface="Yu Gothic UI" pitchFamily="34" charset="0"/>
                <a:ea typeface="Yu Gothic UI" pitchFamily="34" charset="-122"/>
                <a:cs typeface="Yu Gothic UI" pitchFamily="34" charset="-120"/>
              </a:rPr>
              <a:t>戦略指南 AI / AB3C 分析レポート　14 / 27</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A580C"/>
        </a:solidFill>
      </p:bgPr>
    </p:bg>
    <p:spTree>
      <p:nvGrpSpPr>
        <p:cNvPr id="1" name=""/>
        <p:cNvGrpSpPr/>
        <p:nvPr/>
      </p:nvGrpSpPr>
      <p:grpSpPr>
        <a:xfrm>
          <a:off x="0" y="0"/>
          <a:ext cx="0" cy="0"/>
          <a:chOff x="0" y="0"/>
          <a:chExt cx="0" cy="0"/>
        </a:xfrm>
      </p:grpSpPr>
      <p:sp>
        <p:nvSpPr>
          <p:cNvPr id="2" name="Text 0"/>
          <p:cNvSpPr/>
          <p:nvPr/>
        </p:nvSpPr>
        <p:spPr>
          <a:xfrm>
            <a:off x="0" y="2194560"/>
            <a:ext cx="12191695" cy="457200"/>
          </a:xfrm>
          <a:prstGeom prst="rect">
            <a:avLst/>
          </a:prstGeom>
          <a:noFill/>
          <a:ln/>
        </p:spPr>
        <p:txBody>
          <a:bodyPr wrap="square" rtlCol="0" anchor="ctr"/>
          <a:lstStyle/>
          <a:p>
            <a:pPr algn="ctr" indent="0" marL="0">
              <a:buNone/>
            </a:pPr>
            <a:r>
              <a:rPr lang="en-US" sz="1800" spc="1000" kern="0" dirty="0">
                <a:solidFill>
                  <a:srgbClr val="FFFFFF"/>
                </a:solidFill>
                <a:latin typeface="Consolas" pitchFamily="34" charset="0"/>
                <a:ea typeface="Consolas" pitchFamily="34" charset="-122"/>
                <a:cs typeface="Consolas" pitchFamily="34" charset="-120"/>
              </a:rPr>
              <a:t>PART  4</a:t>
            </a:r>
            <a:endParaRPr lang="en-US" sz="1800" dirty="0"/>
          </a:p>
        </p:txBody>
      </p:sp>
      <p:sp>
        <p:nvSpPr>
          <p:cNvPr id="3" name="Text 1"/>
          <p:cNvSpPr/>
          <p:nvPr/>
        </p:nvSpPr>
        <p:spPr>
          <a:xfrm>
            <a:off x="0" y="2743200"/>
            <a:ext cx="12191695" cy="914400"/>
          </a:xfrm>
          <a:prstGeom prst="rect">
            <a:avLst/>
          </a:prstGeom>
          <a:noFill/>
          <a:ln/>
        </p:spPr>
        <p:txBody>
          <a:bodyPr wrap="square" rtlCol="0" anchor="ctr"/>
          <a:lstStyle/>
          <a:p>
            <a:pPr algn="ctr" indent="0" marL="0">
              <a:buNone/>
            </a:pPr>
            <a:r>
              <a:rPr lang="en-US" sz="6000" b="1" dirty="0">
                <a:solidFill>
                  <a:srgbClr val="FFFFFF"/>
                </a:solidFill>
                <a:latin typeface="Noto Serif JP" pitchFamily="34" charset="0"/>
                <a:ea typeface="Noto Serif JP" pitchFamily="34" charset="-122"/>
                <a:cs typeface="Noto Serif JP" pitchFamily="34" charset="-120"/>
              </a:rPr>
              <a:t>実行</a:t>
            </a:r>
            <a:endParaRPr lang="en-US" sz="6000" dirty="0"/>
          </a:p>
        </p:txBody>
      </p:sp>
      <p:sp>
        <p:nvSpPr>
          <p:cNvPr id="4" name="Text 2"/>
          <p:cNvSpPr/>
          <p:nvPr/>
        </p:nvSpPr>
        <p:spPr>
          <a:xfrm>
            <a:off x="0" y="3840480"/>
            <a:ext cx="12191695" cy="457200"/>
          </a:xfrm>
          <a:prstGeom prst="rect">
            <a:avLst/>
          </a:prstGeom>
          <a:noFill/>
          <a:ln/>
        </p:spPr>
        <p:txBody>
          <a:bodyPr wrap="square" rtlCol="0" anchor="ctr"/>
          <a:lstStyle/>
          <a:p>
            <a:pPr algn="ctr" indent="0" marL="0">
              <a:buNone/>
            </a:pPr>
            <a:r>
              <a:rPr lang="en-US" sz="1800" dirty="0">
                <a:solidFill>
                  <a:srgbClr val="FFFFFF"/>
                </a:solidFill>
                <a:latin typeface="Yu Gothic UI" pitchFamily="34" charset="0"/>
                <a:ea typeface="Yu Gothic UI" pitchFamily="34" charset="-122"/>
                <a:cs typeface="Yu Gothic UI" pitchFamily="34" charset="-120"/>
              </a:rPr>
              <a:t>ウェブサイト改善・次のアクション</a:t>
            </a:r>
            <a:endParaRPr lang="en-US" sz="1800" dirty="0"/>
          </a:p>
        </p:txBody>
      </p:sp>
      <p:sp>
        <p:nvSpPr>
          <p:cNvPr id="5" name="Shape 3"/>
          <p:cNvSpPr/>
          <p:nvPr/>
        </p:nvSpPr>
        <p:spPr>
          <a:xfrm>
            <a:off x="4724248" y="4937760"/>
            <a:ext cx="2743200" cy="73152"/>
          </a:xfrm>
          <a:prstGeom prst="rect">
            <a:avLst/>
          </a:prstGeom>
          <a:solidFill>
            <a:srgbClr val="FFFFFF"/>
          </a:solidFill>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EA580C"/>
          </a:solidFill>
          <a:ln w="12700">
            <a:solidFill>
              <a:srgbClr val="EA580C"/>
            </a:solidFill>
            <a:prstDash val="solid"/>
          </a:ln>
        </p:spPr>
      </p:sp>
      <p:sp>
        <p:nvSpPr>
          <p:cNvPr id="3" name="Text 1"/>
          <p:cNvSpPr/>
          <p:nvPr/>
        </p:nvSpPr>
        <p:spPr>
          <a:xfrm>
            <a:off x="548640" y="411480"/>
            <a:ext cx="11094415" cy="274320"/>
          </a:xfrm>
          <a:prstGeom prst="rect">
            <a:avLst/>
          </a:prstGeom>
          <a:noFill/>
          <a:ln/>
        </p:spPr>
        <p:txBody>
          <a:bodyPr wrap="square" rtlCol="0" anchor="ctr"/>
          <a:lstStyle/>
          <a:p>
            <a:pPr indent="0" marL="0">
              <a:buNone/>
            </a:pPr>
            <a:r>
              <a:rPr lang="en-US" sz="1100" spc="600" kern="0" dirty="0">
                <a:solidFill>
                  <a:srgbClr val="555555"/>
                </a:solidFill>
                <a:latin typeface="Consolas" pitchFamily="34" charset="0"/>
                <a:ea typeface="Consolas" pitchFamily="34" charset="-122"/>
                <a:cs typeface="Consolas" pitchFamily="34" charset="-120"/>
              </a:rPr>
              <a:t>PART 4  ─  VISUAL MOCKUP</a:t>
            </a:r>
            <a:endParaRPr lang="en-US" sz="1100" dirty="0"/>
          </a:p>
        </p:txBody>
      </p:sp>
      <p:sp>
        <p:nvSpPr>
          <p:cNvPr id="4" name="Text 2"/>
          <p:cNvSpPr/>
          <p:nvPr/>
        </p:nvSpPr>
        <p:spPr>
          <a:xfrm>
            <a:off x="548640" y="685800"/>
            <a:ext cx="11094415" cy="640080"/>
          </a:xfrm>
          <a:prstGeom prst="rect">
            <a:avLst/>
          </a:prstGeom>
          <a:noFill/>
          <a:ln/>
        </p:spPr>
        <p:txBody>
          <a:bodyPr wrap="square" rtlCol="0" anchor="ctr"/>
          <a:lstStyle/>
          <a:p>
            <a:pPr indent="0" marL="0">
              <a:buNone/>
            </a:pPr>
            <a:r>
              <a:rPr lang="en-US" sz="3000" b="1" dirty="0">
                <a:solidFill>
                  <a:srgbClr val="EA580C"/>
                </a:solidFill>
                <a:latin typeface="Noto Serif JP" pitchFamily="34" charset="0"/>
                <a:ea typeface="Noto Serif JP" pitchFamily="34" charset="-122"/>
                <a:cs typeface="Noto Serif JP" pitchFamily="34" charset="-120"/>
              </a:rPr>
              <a:t>改善後のファーストビュー・イメージ</a:t>
            </a:r>
            <a:endParaRPr lang="en-US" sz="3000" dirty="0"/>
          </a:p>
        </p:txBody>
      </p:sp>
      <p:sp>
        <p:nvSpPr>
          <p:cNvPr id="5" name="Shape 3"/>
          <p:cNvSpPr/>
          <p:nvPr/>
        </p:nvSpPr>
        <p:spPr>
          <a:xfrm>
            <a:off x="548640" y="1280160"/>
            <a:ext cx="11094415" cy="0"/>
          </a:xfrm>
          <a:prstGeom prst="line">
            <a:avLst/>
          </a:prstGeom>
          <a:noFill/>
          <a:ln w="12700">
            <a:solidFill>
              <a:srgbClr val="EA580C"/>
            </a:solidFill>
            <a:prstDash val="solid"/>
          </a:ln>
        </p:spPr>
      </p:sp>
      <p:pic>
        <p:nvPicPr>
          <p:cNvPr id="6" name="Image 0" descr="preencoded.png">    </p:cNvPr>
          <p:cNvPicPr>
            <a:picLocks noChangeAspect="1"/>
          </p:cNvPicPr>
          <p:nvPr/>
        </p:nvPicPr>
        <p:blipFill>
          <a:blip r:embed="rId1"/>
          <a:stretch>
            <a:fillRect/>
          </a:stretch>
        </p:blipFill>
        <p:spPr>
          <a:xfrm>
            <a:off x="548640" y="1508760"/>
            <a:ext cx="11094415" cy="6240609"/>
          </a:xfrm>
          <a:prstGeom prst="rect">
            <a:avLst/>
          </a:prstGeom>
        </p:spPr>
      </p:pic>
      <p:sp>
        <p:nvSpPr>
          <p:cNvPr id="7" name="Shape 4"/>
          <p:cNvSpPr/>
          <p:nvPr/>
        </p:nvSpPr>
        <p:spPr>
          <a:xfrm>
            <a:off x="548640" y="7886529"/>
            <a:ext cx="11094415" cy="640080"/>
          </a:xfrm>
          <a:prstGeom prst="rect">
            <a:avLst/>
          </a:prstGeom>
          <a:solidFill>
            <a:srgbClr val="F8F8F6"/>
          </a:solidFill>
          <a:ln w="12700">
            <a:solidFill>
              <a:srgbClr val="EA580C"/>
            </a:solidFill>
            <a:prstDash val="solid"/>
          </a:ln>
        </p:spPr>
      </p:sp>
      <p:sp>
        <p:nvSpPr>
          <p:cNvPr id="8" name="Text 5"/>
          <p:cNvSpPr/>
          <p:nvPr/>
        </p:nvSpPr>
        <p:spPr>
          <a:xfrm>
            <a:off x="731520" y="7932249"/>
            <a:ext cx="10728655" cy="548640"/>
          </a:xfrm>
          <a:prstGeom prst="rect">
            <a:avLst/>
          </a:prstGeom>
          <a:noFill/>
          <a:ln/>
        </p:spPr>
        <p:txBody>
          <a:bodyPr wrap="square" rtlCol="0" anchor="t"/>
          <a:lstStyle/>
          <a:p>
            <a:pPr indent="0" marL="0">
              <a:lnSpc>
                <a:spcPct val="150000"/>
              </a:lnSpc>
              <a:buNone/>
            </a:pPr>
            <a:r>
              <a:rPr lang="en-US" sz="1300" b="1" dirty="0">
                <a:solidFill>
                  <a:srgbClr val="EA580C"/>
                </a:solidFill>
                <a:latin typeface="Yu Gothic UI" pitchFamily="34" charset="0"/>
                <a:ea typeface="Yu Gothic UI" pitchFamily="34" charset="-122"/>
                <a:cs typeface="Yu Gothic UI" pitchFamily="34" charset="-120"/>
              </a:rPr>
              <a:t>💡 このビジュアルの意図：</a:t>
            </a:r>
            <a:pPr indent="0" marL="0">
              <a:lnSpc>
                <a:spcPct val="150000"/>
              </a:lnSpc>
              <a:buNone/>
            </a:pPr>
            <a:r>
              <a:rPr lang="en-US" sz="1300" dirty="0">
                <a:solidFill>
                  <a:srgbClr val="1A1A14"/>
                </a:solidFill>
                <a:latin typeface="Yu Gothic UI" pitchFamily="34" charset="0"/>
                <a:ea typeface="Yu Gothic UI" pitchFamily="34" charset="-122"/>
                <a:cs typeface="Yu Gothic UI" pitchFamily="34" charset="-120"/>
              </a:rPr>
              <a:t>独立系コンサルタントを唯一のターゲットに絞ったキャッチコピー・AB3Cフレームワーク図解・4段階資格ステップマップ・競合比較表・戦略指南AI体験デモを一画面に集約し、「資格が仕事と収入につながる」ことを実績の声とともに視覚的に証明する設計にしました。</a:t>
            </a:r>
            <a:endParaRPr lang="en-US" sz="1300" dirty="0"/>
          </a:p>
        </p:txBody>
      </p:sp>
      <p:sp>
        <p:nvSpPr>
          <p:cNvPr id="9" name="Text 6"/>
          <p:cNvSpPr/>
          <p:nvPr/>
        </p:nvSpPr>
        <p:spPr>
          <a:xfrm>
            <a:off x="548640" y="6537960"/>
            <a:ext cx="5486400" cy="228600"/>
          </a:xfrm>
          <a:prstGeom prst="rect">
            <a:avLst/>
          </a:prstGeom>
          <a:noFill/>
          <a:ln/>
        </p:spPr>
        <p:txBody>
          <a:bodyPr wrap="square" rtlCol="0" anchor="ctr"/>
          <a:lstStyle/>
          <a:p>
            <a:pPr indent="0" marL="0">
              <a:buNone/>
            </a:pPr>
            <a:r>
              <a:rPr lang="en-US" sz="900" dirty="0">
                <a:solidFill>
                  <a:srgbClr val="555555"/>
                </a:solidFill>
                <a:latin typeface="Yu Gothic UI" pitchFamily="34" charset="0"/>
                <a:ea typeface="Yu Gothic UI" pitchFamily="34" charset="-122"/>
                <a:cs typeface="Yu Gothic UI" pitchFamily="34" charset="-120"/>
              </a:rPr>
              <a:t>digi-kaku.or.jp</a:t>
            </a:r>
            <a:endParaRPr lang="en-US" sz="900" dirty="0"/>
          </a:p>
        </p:txBody>
      </p:sp>
      <p:sp>
        <p:nvSpPr>
          <p:cNvPr id="10" name="Text 7"/>
          <p:cNvSpPr/>
          <p:nvPr/>
        </p:nvSpPr>
        <p:spPr>
          <a:xfrm>
            <a:off x="6156655" y="6537960"/>
            <a:ext cx="5486400" cy="228600"/>
          </a:xfrm>
          <a:prstGeom prst="rect">
            <a:avLst/>
          </a:prstGeom>
          <a:noFill/>
          <a:ln/>
        </p:spPr>
        <p:txBody>
          <a:bodyPr wrap="square" rtlCol="0" anchor="ctr"/>
          <a:lstStyle/>
          <a:p>
            <a:pPr algn="r" indent="0" marL="0">
              <a:buNone/>
            </a:pPr>
            <a:r>
              <a:rPr lang="en-US" sz="900" dirty="0">
                <a:solidFill>
                  <a:srgbClr val="555555"/>
                </a:solidFill>
                <a:latin typeface="Yu Gothic UI" pitchFamily="34" charset="0"/>
                <a:ea typeface="Yu Gothic UI" pitchFamily="34" charset="-122"/>
                <a:cs typeface="Yu Gothic UI" pitchFamily="34" charset="-120"/>
              </a:rPr>
              <a:t>戦略指南 AI / AB3C 分析レポート　16 / 27</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EA580C"/>
          </a:solidFill>
          <a:ln w="12700">
            <a:solidFill>
              <a:srgbClr val="EA580C"/>
            </a:solidFill>
            <a:prstDash val="solid"/>
          </a:ln>
        </p:spPr>
      </p:sp>
      <p:sp>
        <p:nvSpPr>
          <p:cNvPr id="3" name="Text 1"/>
          <p:cNvSpPr/>
          <p:nvPr/>
        </p:nvSpPr>
        <p:spPr>
          <a:xfrm>
            <a:off x="548640" y="411480"/>
            <a:ext cx="11094415" cy="274320"/>
          </a:xfrm>
          <a:prstGeom prst="rect">
            <a:avLst/>
          </a:prstGeom>
          <a:noFill/>
          <a:ln/>
        </p:spPr>
        <p:txBody>
          <a:bodyPr wrap="square" rtlCol="0" anchor="ctr"/>
          <a:lstStyle/>
          <a:p>
            <a:pPr indent="0" marL="0">
              <a:buNone/>
            </a:pPr>
            <a:r>
              <a:rPr lang="en-US" sz="1100" spc="600" kern="0" dirty="0">
                <a:solidFill>
                  <a:srgbClr val="555555"/>
                </a:solidFill>
                <a:latin typeface="Consolas" pitchFamily="34" charset="0"/>
                <a:ea typeface="Consolas" pitchFamily="34" charset="-122"/>
                <a:cs typeface="Consolas" pitchFamily="34" charset="-120"/>
              </a:rPr>
              <a:t>PART 4  ─  WEBSITE IMPROVEMENT</a:t>
            </a:r>
            <a:endParaRPr lang="en-US" sz="1100" dirty="0"/>
          </a:p>
        </p:txBody>
      </p:sp>
      <p:sp>
        <p:nvSpPr>
          <p:cNvPr id="4" name="Text 2"/>
          <p:cNvSpPr/>
          <p:nvPr/>
        </p:nvSpPr>
        <p:spPr>
          <a:xfrm>
            <a:off x="548640" y="685800"/>
            <a:ext cx="11094415" cy="640080"/>
          </a:xfrm>
          <a:prstGeom prst="rect">
            <a:avLst/>
          </a:prstGeom>
          <a:noFill/>
          <a:ln/>
        </p:spPr>
        <p:txBody>
          <a:bodyPr wrap="square" rtlCol="0" anchor="ctr"/>
          <a:lstStyle/>
          <a:p>
            <a:pPr indent="0" marL="0">
              <a:buNone/>
            </a:pPr>
            <a:r>
              <a:rPr lang="en-US" sz="3000" b="1" dirty="0">
                <a:solidFill>
                  <a:srgbClr val="EA580C"/>
                </a:solidFill>
                <a:latin typeface="Noto Serif JP" pitchFamily="34" charset="0"/>
                <a:ea typeface="Noto Serif JP" pitchFamily="34" charset="-122"/>
                <a:cs typeface="Noto Serif JP" pitchFamily="34" charset="-120"/>
              </a:rPr>
              <a:t>追加すべきコンテンツ（1/3）</a:t>
            </a:r>
            <a:endParaRPr lang="en-US" sz="3000" dirty="0"/>
          </a:p>
        </p:txBody>
      </p:sp>
      <p:sp>
        <p:nvSpPr>
          <p:cNvPr id="5" name="Shape 3"/>
          <p:cNvSpPr/>
          <p:nvPr/>
        </p:nvSpPr>
        <p:spPr>
          <a:xfrm>
            <a:off x="548640" y="1280160"/>
            <a:ext cx="11094415" cy="0"/>
          </a:xfrm>
          <a:prstGeom prst="line">
            <a:avLst/>
          </a:prstGeom>
          <a:noFill/>
          <a:ln w="12700">
            <a:solidFill>
              <a:srgbClr val="EA580C"/>
            </a:solidFill>
            <a:prstDash val="solid"/>
          </a:ln>
        </p:spPr>
      </p:sp>
      <p:sp>
        <p:nvSpPr>
          <p:cNvPr id="6" name="Text 4"/>
          <p:cNvSpPr/>
          <p:nvPr/>
        </p:nvSpPr>
        <p:spPr>
          <a:xfrm>
            <a:off x="548640" y="1371600"/>
            <a:ext cx="11094415" cy="274320"/>
          </a:xfrm>
          <a:prstGeom prst="rect">
            <a:avLst/>
          </a:prstGeom>
          <a:noFill/>
          <a:ln/>
        </p:spPr>
        <p:txBody>
          <a:bodyPr wrap="square" rtlCol="0" anchor="ctr"/>
          <a:lstStyle/>
          <a:p>
            <a:pPr indent="0" marL="0">
              <a:buNone/>
            </a:pPr>
            <a:r>
              <a:rPr lang="en-US" sz="1300" dirty="0">
                <a:solidFill>
                  <a:srgbClr val="555555"/>
                </a:solidFill>
                <a:latin typeface="Yu Gothic UI" pitchFamily="34" charset="0"/>
                <a:ea typeface="Yu Gothic UI" pitchFamily="34" charset="-122"/>
                <a:cs typeface="Yu Gothic UI" pitchFamily="34" charset="-120"/>
              </a:rPr>
              <a:t>戦略から導かれる、サイトに足すべき情報や要素</a:t>
            </a:r>
            <a:endParaRPr lang="en-US" sz="1300" dirty="0"/>
          </a:p>
        </p:txBody>
      </p:sp>
      <p:sp>
        <p:nvSpPr>
          <p:cNvPr id="7" name="Shape 5"/>
          <p:cNvSpPr/>
          <p:nvPr/>
        </p:nvSpPr>
        <p:spPr>
          <a:xfrm>
            <a:off x="548640" y="1828800"/>
            <a:ext cx="594360" cy="594360"/>
          </a:xfrm>
          <a:prstGeom prst="rect">
            <a:avLst/>
          </a:prstGeom>
          <a:solidFill>
            <a:srgbClr val="EA580C"/>
          </a:solidFill>
          <a:ln w="12700">
            <a:solidFill>
              <a:srgbClr val="EA580C"/>
            </a:solidFill>
            <a:prstDash val="solid"/>
          </a:ln>
        </p:spPr>
      </p:sp>
      <p:sp>
        <p:nvSpPr>
          <p:cNvPr id="8" name="Text 6"/>
          <p:cNvSpPr/>
          <p:nvPr/>
        </p:nvSpPr>
        <p:spPr>
          <a:xfrm>
            <a:off x="548640" y="1828800"/>
            <a:ext cx="594360" cy="594360"/>
          </a:xfrm>
          <a:prstGeom prst="rect">
            <a:avLst/>
          </a:prstGeom>
          <a:noFill/>
          <a:ln/>
        </p:spPr>
        <p:txBody>
          <a:bodyPr wrap="square" rtlCol="0" anchor="ctr"/>
          <a:lstStyle/>
          <a:p>
            <a:pPr algn="ctr" indent="0" marL="0">
              <a:buNone/>
            </a:pPr>
            <a:r>
              <a:rPr lang="en-US" sz="2200" b="1" dirty="0">
                <a:solidFill>
                  <a:srgbClr val="FFFFFF"/>
                </a:solidFill>
                <a:latin typeface="Noto Serif JP" pitchFamily="34" charset="0"/>
                <a:ea typeface="Noto Serif JP" pitchFamily="34" charset="-122"/>
                <a:cs typeface="Noto Serif JP" pitchFamily="34" charset="-120"/>
              </a:rPr>
              <a:t>1</a:t>
            </a:r>
            <a:endParaRPr lang="en-US" sz="2200" dirty="0"/>
          </a:p>
        </p:txBody>
      </p:sp>
      <p:sp>
        <p:nvSpPr>
          <p:cNvPr id="9" name="Text 7"/>
          <p:cNvSpPr/>
          <p:nvPr/>
        </p:nvSpPr>
        <p:spPr>
          <a:xfrm>
            <a:off x="1325880" y="1783080"/>
            <a:ext cx="10317175" cy="685800"/>
          </a:xfrm>
          <a:prstGeom prst="rect">
            <a:avLst/>
          </a:prstGeom>
          <a:noFill/>
          <a:ln/>
        </p:spPr>
        <p:txBody>
          <a:bodyPr wrap="square" rtlCol="0" anchor="ctr"/>
          <a:lstStyle/>
          <a:p>
            <a:pPr indent="0" marL="0">
              <a:buNone/>
            </a:pPr>
            <a:r>
              <a:rPr lang="en-US" sz="2100" b="1" dirty="0">
                <a:solidFill>
                  <a:srgbClr val="1A1A14"/>
                </a:solidFill>
                <a:latin typeface="Yu Gothic UI" pitchFamily="34" charset="0"/>
                <a:ea typeface="Yu Gothic UI" pitchFamily="34" charset="-122"/>
                <a:cs typeface="Yu Gothic UI" pitchFamily="34" charset="-120"/>
              </a:rPr>
              <a:t>資格取得者の案件受注・収入向上の実績ページ</a:t>
            </a:r>
            <a:endParaRPr lang="en-US" sz="2100" dirty="0"/>
          </a:p>
        </p:txBody>
      </p:sp>
      <p:sp>
        <p:nvSpPr>
          <p:cNvPr id="10" name="Text 8"/>
          <p:cNvSpPr/>
          <p:nvPr/>
        </p:nvSpPr>
        <p:spPr>
          <a:xfrm>
            <a:off x="1325880" y="2514600"/>
            <a:ext cx="10317175" cy="777240"/>
          </a:xfrm>
          <a:prstGeom prst="rect">
            <a:avLst/>
          </a:prstGeom>
          <a:noFill/>
          <a:ln/>
        </p:spPr>
        <p:txBody>
          <a:bodyPr wrap="square" rtlCol="0" anchor="t">
            <a:normAutofit/>
          </a:bodyPr>
          <a:lstStyle/>
          <a:p>
            <a:pPr indent="0" marL="0">
              <a:lnSpc>
                <a:spcPct val="160000"/>
              </a:lnSpc>
              <a:buNone/>
            </a:pPr>
            <a:r>
              <a:rPr lang="en-US" sz="1200" b="1" dirty="0">
                <a:solidFill>
                  <a:srgbClr val="EA580C"/>
                </a:solidFill>
                <a:latin typeface="Yu Gothic UI" pitchFamily="34" charset="0"/>
                <a:ea typeface="Yu Gothic UI" pitchFamily="34" charset="-122"/>
                <a:cs typeface="Yu Gothic UI" pitchFamily="34" charset="-120"/>
              </a:rPr>
              <a:t>理由：</a:t>
            </a:r>
            <a:pPr indent="0" marL="0">
              <a:lnSpc>
                <a:spcPct val="160000"/>
              </a:lnSpc>
              <a:buNone/>
            </a:pPr>
            <a:r>
              <a:rPr lang="en-US" sz="1200" dirty="0">
                <a:solidFill>
                  <a:srgbClr val="555555"/>
                </a:solidFill>
                <a:latin typeface="Yu Gothic UI" pitchFamily="34" charset="0"/>
                <a:ea typeface="Yu Gothic UI" pitchFamily="34" charset="-122"/>
                <a:cs typeface="Yu Gothic UI" pitchFamily="34" charset="-120"/>
              </a:rPr>
              <a:t>ターゲットである独立系コンサルタントは『資格が仕事につながるか』を最も重視する。現状サイトには学習コンテンツの説明はあるが、資格取得後に実際に案件受注・単価アップした具体的な成果事例が不足しており、意思決定の後押しができていない。</a:t>
            </a:r>
            <a:endParaRPr lang="en-US" sz="1200" dirty="0"/>
          </a:p>
        </p:txBody>
      </p:sp>
      <p:sp>
        <p:nvSpPr>
          <p:cNvPr id="11" name="Text 9"/>
          <p:cNvSpPr/>
          <p:nvPr/>
        </p:nvSpPr>
        <p:spPr>
          <a:xfrm>
            <a:off x="1325880" y="3337560"/>
            <a:ext cx="10317175" cy="777240"/>
          </a:xfrm>
          <a:prstGeom prst="rect">
            <a:avLst/>
          </a:prstGeom>
          <a:noFill/>
          <a:ln/>
        </p:spPr>
        <p:txBody>
          <a:bodyPr wrap="square" rtlCol="0" anchor="t">
            <a:normAutofit/>
          </a:bodyPr>
          <a:lstStyle/>
          <a:p>
            <a:pPr indent="0" marL="0">
              <a:lnSpc>
                <a:spcPct val="160000"/>
              </a:lnSpc>
              <a:buNone/>
            </a:pPr>
            <a:r>
              <a:rPr lang="en-US" sz="1200" b="1" dirty="0">
                <a:solidFill>
                  <a:srgbClr val="EA580C"/>
                </a:solidFill>
                <a:latin typeface="Yu Gothic UI" pitchFamily="34" charset="0"/>
                <a:ea typeface="Yu Gothic UI" pitchFamily="34" charset="-122"/>
                <a:cs typeface="Yu Gothic UI" pitchFamily="34" charset="-120"/>
              </a:rPr>
              <a:t>実装例：</a:t>
            </a:r>
            <a:pPr indent="0" marL="0">
              <a:lnSpc>
                <a:spcPct val="160000"/>
              </a:lnSpc>
              <a:buNone/>
            </a:pPr>
            <a:r>
              <a:rPr lang="en-US" sz="1200" dirty="0">
                <a:solidFill>
                  <a:srgbClr val="555555"/>
                </a:solidFill>
                <a:latin typeface="Yu Gothic UI" pitchFamily="34" charset="0"/>
                <a:ea typeface="Yu Gothic UI" pitchFamily="34" charset="-122"/>
                <a:cs typeface="Yu Gothic UI" pitchFamily="34" charset="-120"/>
              </a:rPr>
              <a:t>『AB3Cファシリテーター資格取得後、月額顧問契約を3社獲得・月収50万円アップ』などの匿名可の数値入り事例を5〜10件掲載。資格取得者インタビュー動画（3〜5分）をページ内に埋め込み、取得前後の変化をストーリー形式で語ってもらう。職種別（マーケター・診断士・デザイナー）にタブで絞り込めるUI設計にする。</a:t>
            </a:r>
            <a:endParaRPr lang="en-US" sz="1200" dirty="0"/>
          </a:p>
        </p:txBody>
      </p:sp>
      <p:sp>
        <p:nvSpPr>
          <p:cNvPr id="12" name="Shape 10"/>
          <p:cNvSpPr/>
          <p:nvPr/>
        </p:nvSpPr>
        <p:spPr>
          <a:xfrm>
            <a:off x="548640" y="4114800"/>
            <a:ext cx="594360" cy="594360"/>
          </a:xfrm>
          <a:prstGeom prst="rect">
            <a:avLst/>
          </a:prstGeom>
          <a:solidFill>
            <a:srgbClr val="EA580C"/>
          </a:solidFill>
          <a:ln w="12700">
            <a:solidFill>
              <a:srgbClr val="EA580C"/>
            </a:solidFill>
            <a:prstDash val="solid"/>
          </a:ln>
        </p:spPr>
      </p:sp>
      <p:sp>
        <p:nvSpPr>
          <p:cNvPr id="13" name="Text 11"/>
          <p:cNvSpPr/>
          <p:nvPr/>
        </p:nvSpPr>
        <p:spPr>
          <a:xfrm>
            <a:off x="548640" y="4114800"/>
            <a:ext cx="594360" cy="594360"/>
          </a:xfrm>
          <a:prstGeom prst="rect">
            <a:avLst/>
          </a:prstGeom>
          <a:noFill/>
          <a:ln/>
        </p:spPr>
        <p:txBody>
          <a:bodyPr wrap="square" rtlCol="0" anchor="ctr"/>
          <a:lstStyle/>
          <a:p>
            <a:pPr algn="ctr" indent="0" marL="0">
              <a:buNone/>
            </a:pPr>
            <a:r>
              <a:rPr lang="en-US" sz="2200" b="1" dirty="0">
                <a:solidFill>
                  <a:srgbClr val="FFFFFF"/>
                </a:solidFill>
                <a:latin typeface="Noto Serif JP" pitchFamily="34" charset="0"/>
                <a:ea typeface="Noto Serif JP" pitchFamily="34" charset="-122"/>
                <a:cs typeface="Noto Serif JP" pitchFamily="34" charset="-120"/>
              </a:rPr>
              <a:t>2</a:t>
            </a:r>
            <a:endParaRPr lang="en-US" sz="2200" dirty="0"/>
          </a:p>
        </p:txBody>
      </p:sp>
      <p:sp>
        <p:nvSpPr>
          <p:cNvPr id="14" name="Text 12"/>
          <p:cNvSpPr/>
          <p:nvPr/>
        </p:nvSpPr>
        <p:spPr>
          <a:xfrm>
            <a:off x="1325880" y="4069080"/>
            <a:ext cx="10317175" cy="685800"/>
          </a:xfrm>
          <a:prstGeom prst="rect">
            <a:avLst/>
          </a:prstGeom>
          <a:noFill/>
          <a:ln/>
        </p:spPr>
        <p:txBody>
          <a:bodyPr wrap="square" rtlCol="0" anchor="ctr"/>
          <a:lstStyle/>
          <a:p>
            <a:pPr indent="0" marL="0">
              <a:buNone/>
            </a:pPr>
            <a:r>
              <a:rPr lang="en-US" sz="2100" b="1" dirty="0">
                <a:solidFill>
                  <a:srgbClr val="1A1A14"/>
                </a:solidFill>
                <a:latin typeface="Yu Gothic UI" pitchFamily="34" charset="0"/>
                <a:ea typeface="Yu Gothic UI" pitchFamily="34" charset="-122"/>
                <a:cs typeface="Yu Gothic UI" pitchFamily="34" charset="-120"/>
              </a:rPr>
              <a:t>競合資格との比較コンテンツ（ウェブ解析士・中小企業診断士との違い）</a:t>
            </a:r>
            <a:endParaRPr lang="en-US" sz="2100" dirty="0"/>
          </a:p>
        </p:txBody>
      </p:sp>
      <p:sp>
        <p:nvSpPr>
          <p:cNvPr id="15" name="Text 13"/>
          <p:cNvSpPr/>
          <p:nvPr/>
        </p:nvSpPr>
        <p:spPr>
          <a:xfrm>
            <a:off x="1325880" y="4800600"/>
            <a:ext cx="10317175" cy="777240"/>
          </a:xfrm>
          <a:prstGeom prst="rect">
            <a:avLst/>
          </a:prstGeom>
          <a:noFill/>
          <a:ln/>
        </p:spPr>
        <p:txBody>
          <a:bodyPr wrap="square" rtlCol="0" anchor="t">
            <a:normAutofit/>
          </a:bodyPr>
          <a:lstStyle/>
          <a:p>
            <a:pPr indent="0" marL="0">
              <a:lnSpc>
                <a:spcPct val="160000"/>
              </a:lnSpc>
              <a:buNone/>
            </a:pPr>
            <a:r>
              <a:rPr lang="en-US" sz="1200" b="1" dirty="0">
                <a:solidFill>
                  <a:srgbClr val="EA580C"/>
                </a:solidFill>
                <a:latin typeface="Yu Gothic UI" pitchFamily="34" charset="0"/>
                <a:ea typeface="Yu Gothic UI" pitchFamily="34" charset="-122"/>
                <a:cs typeface="Yu Gothic UI" pitchFamily="34" charset="-120"/>
              </a:rPr>
              <a:t>理由：</a:t>
            </a:r>
            <a:pPr indent="0" marL="0">
              <a:lnSpc>
                <a:spcPct val="160000"/>
              </a:lnSpc>
              <a:buNone/>
            </a:pPr>
            <a:r>
              <a:rPr lang="en-US" sz="1200" dirty="0">
                <a:solidFill>
                  <a:srgbClr val="555555"/>
                </a:solidFill>
                <a:latin typeface="Yu Gothic UI" pitchFamily="34" charset="0"/>
                <a:ea typeface="Yu Gothic UI" pitchFamily="34" charset="-122"/>
                <a:cs typeface="Yu Gothic UI" pitchFamily="34" charset="-120"/>
              </a:rPr>
              <a:t>ターゲットはウォンツ段階にあり、すでに複数の資格を比較検討している。ウェブ解析士や中小企業診断士と何が違うのかを自分で調べる手間を省き、デジ革の資格が『戦略提案×AI×案件ネットワーク』の三位一体である点を論理的に示すことでサイト内での意思決定を完結させられる。</a:t>
            </a:r>
            <a:endParaRPr lang="en-US" sz="1200" dirty="0"/>
          </a:p>
        </p:txBody>
      </p:sp>
      <p:sp>
        <p:nvSpPr>
          <p:cNvPr id="16" name="Text 14"/>
          <p:cNvSpPr/>
          <p:nvPr/>
        </p:nvSpPr>
        <p:spPr>
          <a:xfrm>
            <a:off x="1325880" y="5623560"/>
            <a:ext cx="10317175" cy="777240"/>
          </a:xfrm>
          <a:prstGeom prst="rect">
            <a:avLst/>
          </a:prstGeom>
          <a:noFill/>
          <a:ln/>
        </p:spPr>
        <p:txBody>
          <a:bodyPr wrap="square" rtlCol="0" anchor="t">
            <a:normAutofit/>
          </a:bodyPr>
          <a:lstStyle/>
          <a:p>
            <a:pPr indent="0" marL="0">
              <a:lnSpc>
                <a:spcPct val="160000"/>
              </a:lnSpc>
              <a:buNone/>
            </a:pPr>
            <a:r>
              <a:rPr lang="en-US" sz="1200" b="1" dirty="0">
                <a:solidFill>
                  <a:srgbClr val="EA580C"/>
                </a:solidFill>
                <a:latin typeface="Yu Gothic UI" pitchFamily="34" charset="0"/>
                <a:ea typeface="Yu Gothic UI" pitchFamily="34" charset="-122"/>
                <a:cs typeface="Yu Gothic UI" pitchFamily="34" charset="-120"/>
              </a:rPr>
              <a:t>実装例：</a:t>
            </a:r>
            <a:pPr indent="0" marL="0">
              <a:lnSpc>
                <a:spcPct val="160000"/>
              </a:lnSpc>
              <a:buNone/>
            </a:pPr>
            <a:r>
              <a:rPr lang="en-US" sz="1200" dirty="0">
                <a:solidFill>
                  <a:srgbClr val="555555"/>
                </a:solidFill>
                <a:latin typeface="Yu Gothic UI" pitchFamily="34" charset="0"/>
                <a:ea typeface="Yu Gothic UI" pitchFamily="34" charset="-122"/>
                <a:cs typeface="Yu Gothic UI" pitchFamily="34" charset="-120"/>
              </a:rPr>
              <a:t>比較表形式で『学習領域／資格の位置づけ／取得後のサポート／AIツール連携／案件紹介の有無』の5軸を横断比較。『他の資格を持っている方へ』というセクションを設け、診断士資格保有者がAB3Cで何を上乗せできるかを具体的に説明するコラムを追加する。</a:t>
            </a:r>
            <a:endParaRPr lang="en-US" sz="1200" dirty="0"/>
          </a:p>
        </p:txBody>
      </p:sp>
      <p:sp>
        <p:nvSpPr>
          <p:cNvPr id="17" name="Text 15"/>
          <p:cNvSpPr/>
          <p:nvPr/>
        </p:nvSpPr>
        <p:spPr>
          <a:xfrm>
            <a:off x="548640" y="6537960"/>
            <a:ext cx="5486400" cy="228600"/>
          </a:xfrm>
          <a:prstGeom prst="rect">
            <a:avLst/>
          </a:prstGeom>
          <a:noFill/>
          <a:ln/>
        </p:spPr>
        <p:txBody>
          <a:bodyPr wrap="square" rtlCol="0" anchor="ctr"/>
          <a:lstStyle/>
          <a:p>
            <a:pPr indent="0" marL="0">
              <a:buNone/>
            </a:pPr>
            <a:r>
              <a:rPr lang="en-US" sz="900" dirty="0">
                <a:solidFill>
                  <a:srgbClr val="555555"/>
                </a:solidFill>
                <a:latin typeface="Yu Gothic UI" pitchFamily="34" charset="0"/>
                <a:ea typeface="Yu Gothic UI" pitchFamily="34" charset="-122"/>
                <a:cs typeface="Yu Gothic UI" pitchFamily="34" charset="-120"/>
              </a:rPr>
              <a:t>digi-kaku.or.jp</a:t>
            </a:r>
            <a:endParaRPr lang="en-US" sz="900" dirty="0"/>
          </a:p>
        </p:txBody>
      </p:sp>
      <p:sp>
        <p:nvSpPr>
          <p:cNvPr id="18" name="Text 16"/>
          <p:cNvSpPr/>
          <p:nvPr/>
        </p:nvSpPr>
        <p:spPr>
          <a:xfrm>
            <a:off x="6156655" y="6537960"/>
            <a:ext cx="5486400" cy="228600"/>
          </a:xfrm>
          <a:prstGeom prst="rect">
            <a:avLst/>
          </a:prstGeom>
          <a:noFill/>
          <a:ln/>
        </p:spPr>
        <p:txBody>
          <a:bodyPr wrap="square" rtlCol="0" anchor="ctr"/>
          <a:lstStyle/>
          <a:p>
            <a:pPr algn="r" indent="0" marL="0">
              <a:buNone/>
            </a:pPr>
            <a:r>
              <a:rPr lang="en-US" sz="900" dirty="0">
                <a:solidFill>
                  <a:srgbClr val="555555"/>
                </a:solidFill>
                <a:latin typeface="Yu Gothic UI" pitchFamily="34" charset="0"/>
                <a:ea typeface="Yu Gothic UI" pitchFamily="34" charset="-122"/>
                <a:cs typeface="Yu Gothic UI" pitchFamily="34" charset="-120"/>
              </a:rPr>
              <a:t>戦略指南 AI / AB3C 分析レポート　17 / 27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EA580C"/>
          </a:solidFill>
          <a:ln w="12700">
            <a:solidFill>
              <a:srgbClr val="EA580C"/>
            </a:solidFill>
            <a:prstDash val="solid"/>
          </a:ln>
        </p:spPr>
      </p:sp>
      <p:sp>
        <p:nvSpPr>
          <p:cNvPr id="3" name="Text 1"/>
          <p:cNvSpPr/>
          <p:nvPr/>
        </p:nvSpPr>
        <p:spPr>
          <a:xfrm>
            <a:off x="548640" y="411480"/>
            <a:ext cx="11094415" cy="274320"/>
          </a:xfrm>
          <a:prstGeom prst="rect">
            <a:avLst/>
          </a:prstGeom>
          <a:noFill/>
          <a:ln/>
        </p:spPr>
        <p:txBody>
          <a:bodyPr wrap="square" rtlCol="0" anchor="ctr"/>
          <a:lstStyle/>
          <a:p>
            <a:pPr indent="0" marL="0">
              <a:buNone/>
            </a:pPr>
            <a:r>
              <a:rPr lang="en-US" sz="1100" spc="600" kern="0" dirty="0">
                <a:solidFill>
                  <a:srgbClr val="555555"/>
                </a:solidFill>
                <a:latin typeface="Consolas" pitchFamily="34" charset="0"/>
                <a:ea typeface="Consolas" pitchFamily="34" charset="-122"/>
                <a:cs typeface="Consolas" pitchFamily="34" charset="-120"/>
              </a:rPr>
              <a:t>PART 4  ─  WEBSITE IMPROVEMENT</a:t>
            </a:r>
            <a:endParaRPr lang="en-US" sz="1100" dirty="0"/>
          </a:p>
        </p:txBody>
      </p:sp>
      <p:sp>
        <p:nvSpPr>
          <p:cNvPr id="4" name="Text 2"/>
          <p:cNvSpPr/>
          <p:nvPr/>
        </p:nvSpPr>
        <p:spPr>
          <a:xfrm>
            <a:off x="548640" y="685800"/>
            <a:ext cx="11094415" cy="640080"/>
          </a:xfrm>
          <a:prstGeom prst="rect">
            <a:avLst/>
          </a:prstGeom>
          <a:noFill/>
          <a:ln/>
        </p:spPr>
        <p:txBody>
          <a:bodyPr wrap="square" rtlCol="0" anchor="ctr"/>
          <a:lstStyle/>
          <a:p>
            <a:pPr indent="0" marL="0">
              <a:buNone/>
            </a:pPr>
            <a:r>
              <a:rPr lang="en-US" sz="3000" b="1" dirty="0">
                <a:solidFill>
                  <a:srgbClr val="EA580C"/>
                </a:solidFill>
                <a:latin typeface="Noto Serif JP" pitchFamily="34" charset="0"/>
                <a:ea typeface="Noto Serif JP" pitchFamily="34" charset="-122"/>
                <a:cs typeface="Noto Serif JP" pitchFamily="34" charset="-120"/>
              </a:rPr>
              <a:t>追加すべきコンテンツ（2/3）</a:t>
            </a:r>
            <a:endParaRPr lang="en-US" sz="3000" dirty="0"/>
          </a:p>
        </p:txBody>
      </p:sp>
      <p:sp>
        <p:nvSpPr>
          <p:cNvPr id="5" name="Shape 3"/>
          <p:cNvSpPr/>
          <p:nvPr/>
        </p:nvSpPr>
        <p:spPr>
          <a:xfrm>
            <a:off x="548640" y="1280160"/>
            <a:ext cx="11094415" cy="0"/>
          </a:xfrm>
          <a:prstGeom prst="line">
            <a:avLst/>
          </a:prstGeom>
          <a:noFill/>
          <a:ln w="12700">
            <a:solidFill>
              <a:srgbClr val="EA580C"/>
            </a:solidFill>
            <a:prstDash val="solid"/>
          </a:ln>
        </p:spPr>
      </p:sp>
      <p:sp>
        <p:nvSpPr>
          <p:cNvPr id="6" name="Text 4"/>
          <p:cNvSpPr/>
          <p:nvPr/>
        </p:nvSpPr>
        <p:spPr>
          <a:xfrm>
            <a:off x="548640" y="1371600"/>
            <a:ext cx="11094415" cy="274320"/>
          </a:xfrm>
          <a:prstGeom prst="rect">
            <a:avLst/>
          </a:prstGeom>
          <a:noFill/>
          <a:ln/>
        </p:spPr>
        <p:txBody>
          <a:bodyPr wrap="square" rtlCol="0" anchor="ctr"/>
          <a:lstStyle/>
          <a:p>
            <a:pPr indent="0" marL="0">
              <a:buNone/>
            </a:pPr>
            <a:r>
              <a:rPr lang="en-US" sz="1300" dirty="0">
                <a:solidFill>
                  <a:srgbClr val="555555"/>
                </a:solidFill>
                <a:latin typeface="Yu Gothic UI" pitchFamily="34" charset="0"/>
                <a:ea typeface="Yu Gothic UI" pitchFamily="34" charset="-122"/>
                <a:cs typeface="Yu Gothic UI" pitchFamily="34" charset="-120"/>
              </a:rPr>
              <a:t>戦略から導かれる、サイトに足すべき情報や要素</a:t>
            </a:r>
            <a:endParaRPr lang="en-US" sz="1300" dirty="0"/>
          </a:p>
        </p:txBody>
      </p:sp>
      <p:sp>
        <p:nvSpPr>
          <p:cNvPr id="7" name="Shape 5"/>
          <p:cNvSpPr/>
          <p:nvPr/>
        </p:nvSpPr>
        <p:spPr>
          <a:xfrm>
            <a:off x="548640" y="1828800"/>
            <a:ext cx="594360" cy="594360"/>
          </a:xfrm>
          <a:prstGeom prst="rect">
            <a:avLst/>
          </a:prstGeom>
          <a:solidFill>
            <a:srgbClr val="EA580C"/>
          </a:solidFill>
          <a:ln w="12700">
            <a:solidFill>
              <a:srgbClr val="EA580C"/>
            </a:solidFill>
            <a:prstDash val="solid"/>
          </a:ln>
        </p:spPr>
      </p:sp>
      <p:sp>
        <p:nvSpPr>
          <p:cNvPr id="8" name="Text 6"/>
          <p:cNvSpPr/>
          <p:nvPr/>
        </p:nvSpPr>
        <p:spPr>
          <a:xfrm>
            <a:off x="548640" y="1828800"/>
            <a:ext cx="594360" cy="594360"/>
          </a:xfrm>
          <a:prstGeom prst="rect">
            <a:avLst/>
          </a:prstGeom>
          <a:noFill/>
          <a:ln/>
        </p:spPr>
        <p:txBody>
          <a:bodyPr wrap="square" rtlCol="0" anchor="ctr"/>
          <a:lstStyle/>
          <a:p>
            <a:pPr algn="ctr" indent="0" marL="0">
              <a:buNone/>
            </a:pPr>
            <a:r>
              <a:rPr lang="en-US" sz="2200" b="1" dirty="0">
                <a:solidFill>
                  <a:srgbClr val="FFFFFF"/>
                </a:solidFill>
                <a:latin typeface="Noto Serif JP" pitchFamily="34" charset="0"/>
                <a:ea typeface="Noto Serif JP" pitchFamily="34" charset="-122"/>
                <a:cs typeface="Noto Serif JP" pitchFamily="34" charset="-120"/>
              </a:rPr>
              <a:t>3</a:t>
            </a:r>
            <a:endParaRPr lang="en-US" sz="2200" dirty="0"/>
          </a:p>
        </p:txBody>
      </p:sp>
      <p:sp>
        <p:nvSpPr>
          <p:cNvPr id="9" name="Text 7"/>
          <p:cNvSpPr/>
          <p:nvPr/>
        </p:nvSpPr>
        <p:spPr>
          <a:xfrm>
            <a:off x="1325880" y="1783080"/>
            <a:ext cx="10317175" cy="685800"/>
          </a:xfrm>
          <a:prstGeom prst="rect">
            <a:avLst/>
          </a:prstGeom>
          <a:noFill/>
          <a:ln/>
        </p:spPr>
        <p:txBody>
          <a:bodyPr wrap="square" rtlCol="0" anchor="ctr"/>
          <a:lstStyle/>
          <a:p>
            <a:pPr indent="0" marL="0">
              <a:buNone/>
            </a:pPr>
            <a:r>
              <a:rPr lang="en-US" sz="2100" b="1" dirty="0">
                <a:solidFill>
                  <a:srgbClr val="1A1A14"/>
                </a:solidFill>
                <a:latin typeface="Yu Gothic UI" pitchFamily="34" charset="0"/>
                <a:ea typeface="Yu Gothic UI" pitchFamily="34" charset="-122"/>
                <a:cs typeface="Yu Gothic UI" pitchFamily="34" charset="-120"/>
              </a:rPr>
              <a:t>戦略指南AIの無料体験デモページ</a:t>
            </a:r>
            <a:endParaRPr lang="en-US" sz="2100" dirty="0"/>
          </a:p>
        </p:txBody>
      </p:sp>
      <p:sp>
        <p:nvSpPr>
          <p:cNvPr id="10" name="Text 8"/>
          <p:cNvSpPr/>
          <p:nvPr/>
        </p:nvSpPr>
        <p:spPr>
          <a:xfrm>
            <a:off x="1325880" y="2514600"/>
            <a:ext cx="10317175" cy="777240"/>
          </a:xfrm>
          <a:prstGeom prst="rect">
            <a:avLst/>
          </a:prstGeom>
          <a:noFill/>
          <a:ln/>
        </p:spPr>
        <p:txBody>
          <a:bodyPr wrap="square" rtlCol="0" anchor="t">
            <a:normAutofit/>
          </a:bodyPr>
          <a:lstStyle/>
          <a:p>
            <a:pPr indent="0" marL="0">
              <a:lnSpc>
                <a:spcPct val="160000"/>
              </a:lnSpc>
              <a:buNone/>
            </a:pPr>
            <a:r>
              <a:rPr lang="en-US" sz="1200" b="1" dirty="0">
                <a:solidFill>
                  <a:srgbClr val="EA580C"/>
                </a:solidFill>
                <a:latin typeface="Yu Gothic UI" pitchFamily="34" charset="0"/>
                <a:ea typeface="Yu Gothic UI" pitchFamily="34" charset="-122"/>
                <a:cs typeface="Yu Gothic UI" pitchFamily="34" charset="-120"/>
              </a:rPr>
              <a:t>理由：</a:t>
            </a:r>
            <a:pPr indent="0" marL="0">
              <a:lnSpc>
                <a:spcPct val="160000"/>
              </a:lnSpc>
              <a:buNone/>
            </a:pPr>
            <a:r>
              <a:rPr lang="en-US" sz="1200" dirty="0">
                <a:solidFill>
                  <a:srgbClr val="555555"/>
                </a:solidFill>
                <a:latin typeface="Yu Gothic UI" pitchFamily="34" charset="0"/>
                <a:ea typeface="Yu Gothic UI" pitchFamily="34" charset="-122"/>
                <a:cs typeface="Yu Gothic UI" pitchFamily="34" charset="-120"/>
              </a:rPr>
              <a:t>『AB3Cフレームワークを実装した国内唯一の戦略策定AI』という最強の差別化ポイントがサイト上でほぼ体験できない状態は機会損失。独立系コンサルタントはツールの実用性を自分で確かめてから購入判断する傾向が強く、体験させることがそのまま入会・資格申込への最短経路になる。</a:t>
            </a:r>
            <a:endParaRPr lang="en-US" sz="1200" dirty="0"/>
          </a:p>
        </p:txBody>
      </p:sp>
      <p:sp>
        <p:nvSpPr>
          <p:cNvPr id="11" name="Text 9"/>
          <p:cNvSpPr/>
          <p:nvPr/>
        </p:nvSpPr>
        <p:spPr>
          <a:xfrm>
            <a:off x="1325880" y="3337560"/>
            <a:ext cx="10317175" cy="777240"/>
          </a:xfrm>
          <a:prstGeom prst="rect">
            <a:avLst/>
          </a:prstGeom>
          <a:noFill/>
          <a:ln/>
        </p:spPr>
        <p:txBody>
          <a:bodyPr wrap="square" rtlCol="0" anchor="t">
            <a:normAutofit/>
          </a:bodyPr>
          <a:lstStyle/>
          <a:p>
            <a:pPr indent="0" marL="0">
              <a:lnSpc>
                <a:spcPct val="160000"/>
              </a:lnSpc>
              <a:buNone/>
            </a:pPr>
            <a:r>
              <a:rPr lang="en-US" sz="1200" b="1" dirty="0">
                <a:solidFill>
                  <a:srgbClr val="EA580C"/>
                </a:solidFill>
                <a:latin typeface="Yu Gothic UI" pitchFamily="34" charset="0"/>
                <a:ea typeface="Yu Gothic UI" pitchFamily="34" charset="-122"/>
                <a:cs typeface="Yu Gothic UI" pitchFamily="34" charset="-120"/>
              </a:rPr>
              <a:t>実装例：</a:t>
            </a:r>
            <a:pPr indent="0" marL="0">
              <a:lnSpc>
                <a:spcPct val="160000"/>
              </a:lnSpc>
              <a:buNone/>
            </a:pPr>
            <a:r>
              <a:rPr lang="en-US" sz="1200" dirty="0">
                <a:solidFill>
                  <a:srgbClr val="555555"/>
                </a:solidFill>
                <a:latin typeface="Yu Gothic UI" pitchFamily="34" charset="0"/>
                <a:ea typeface="Yu Gothic UI" pitchFamily="34" charset="-122"/>
                <a:cs typeface="Yu Gothic UI" pitchFamily="34" charset="-120"/>
              </a:rPr>
              <a:t>トップページと資格紹介ページの両方に『URLを入力して30秒で戦略分析を体験する』ボタンを配置。自社のURLを入力すると競合分析・強み抽出のサンプル出力が表示されるデモ機能を実装（フル機能は会員限定）。体験後に『この分析を提案書に使いたい方はこちら』というCTAで資格申込ページへ誘導する。</a:t>
            </a:r>
            <a:endParaRPr lang="en-US" sz="1200" dirty="0"/>
          </a:p>
        </p:txBody>
      </p:sp>
      <p:sp>
        <p:nvSpPr>
          <p:cNvPr id="12" name="Shape 10"/>
          <p:cNvSpPr/>
          <p:nvPr/>
        </p:nvSpPr>
        <p:spPr>
          <a:xfrm>
            <a:off x="548640" y="4114800"/>
            <a:ext cx="594360" cy="594360"/>
          </a:xfrm>
          <a:prstGeom prst="rect">
            <a:avLst/>
          </a:prstGeom>
          <a:solidFill>
            <a:srgbClr val="EA580C"/>
          </a:solidFill>
          <a:ln w="12700">
            <a:solidFill>
              <a:srgbClr val="EA580C"/>
            </a:solidFill>
            <a:prstDash val="solid"/>
          </a:ln>
        </p:spPr>
      </p:sp>
      <p:sp>
        <p:nvSpPr>
          <p:cNvPr id="13" name="Text 11"/>
          <p:cNvSpPr/>
          <p:nvPr/>
        </p:nvSpPr>
        <p:spPr>
          <a:xfrm>
            <a:off x="548640" y="4114800"/>
            <a:ext cx="594360" cy="594360"/>
          </a:xfrm>
          <a:prstGeom prst="rect">
            <a:avLst/>
          </a:prstGeom>
          <a:noFill/>
          <a:ln/>
        </p:spPr>
        <p:txBody>
          <a:bodyPr wrap="square" rtlCol="0" anchor="ctr"/>
          <a:lstStyle/>
          <a:p>
            <a:pPr algn="ctr" indent="0" marL="0">
              <a:buNone/>
            </a:pPr>
            <a:r>
              <a:rPr lang="en-US" sz="2200" b="1" dirty="0">
                <a:solidFill>
                  <a:srgbClr val="FFFFFF"/>
                </a:solidFill>
                <a:latin typeface="Noto Serif JP" pitchFamily="34" charset="0"/>
                <a:ea typeface="Noto Serif JP" pitchFamily="34" charset="-122"/>
                <a:cs typeface="Noto Serif JP" pitchFamily="34" charset="-120"/>
              </a:rPr>
              <a:t>4</a:t>
            </a:r>
            <a:endParaRPr lang="en-US" sz="2200" dirty="0"/>
          </a:p>
        </p:txBody>
      </p:sp>
      <p:sp>
        <p:nvSpPr>
          <p:cNvPr id="14" name="Text 12"/>
          <p:cNvSpPr/>
          <p:nvPr/>
        </p:nvSpPr>
        <p:spPr>
          <a:xfrm>
            <a:off x="1325880" y="4069080"/>
            <a:ext cx="10317175" cy="685800"/>
          </a:xfrm>
          <a:prstGeom prst="rect">
            <a:avLst/>
          </a:prstGeom>
          <a:noFill/>
          <a:ln/>
        </p:spPr>
        <p:txBody>
          <a:bodyPr wrap="square" rtlCol="0" anchor="ctr"/>
          <a:lstStyle/>
          <a:p>
            <a:pPr indent="0" marL="0">
              <a:buNone/>
            </a:pPr>
            <a:r>
              <a:rPr lang="en-US" sz="2100" b="1" dirty="0">
                <a:solidFill>
                  <a:srgbClr val="1A1A14"/>
                </a:solidFill>
                <a:latin typeface="Yu Gothic UI" pitchFamily="34" charset="0"/>
                <a:ea typeface="Yu Gothic UI" pitchFamily="34" charset="-122"/>
                <a:cs typeface="Yu Gothic UI" pitchFamily="34" charset="-120"/>
              </a:rPr>
              <a:t>代表・権成俊の実績を一覧化した権威性証明ページ</a:t>
            </a:r>
            <a:endParaRPr lang="en-US" sz="2100" dirty="0"/>
          </a:p>
        </p:txBody>
      </p:sp>
      <p:sp>
        <p:nvSpPr>
          <p:cNvPr id="15" name="Text 13"/>
          <p:cNvSpPr/>
          <p:nvPr/>
        </p:nvSpPr>
        <p:spPr>
          <a:xfrm>
            <a:off x="1325880" y="4800600"/>
            <a:ext cx="10317175" cy="777240"/>
          </a:xfrm>
          <a:prstGeom prst="rect">
            <a:avLst/>
          </a:prstGeom>
          <a:noFill/>
          <a:ln/>
        </p:spPr>
        <p:txBody>
          <a:bodyPr wrap="square" rtlCol="0" anchor="t">
            <a:normAutofit/>
          </a:bodyPr>
          <a:lstStyle/>
          <a:p>
            <a:pPr indent="0" marL="0">
              <a:lnSpc>
                <a:spcPct val="160000"/>
              </a:lnSpc>
              <a:buNone/>
            </a:pPr>
            <a:r>
              <a:rPr lang="en-US" sz="1200" b="1" dirty="0">
                <a:solidFill>
                  <a:srgbClr val="EA580C"/>
                </a:solidFill>
                <a:latin typeface="Yu Gothic UI" pitchFamily="34" charset="0"/>
                <a:ea typeface="Yu Gothic UI" pitchFamily="34" charset="-122"/>
                <a:cs typeface="Yu Gothic UI" pitchFamily="34" charset="-120"/>
              </a:rPr>
              <a:t>理由：</a:t>
            </a:r>
            <a:pPr indent="0" marL="0">
              <a:lnSpc>
                <a:spcPct val="160000"/>
              </a:lnSpc>
              <a:buNone/>
            </a:pPr>
            <a:r>
              <a:rPr lang="en-US" sz="1200" dirty="0">
                <a:solidFill>
                  <a:srgbClr val="555555"/>
                </a:solidFill>
                <a:latin typeface="Yu Gothic UI" pitchFamily="34" charset="0"/>
                <a:ea typeface="Yu Gothic UI" pitchFamily="34" charset="-122"/>
                <a:cs typeface="Yu Gothic UI" pitchFamily="34" charset="-120"/>
              </a:rPr>
              <a:t>翔泳社・技術評論社著書、日経クロストレンド連載、2002年創業という圧倒的な先行実績が現状のサイトでは散在しており、初訪問者が30秒で信頼できるか判断できない構造になっている。独立系専門家は『誰から学ぶか』を重視するため、権威性の集約表示が申込率に直結する。</a:t>
            </a:r>
            <a:endParaRPr lang="en-US" sz="1200" dirty="0"/>
          </a:p>
        </p:txBody>
      </p:sp>
      <p:sp>
        <p:nvSpPr>
          <p:cNvPr id="16" name="Text 14"/>
          <p:cNvSpPr/>
          <p:nvPr/>
        </p:nvSpPr>
        <p:spPr>
          <a:xfrm>
            <a:off x="1325880" y="5623560"/>
            <a:ext cx="10317175" cy="777240"/>
          </a:xfrm>
          <a:prstGeom prst="rect">
            <a:avLst/>
          </a:prstGeom>
          <a:noFill/>
          <a:ln/>
        </p:spPr>
        <p:txBody>
          <a:bodyPr wrap="square" rtlCol="0" anchor="t">
            <a:normAutofit/>
          </a:bodyPr>
          <a:lstStyle/>
          <a:p>
            <a:pPr indent="0" marL="0">
              <a:lnSpc>
                <a:spcPct val="160000"/>
              </a:lnSpc>
              <a:buNone/>
            </a:pPr>
            <a:r>
              <a:rPr lang="en-US" sz="1200" b="1" dirty="0">
                <a:solidFill>
                  <a:srgbClr val="EA580C"/>
                </a:solidFill>
                <a:latin typeface="Yu Gothic UI" pitchFamily="34" charset="0"/>
                <a:ea typeface="Yu Gothic UI" pitchFamily="34" charset="-122"/>
                <a:cs typeface="Yu Gothic UI" pitchFamily="34" charset="-120"/>
              </a:rPr>
              <a:t>実装例：</a:t>
            </a:r>
            <a:pPr indent="0" marL="0">
              <a:lnSpc>
                <a:spcPct val="160000"/>
              </a:lnSpc>
              <a:buNone/>
            </a:pPr>
            <a:r>
              <a:rPr lang="en-US" sz="1200" dirty="0">
                <a:solidFill>
                  <a:srgbClr val="555555"/>
                </a:solidFill>
                <a:latin typeface="Yu Gothic UI" pitchFamily="34" charset="0"/>
                <a:ea typeface="Yu Gothic UI" pitchFamily="34" charset="-122"/>
                <a:cs typeface="Yu Gothic UI" pitchFamily="34" charset="-120"/>
              </a:rPr>
              <a:t>『代表プロフィール』ページを刷新し、①著書カバー画像と出版社ロゴ、②日経クロストレンド連載のスクリーンショット、③2002年創業〜現在までのタイムライン、④メディア掲載ロゴ一覧（日経・翔泳社・技術評論社）をファーストビューに集約。冒頭に『ウェブコンサルタントの先駆者として20年間、中小企業の経営を変えてきた』という一文をH1に設定する。</a:t>
            </a:r>
            <a:endParaRPr lang="en-US" sz="1200" dirty="0"/>
          </a:p>
        </p:txBody>
      </p:sp>
      <p:sp>
        <p:nvSpPr>
          <p:cNvPr id="17" name="Text 15"/>
          <p:cNvSpPr/>
          <p:nvPr/>
        </p:nvSpPr>
        <p:spPr>
          <a:xfrm>
            <a:off x="548640" y="6537960"/>
            <a:ext cx="5486400" cy="228600"/>
          </a:xfrm>
          <a:prstGeom prst="rect">
            <a:avLst/>
          </a:prstGeom>
          <a:noFill/>
          <a:ln/>
        </p:spPr>
        <p:txBody>
          <a:bodyPr wrap="square" rtlCol="0" anchor="ctr"/>
          <a:lstStyle/>
          <a:p>
            <a:pPr indent="0" marL="0">
              <a:buNone/>
            </a:pPr>
            <a:r>
              <a:rPr lang="en-US" sz="900" dirty="0">
                <a:solidFill>
                  <a:srgbClr val="555555"/>
                </a:solidFill>
                <a:latin typeface="Yu Gothic UI" pitchFamily="34" charset="0"/>
                <a:ea typeface="Yu Gothic UI" pitchFamily="34" charset="-122"/>
                <a:cs typeface="Yu Gothic UI" pitchFamily="34" charset="-120"/>
              </a:rPr>
              <a:t>digi-kaku.or.jp</a:t>
            </a:r>
            <a:endParaRPr lang="en-US" sz="900" dirty="0"/>
          </a:p>
        </p:txBody>
      </p:sp>
      <p:sp>
        <p:nvSpPr>
          <p:cNvPr id="18" name="Text 16"/>
          <p:cNvSpPr/>
          <p:nvPr/>
        </p:nvSpPr>
        <p:spPr>
          <a:xfrm>
            <a:off x="6156655" y="6537960"/>
            <a:ext cx="5486400" cy="228600"/>
          </a:xfrm>
          <a:prstGeom prst="rect">
            <a:avLst/>
          </a:prstGeom>
          <a:noFill/>
          <a:ln/>
        </p:spPr>
        <p:txBody>
          <a:bodyPr wrap="square" rtlCol="0" anchor="ctr"/>
          <a:lstStyle/>
          <a:p>
            <a:pPr algn="r" indent="0" marL="0">
              <a:buNone/>
            </a:pPr>
            <a:r>
              <a:rPr lang="en-US" sz="900" dirty="0">
                <a:solidFill>
                  <a:srgbClr val="555555"/>
                </a:solidFill>
                <a:latin typeface="Yu Gothic UI" pitchFamily="34" charset="0"/>
                <a:ea typeface="Yu Gothic UI" pitchFamily="34" charset="-122"/>
                <a:cs typeface="Yu Gothic UI" pitchFamily="34" charset="-120"/>
              </a:rPr>
              <a:t>戦略指南 AI / AB3C 分析レポート　18 / 27</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EA580C"/>
          </a:solidFill>
          <a:ln w="12700">
            <a:solidFill>
              <a:srgbClr val="EA580C"/>
            </a:solidFill>
            <a:prstDash val="solid"/>
          </a:ln>
        </p:spPr>
      </p:sp>
      <p:sp>
        <p:nvSpPr>
          <p:cNvPr id="3" name="Text 1"/>
          <p:cNvSpPr/>
          <p:nvPr/>
        </p:nvSpPr>
        <p:spPr>
          <a:xfrm>
            <a:off x="548640" y="411480"/>
            <a:ext cx="11094415" cy="274320"/>
          </a:xfrm>
          <a:prstGeom prst="rect">
            <a:avLst/>
          </a:prstGeom>
          <a:noFill/>
          <a:ln/>
        </p:spPr>
        <p:txBody>
          <a:bodyPr wrap="square" rtlCol="0" anchor="ctr"/>
          <a:lstStyle/>
          <a:p>
            <a:pPr indent="0" marL="0">
              <a:buNone/>
            </a:pPr>
            <a:r>
              <a:rPr lang="en-US" sz="1100" spc="600" kern="0" dirty="0">
                <a:solidFill>
                  <a:srgbClr val="555555"/>
                </a:solidFill>
                <a:latin typeface="Consolas" pitchFamily="34" charset="0"/>
                <a:ea typeface="Consolas" pitchFamily="34" charset="-122"/>
                <a:cs typeface="Consolas" pitchFamily="34" charset="-120"/>
              </a:rPr>
              <a:t>PART 4  ─  WEBSITE IMPROVEMENT</a:t>
            </a:r>
            <a:endParaRPr lang="en-US" sz="1100" dirty="0"/>
          </a:p>
        </p:txBody>
      </p:sp>
      <p:sp>
        <p:nvSpPr>
          <p:cNvPr id="4" name="Text 2"/>
          <p:cNvSpPr/>
          <p:nvPr/>
        </p:nvSpPr>
        <p:spPr>
          <a:xfrm>
            <a:off x="548640" y="685800"/>
            <a:ext cx="11094415" cy="640080"/>
          </a:xfrm>
          <a:prstGeom prst="rect">
            <a:avLst/>
          </a:prstGeom>
          <a:noFill/>
          <a:ln/>
        </p:spPr>
        <p:txBody>
          <a:bodyPr wrap="square" rtlCol="0" anchor="ctr"/>
          <a:lstStyle/>
          <a:p>
            <a:pPr indent="0" marL="0">
              <a:buNone/>
            </a:pPr>
            <a:r>
              <a:rPr lang="en-US" sz="3000" b="1" dirty="0">
                <a:solidFill>
                  <a:srgbClr val="EA580C"/>
                </a:solidFill>
                <a:latin typeface="Noto Serif JP" pitchFamily="34" charset="0"/>
                <a:ea typeface="Noto Serif JP" pitchFamily="34" charset="-122"/>
                <a:cs typeface="Noto Serif JP" pitchFamily="34" charset="-120"/>
              </a:rPr>
              <a:t>追加すべきコンテンツ（3/3）</a:t>
            </a:r>
            <a:endParaRPr lang="en-US" sz="3000" dirty="0"/>
          </a:p>
        </p:txBody>
      </p:sp>
      <p:sp>
        <p:nvSpPr>
          <p:cNvPr id="5" name="Shape 3"/>
          <p:cNvSpPr/>
          <p:nvPr/>
        </p:nvSpPr>
        <p:spPr>
          <a:xfrm>
            <a:off x="548640" y="1280160"/>
            <a:ext cx="11094415" cy="0"/>
          </a:xfrm>
          <a:prstGeom prst="line">
            <a:avLst/>
          </a:prstGeom>
          <a:noFill/>
          <a:ln w="12700">
            <a:solidFill>
              <a:srgbClr val="EA580C"/>
            </a:solidFill>
            <a:prstDash val="solid"/>
          </a:ln>
        </p:spPr>
      </p:sp>
      <p:sp>
        <p:nvSpPr>
          <p:cNvPr id="6" name="Text 4"/>
          <p:cNvSpPr/>
          <p:nvPr/>
        </p:nvSpPr>
        <p:spPr>
          <a:xfrm>
            <a:off x="548640" y="1371600"/>
            <a:ext cx="11094415" cy="274320"/>
          </a:xfrm>
          <a:prstGeom prst="rect">
            <a:avLst/>
          </a:prstGeom>
          <a:noFill/>
          <a:ln/>
        </p:spPr>
        <p:txBody>
          <a:bodyPr wrap="square" rtlCol="0" anchor="ctr"/>
          <a:lstStyle/>
          <a:p>
            <a:pPr indent="0" marL="0">
              <a:buNone/>
            </a:pPr>
            <a:r>
              <a:rPr lang="en-US" sz="1300" dirty="0">
                <a:solidFill>
                  <a:srgbClr val="555555"/>
                </a:solidFill>
                <a:latin typeface="Yu Gothic UI" pitchFamily="34" charset="0"/>
                <a:ea typeface="Yu Gothic UI" pitchFamily="34" charset="-122"/>
                <a:cs typeface="Yu Gothic UI" pitchFamily="34" charset="-120"/>
              </a:rPr>
              <a:t>戦略から導かれる、サイトに足すべき情報や要素</a:t>
            </a:r>
            <a:endParaRPr lang="en-US" sz="1300" dirty="0"/>
          </a:p>
        </p:txBody>
      </p:sp>
      <p:sp>
        <p:nvSpPr>
          <p:cNvPr id="7" name="Shape 5"/>
          <p:cNvSpPr/>
          <p:nvPr/>
        </p:nvSpPr>
        <p:spPr>
          <a:xfrm>
            <a:off x="548640" y="1828800"/>
            <a:ext cx="594360" cy="594360"/>
          </a:xfrm>
          <a:prstGeom prst="rect">
            <a:avLst/>
          </a:prstGeom>
          <a:solidFill>
            <a:srgbClr val="EA580C"/>
          </a:solidFill>
          <a:ln w="12700">
            <a:solidFill>
              <a:srgbClr val="EA580C"/>
            </a:solidFill>
            <a:prstDash val="solid"/>
          </a:ln>
        </p:spPr>
      </p:sp>
      <p:sp>
        <p:nvSpPr>
          <p:cNvPr id="8" name="Text 6"/>
          <p:cNvSpPr/>
          <p:nvPr/>
        </p:nvSpPr>
        <p:spPr>
          <a:xfrm>
            <a:off x="548640" y="1828800"/>
            <a:ext cx="594360" cy="594360"/>
          </a:xfrm>
          <a:prstGeom prst="rect">
            <a:avLst/>
          </a:prstGeom>
          <a:noFill/>
          <a:ln/>
        </p:spPr>
        <p:txBody>
          <a:bodyPr wrap="square" rtlCol="0" anchor="ctr"/>
          <a:lstStyle/>
          <a:p>
            <a:pPr algn="ctr" indent="0" marL="0">
              <a:buNone/>
            </a:pPr>
            <a:r>
              <a:rPr lang="en-US" sz="2200" b="1" dirty="0">
                <a:solidFill>
                  <a:srgbClr val="FFFFFF"/>
                </a:solidFill>
                <a:latin typeface="Noto Serif JP" pitchFamily="34" charset="0"/>
                <a:ea typeface="Noto Serif JP" pitchFamily="34" charset="-122"/>
                <a:cs typeface="Noto Serif JP" pitchFamily="34" charset="-120"/>
              </a:rPr>
              <a:t>5</a:t>
            </a:r>
            <a:endParaRPr lang="en-US" sz="2200" dirty="0"/>
          </a:p>
        </p:txBody>
      </p:sp>
      <p:sp>
        <p:nvSpPr>
          <p:cNvPr id="9" name="Text 7"/>
          <p:cNvSpPr/>
          <p:nvPr/>
        </p:nvSpPr>
        <p:spPr>
          <a:xfrm>
            <a:off x="1325880" y="1783080"/>
            <a:ext cx="10317175" cy="685800"/>
          </a:xfrm>
          <a:prstGeom prst="rect">
            <a:avLst/>
          </a:prstGeom>
          <a:noFill/>
          <a:ln/>
        </p:spPr>
        <p:txBody>
          <a:bodyPr wrap="square" rtlCol="0" anchor="ctr"/>
          <a:lstStyle/>
          <a:p>
            <a:pPr indent="0" marL="0">
              <a:buNone/>
            </a:pPr>
            <a:r>
              <a:rPr lang="en-US" sz="2100" b="1" dirty="0">
                <a:solidFill>
                  <a:srgbClr val="1A1A14"/>
                </a:solidFill>
                <a:latin typeface="Yu Gothic UI" pitchFamily="34" charset="0"/>
                <a:ea typeface="Yu Gothic UI" pitchFamily="34" charset="-122"/>
                <a:cs typeface="Yu Gothic UI" pitchFamily="34" charset="-120"/>
              </a:rPr>
              <a:t>月例定例会・コミュニティ活動のリアルレポートブログ</a:t>
            </a:r>
            <a:endParaRPr lang="en-US" sz="2100" dirty="0"/>
          </a:p>
        </p:txBody>
      </p:sp>
      <p:sp>
        <p:nvSpPr>
          <p:cNvPr id="10" name="Text 8"/>
          <p:cNvSpPr/>
          <p:nvPr/>
        </p:nvSpPr>
        <p:spPr>
          <a:xfrm>
            <a:off x="1325880" y="2514600"/>
            <a:ext cx="10317175" cy="777240"/>
          </a:xfrm>
          <a:prstGeom prst="rect">
            <a:avLst/>
          </a:prstGeom>
          <a:noFill/>
          <a:ln/>
        </p:spPr>
        <p:txBody>
          <a:bodyPr wrap="square" rtlCol="0" anchor="t">
            <a:normAutofit/>
          </a:bodyPr>
          <a:lstStyle/>
          <a:p>
            <a:pPr indent="0" marL="0">
              <a:lnSpc>
                <a:spcPct val="160000"/>
              </a:lnSpc>
              <a:buNone/>
            </a:pPr>
            <a:r>
              <a:rPr lang="en-US" sz="1200" b="1" dirty="0">
                <a:solidFill>
                  <a:srgbClr val="EA580C"/>
                </a:solidFill>
                <a:latin typeface="Yu Gothic UI" pitchFamily="34" charset="0"/>
                <a:ea typeface="Yu Gothic UI" pitchFamily="34" charset="-122"/>
                <a:cs typeface="Yu Gothic UI" pitchFamily="34" charset="-120"/>
              </a:rPr>
              <a:t>理由：</a:t>
            </a:r>
            <a:pPr indent="0" marL="0">
              <a:lnSpc>
                <a:spcPct val="160000"/>
              </a:lnSpc>
              <a:buNone/>
            </a:pPr>
            <a:r>
              <a:rPr lang="en-US" sz="1200" dirty="0">
                <a:solidFill>
                  <a:srgbClr val="555555"/>
                </a:solidFill>
                <a:latin typeface="Yu Gothic UI" pitchFamily="34" charset="0"/>
                <a:ea typeface="Yu Gothic UI" pitchFamily="34" charset="-122"/>
                <a:cs typeface="Yu Gothic UI" pitchFamily="34" charset="-120"/>
              </a:rPr>
              <a:t>案件紹介ネットワークへの参加意欲はあるが、コミュニティの実態が見えないと入会をためらう層が多い。月次でリアルな活動レポートを公開することで、入会後のイメージを具体化させ、コミュニティの活性度を可視化できる。SEO的にも定期更新コンテンツとして機能する。</a:t>
            </a:r>
            <a:endParaRPr lang="en-US" sz="1200" dirty="0"/>
          </a:p>
        </p:txBody>
      </p:sp>
      <p:sp>
        <p:nvSpPr>
          <p:cNvPr id="11" name="Text 9"/>
          <p:cNvSpPr/>
          <p:nvPr/>
        </p:nvSpPr>
        <p:spPr>
          <a:xfrm>
            <a:off x="1325880" y="3337560"/>
            <a:ext cx="10317175" cy="777240"/>
          </a:xfrm>
          <a:prstGeom prst="rect">
            <a:avLst/>
          </a:prstGeom>
          <a:noFill/>
          <a:ln/>
        </p:spPr>
        <p:txBody>
          <a:bodyPr wrap="square" rtlCol="0" anchor="t">
            <a:normAutofit/>
          </a:bodyPr>
          <a:lstStyle/>
          <a:p>
            <a:pPr indent="0" marL="0">
              <a:lnSpc>
                <a:spcPct val="160000"/>
              </a:lnSpc>
              <a:buNone/>
            </a:pPr>
            <a:r>
              <a:rPr lang="en-US" sz="1200" b="1" dirty="0">
                <a:solidFill>
                  <a:srgbClr val="EA580C"/>
                </a:solidFill>
                <a:latin typeface="Yu Gothic UI" pitchFamily="34" charset="0"/>
                <a:ea typeface="Yu Gothic UI" pitchFamily="34" charset="-122"/>
                <a:cs typeface="Yu Gothic UI" pitchFamily="34" charset="-120"/>
              </a:rPr>
              <a:t>実装例：</a:t>
            </a:r>
            <a:pPr indent="0" marL="0">
              <a:lnSpc>
                <a:spcPct val="160000"/>
              </a:lnSpc>
              <a:buNone/>
            </a:pPr>
            <a:r>
              <a:rPr lang="en-US" sz="1200" dirty="0">
                <a:solidFill>
                  <a:srgbClr val="555555"/>
                </a:solidFill>
                <a:latin typeface="Yu Gothic UI" pitchFamily="34" charset="0"/>
                <a:ea typeface="Yu Gothic UI" pitchFamily="34" charset="-122"/>
                <a:cs typeface="Yu Gothic UI" pitchFamily="34" charset="-120"/>
              </a:rPr>
              <a:t>毎月の定例会終了後に『今月の定例会レポート：○月のテーマ・参加者の声・共有された事例』を記事形式で公開。参加者の匿名コメントや議論のサマリーを掲載。記事下部に『次回定例会に参加する（会員申込）』というCTAを設置し、コミュニティへの入口として機能させる。</a:t>
            </a:r>
            <a:endParaRPr lang="en-US" sz="1200" dirty="0"/>
          </a:p>
        </p:txBody>
      </p:sp>
      <p:sp>
        <p:nvSpPr>
          <p:cNvPr id="12" name="Text 10"/>
          <p:cNvSpPr/>
          <p:nvPr/>
        </p:nvSpPr>
        <p:spPr>
          <a:xfrm>
            <a:off x="548640" y="6537960"/>
            <a:ext cx="5486400" cy="228600"/>
          </a:xfrm>
          <a:prstGeom prst="rect">
            <a:avLst/>
          </a:prstGeom>
          <a:noFill/>
          <a:ln/>
        </p:spPr>
        <p:txBody>
          <a:bodyPr wrap="square" rtlCol="0" anchor="ctr"/>
          <a:lstStyle/>
          <a:p>
            <a:pPr indent="0" marL="0">
              <a:buNone/>
            </a:pPr>
            <a:r>
              <a:rPr lang="en-US" sz="900" dirty="0">
                <a:solidFill>
                  <a:srgbClr val="555555"/>
                </a:solidFill>
                <a:latin typeface="Yu Gothic UI" pitchFamily="34" charset="0"/>
                <a:ea typeface="Yu Gothic UI" pitchFamily="34" charset="-122"/>
                <a:cs typeface="Yu Gothic UI" pitchFamily="34" charset="-120"/>
              </a:rPr>
              <a:t>digi-kaku.or.jp</a:t>
            </a:r>
            <a:endParaRPr lang="en-US" sz="900" dirty="0"/>
          </a:p>
        </p:txBody>
      </p:sp>
      <p:sp>
        <p:nvSpPr>
          <p:cNvPr id="13" name="Text 11"/>
          <p:cNvSpPr/>
          <p:nvPr/>
        </p:nvSpPr>
        <p:spPr>
          <a:xfrm>
            <a:off x="6156655" y="6537960"/>
            <a:ext cx="5486400" cy="228600"/>
          </a:xfrm>
          <a:prstGeom prst="rect">
            <a:avLst/>
          </a:prstGeom>
          <a:noFill/>
          <a:ln/>
        </p:spPr>
        <p:txBody>
          <a:bodyPr wrap="square" rtlCol="0" anchor="ctr"/>
          <a:lstStyle/>
          <a:p>
            <a:pPr algn="r" indent="0" marL="0">
              <a:buNone/>
            </a:pPr>
            <a:r>
              <a:rPr lang="en-US" sz="900" dirty="0">
                <a:solidFill>
                  <a:srgbClr val="555555"/>
                </a:solidFill>
                <a:latin typeface="Yu Gothic UI" pitchFamily="34" charset="0"/>
                <a:ea typeface="Yu Gothic UI" pitchFamily="34" charset="-122"/>
                <a:cs typeface="Yu Gothic UI" pitchFamily="34" charset="-120"/>
              </a:rPr>
              <a:t>戦略指南 AI / AB3C 分析レポート　19 / 27</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EA580C"/>
          </a:solidFill>
          <a:ln w="12700">
            <a:solidFill>
              <a:srgbClr val="EA580C"/>
            </a:solidFill>
            <a:prstDash val="solid"/>
          </a:ln>
        </p:spPr>
      </p:sp>
      <p:sp>
        <p:nvSpPr>
          <p:cNvPr id="3" name="Text 1"/>
          <p:cNvSpPr/>
          <p:nvPr/>
        </p:nvSpPr>
        <p:spPr>
          <a:xfrm>
            <a:off x="548640" y="411480"/>
            <a:ext cx="11094415" cy="274320"/>
          </a:xfrm>
          <a:prstGeom prst="rect">
            <a:avLst/>
          </a:prstGeom>
          <a:noFill/>
          <a:ln/>
        </p:spPr>
        <p:txBody>
          <a:bodyPr wrap="square" rtlCol="0" anchor="ctr"/>
          <a:lstStyle/>
          <a:p>
            <a:pPr indent="0" marL="0">
              <a:buNone/>
            </a:pPr>
            <a:r>
              <a:rPr lang="en-US" sz="1100" spc="600" kern="0" dirty="0">
                <a:solidFill>
                  <a:srgbClr val="555555"/>
                </a:solidFill>
                <a:latin typeface="Consolas" pitchFamily="34" charset="0"/>
                <a:ea typeface="Consolas" pitchFamily="34" charset="-122"/>
                <a:cs typeface="Consolas" pitchFamily="34" charset="-120"/>
              </a:rPr>
              <a:t>PART 4  ─  WEBSITE IMPROVEMENT</a:t>
            </a:r>
            <a:endParaRPr lang="en-US" sz="1100" dirty="0"/>
          </a:p>
        </p:txBody>
      </p:sp>
      <p:sp>
        <p:nvSpPr>
          <p:cNvPr id="4" name="Text 2"/>
          <p:cNvSpPr/>
          <p:nvPr/>
        </p:nvSpPr>
        <p:spPr>
          <a:xfrm>
            <a:off x="548640" y="685800"/>
            <a:ext cx="11094415" cy="640080"/>
          </a:xfrm>
          <a:prstGeom prst="rect">
            <a:avLst/>
          </a:prstGeom>
          <a:noFill/>
          <a:ln/>
        </p:spPr>
        <p:txBody>
          <a:bodyPr wrap="square" rtlCol="0" anchor="ctr"/>
          <a:lstStyle/>
          <a:p>
            <a:pPr indent="0" marL="0">
              <a:buNone/>
            </a:pPr>
            <a:r>
              <a:rPr lang="en-US" sz="3000" b="1" dirty="0">
                <a:solidFill>
                  <a:srgbClr val="EA580C"/>
                </a:solidFill>
                <a:latin typeface="Noto Serif JP" pitchFamily="34" charset="0"/>
                <a:ea typeface="Noto Serif JP" pitchFamily="34" charset="-122"/>
                <a:cs typeface="Noto Serif JP" pitchFamily="34" charset="-120"/>
              </a:rPr>
              <a:t>改善すべきデザイン・ビジュアル（1/3）</a:t>
            </a:r>
            <a:endParaRPr lang="en-US" sz="3000" dirty="0"/>
          </a:p>
        </p:txBody>
      </p:sp>
      <p:sp>
        <p:nvSpPr>
          <p:cNvPr id="5" name="Shape 3"/>
          <p:cNvSpPr/>
          <p:nvPr/>
        </p:nvSpPr>
        <p:spPr>
          <a:xfrm>
            <a:off x="548640" y="1280160"/>
            <a:ext cx="11094415" cy="0"/>
          </a:xfrm>
          <a:prstGeom prst="line">
            <a:avLst/>
          </a:prstGeom>
          <a:noFill/>
          <a:ln w="12700">
            <a:solidFill>
              <a:srgbClr val="EA580C"/>
            </a:solidFill>
            <a:prstDash val="solid"/>
          </a:ln>
        </p:spPr>
      </p:sp>
      <p:sp>
        <p:nvSpPr>
          <p:cNvPr id="6" name="Text 4"/>
          <p:cNvSpPr/>
          <p:nvPr/>
        </p:nvSpPr>
        <p:spPr>
          <a:xfrm>
            <a:off x="548640" y="1371600"/>
            <a:ext cx="11094415" cy="274320"/>
          </a:xfrm>
          <a:prstGeom prst="rect">
            <a:avLst/>
          </a:prstGeom>
          <a:noFill/>
          <a:ln/>
        </p:spPr>
        <p:txBody>
          <a:bodyPr wrap="square" rtlCol="0" anchor="ctr"/>
          <a:lstStyle/>
          <a:p>
            <a:pPr indent="0" marL="0">
              <a:buNone/>
            </a:pPr>
            <a:r>
              <a:rPr lang="en-US" sz="1300" dirty="0">
                <a:solidFill>
                  <a:srgbClr val="555555"/>
                </a:solidFill>
                <a:latin typeface="Yu Gothic UI" pitchFamily="34" charset="0"/>
                <a:ea typeface="Yu Gothic UI" pitchFamily="34" charset="-122"/>
                <a:cs typeface="Yu Gothic UI" pitchFamily="34" charset="-120"/>
              </a:rPr>
              <a:t>視覚的に整えるべきポイント</a:t>
            </a:r>
            <a:endParaRPr lang="en-US" sz="1300" dirty="0"/>
          </a:p>
        </p:txBody>
      </p:sp>
      <p:sp>
        <p:nvSpPr>
          <p:cNvPr id="7" name="Shape 5"/>
          <p:cNvSpPr/>
          <p:nvPr/>
        </p:nvSpPr>
        <p:spPr>
          <a:xfrm>
            <a:off x="548640" y="1828800"/>
            <a:ext cx="594360" cy="594360"/>
          </a:xfrm>
          <a:prstGeom prst="rect">
            <a:avLst/>
          </a:prstGeom>
          <a:solidFill>
            <a:srgbClr val="EA580C"/>
          </a:solidFill>
          <a:ln w="12700">
            <a:solidFill>
              <a:srgbClr val="EA580C"/>
            </a:solidFill>
            <a:prstDash val="solid"/>
          </a:ln>
        </p:spPr>
      </p:sp>
      <p:sp>
        <p:nvSpPr>
          <p:cNvPr id="8" name="Text 6"/>
          <p:cNvSpPr/>
          <p:nvPr/>
        </p:nvSpPr>
        <p:spPr>
          <a:xfrm>
            <a:off x="548640" y="1828800"/>
            <a:ext cx="594360" cy="594360"/>
          </a:xfrm>
          <a:prstGeom prst="rect">
            <a:avLst/>
          </a:prstGeom>
          <a:noFill/>
          <a:ln/>
        </p:spPr>
        <p:txBody>
          <a:bodyPr wrap="square" rtlCol="0" anchor="ctr"/>
          <a:lstStyle/>
          <a:p>
            <a:pPr algn="ctr" indent="0" marL="0">
              <a:buNone/>
            </a:pPr>
            <a:r>
              <a:rPr lang="en-US" sz="2200" b="1" dirty="0">
                <a:solidFill>
                  <a:srgbClr val="FFFFFF"/>
                </a:solidFill>
                <a:latin typeface="Noto Serif JP" pitchFamily="34" charset="0"/>
                <a:ea typeface="Noto Serif JP" pitchFamily="34" charset="-122"/>
                <a:cs typeface="Noto Serif JP" pitchFamily="34" charset="-120"/>
              </a:rPr>
              <a:t>1</a:t>
            </a:r>
            <a:endParaRPr lang="en-US" sz="2200" dirty="0"/>
          </a:p>
        </p:txBody>
      </p:sp>
      <p:sp>
        <p:nvSpPr>
          <p:cNvPr id="9" name="Text 7"/>
          <p:cNvSpPr/>
          <p:nvPr/>
        </p:nvSpPr>
        <p:spPr>
          <a:xfrm>
            <a:off x="1325880" y="1783080"/>
            <a:ext cx="10317175" cy="685800"/>
          </a:xfrm>
          <a:prstGeom prst="rect">
            <a:avLst/>
          </a:prstGeom>
          <a:noFill/>
          <a:ln/>
        </p:spPr>
        <p:txBody>
          <a:bodyPr wrap="square" rtlCol="0" anchor="ctr"/>
          <a:lstStyle/>
          <a:p>
            <a:pPr indent="0" marL="0">
              <a:buNone/>
            </a:pPr>
            <a:r>
              <a:rPr lang="en-US" sz="2100" b="1" dirty="0">
                <a:solidFill>
                  <a:srgbClr val="1A1A14"/>
                </a:solidFill>
                <a:latin typeface="Yu Gothic UI" pitchFamily="34" charset="0"/>
                <a:ea typeface="Yu Gothic UI" pitchFamily="34" charset="-122"/>
                <a:cs typeface="Yu Gothic UI" pitchFamily="34" charset="-120"/>
              </a:rPr>
              <a:t>ファーストビューのキャッチコピーをターゲット特化型に刷新</a:t>
            </a:r>
            <a:endParaRPr lang="en-US" sz="2100" dirty="0"/>
          </a:p>
        </p:txBody>
      </p:sp>
      <p:sp>
        <p:nvSpPr>
          <p:cNvPr id="10" name="Text 8"/>
          <p:cNvSpPr/>
          <p:nvPr/>
        </p:nvSpPr>
        <p:spPr>
          <a:xfrm>
            <a:off x="1325880" y="2514600"/>
            <a:ext cx="10317175" cy="777240"/>
          </a:xfrm>
          <a:prstGeom prst="rect">
            <a:avLst/>
          </a:prstGeom>
          <a:noFill/>
          <a:ln/>
        </p:spPr>
        <p:txBody>
          <a:bodyPr wrap="square" rtlCol="0" anchor="t">
            <a:normAutofit/>
          </a:bodyPr>
          <a:lstStyle/>
          <a:p>
            <a:pPr indent="0" marL="0">
              <a:lnSpc>
                <a:spcPct val="160000"/>
              </a:lnSpc>
              <a:buNone/>
            </a:pPr>
            <a:r>
              <a:rPr lang="en-US" sz="1200" b="1" dirty="0">
                <a:solidFill>
                  <a:srgbClr val="EA580C"/>
                </a:solidFill>
                <a:latin typeface="Yu Gothic UI" pitchFamily="34" charset="0"/>
                <a:ea typeface="Yu Gothic UI" pitchFamily="34" charset="-122"/>
                <a:cs typeface="Yu Gothic UI" pitchFamily="34" charset="-120"/>
              </a:rPr>
              <a:t>理由：</a:t>
            </a:r>
            <a:pPr indent="0" marL="0">
              <a:lnSpc>
                <a:spcPct val="160000"/>
              </a:lnSpc>
              <a:buNone/>
            </a:pPr>
            <a:r>
              <a:rPr lang="en-US" sz="1200" dirty="0">
                <a:solidFill>
                  <a:srgbClr val="555555"/>
                </a:solidFill>
                <a:latin typeface="Yu Gothic UI" pitchFamily="34" charset="0"/>
                <a:ea typeface="Yu Gothic UI" pitchFamily="34" charset="-122"/>
                <a:cs typeface="Yu Gothic UI" pitchFamily="34" charset="-120"/>
              </a:rPr>
              <a:t>現状のサイトのファーストビューは複数のターゲット（経営者・コンサルタント・AI学習者）に向けた汎用的な表現になっており、独立系コンサルタントが『自分ごと』として受け取れていない可能性が高い。分析で推奨された戦略メッセージ『AIで戦略提案できる専門家に、資格で証明する』をそのままビジュアル化することで離脱率を下げられる。</a:t>
            </a:r>
            <a:endParaRPr lang="en-US" sz="1200" dirty="0"/>
          </a:p>
        </p:txBody>
      </p:sp>
      <p:sp>
        <p:nvSpPr>
          <p:cNvPr id="11" name="Text 9"/>
          <p:cNvSpPr/>
          <p:nvPr/>
        </p:nvSpPr>
        <p:spPr>
          <a:xfrm>
            <a:off x="1325880" y="3337560"/>
            <a:ext cx="10317175" cy="777240"/>
          </a:xfrm>
          <a:prstGeom prst="rect">
            <a:avLst/>
          </a:prstGeom>
          <a:noFill/>
          <a:ln/>
        </p:spPr>
        <p:txBody>
          <a:bodyPr wrap="square" rtlCol="0" anchor="t">
            <a:normAutofit/>
          </a:bodyPr>
          <a:lstStyle/>
          <a:p>
            <a:pPr indent="0" marL="0">
              <a:lnSpc>
                <a:spcPct val="160000"/>
              </a:lnSpc>
              <a:buNone/>
            </a:pPr>
            <a:r>
              <a:rPr lang="en-US" sz="1200" b="1" dirty="0">
                <a:solidFill>
                  <a:srgbClr val="EA580C"/>
                </a:solidFill>
                <a:latin typeface="Yu Gothic UI" pitchFamily="34" charset="0"/>
                <a:ea typeface="Yu Gothic UI" pitchFamily="34" charset="-122"/>
                <a:cs typeface="Yu Gothic UI" pitchFamily="34" charset="-120"/>
              </a:rPr>
              <a:t>実装例：</a:t>
            </a:r>
            <a:pPr indent="0" marL="0">
              <a:lnSpc>
                <a:spcPct val="160000"/>
              </a:lnSpc>
              <a:buNone/>
            </a:pPr>
            <a:r>
              <a:rPr lang="en-US" sz="1200" dirty="0">
                <a:solidFill>
                  <a:srgbClr val="555555"/>
                </a:solidFill>
                <a:latin typeface="Yu Gothic UI" pitchFamily="34" charset="0"/>
                <a:ea typeface="Yu Gothic UI" pitchFamily="34" charset="-122"/>
                <a:cs typeface="Yu Gothic UI" pitchFamily="34" charset="-120"/>
              </a:rPr>
              <a:t>ファーストビューのH1を『AIで戦略提案できる専門家に、資格で証明する』に変更。サブコピーに『AB3C×AI特化の資格で、経営者から選ばれるコンサルタントへ』を配置。背景は代表が実際にコンサルティングしている場面の写真（リアリティ重視）またはAB3Cフレームワークの図解をモーショングラフィクスで表示する。CTAボタンは『資格を詳しく見る』と『AIを体験する』の2択を横並びで配置。</a:t>
            </a:r>
            <a:endParaRPr lang="en-US" sz="1200" dirty="0"/>
          </a:p>
        </p:txBody>
      </p:sp>
      <p:sp>
        <p:nvSpPr>
          <p:cNvPr id="12" name="Shape 10"/>
          <p:cNvSpPr/>
          <p:nvPr/>
        </p:nvSpPr>
        <p:spPr>
          <a:xfrm>
            <a:off x="548640" y="4114800"/>
            <a:ext cx="594360" cy="594360"/>
          </a:xfrm>
          <a:prstGeom prst="rect">
            <a:avLst/>
          </a:prstGeom>
          <a:solidFill>
            <a:srgbClr val="EA580C"/>
          </a:solidFill>
          <a:ln w="12700">
            <a:solidFill>
              <a:srgbClr val="EA580C"/>
            </a:solidFill>
            <a:prstDash val="solid"/>
          </a:ln>
        </p:spPr>
      </p:sp>
      <p:sp>
        <p:nvSpPr>
          <p:cNvPr id="13" name="Text 11"/>
          <p:cNvSpPr/>
          <p:nvPr/>
        </p:nvSpPr>
        <p:spPr>
          <a:xfrm>
            <a:off x="548640" y="4114800"/>
            <a:ext cx="594360" cy="594360"/>
          </a:xfrm>
          <a:prstGeom prst="rect">
            <a:avLst/>
          </a:prstGeom>
          <a:noFill/>
          <a:ln/>
        </p:spPr>
        <p:txBody>
          <a:bodyPr wrap="square" rtlCol="0" anchor="ctr"/>
          <a:lstStyle/>
          <a:p>
            <a:pPr algn="ctr" indent="0" marL="0">
              <a:buNone/>
            </a:pPr>
            <a:r>
              <a:rPr lang="en-US" sz="2200" b="1" dirty="0">
                <a:solidFill>
                  <a:srgbClr val="FFFFFF"/>
                </a:solidFill>
                <a:latin typeface="Noto Serif JP" pitchFamily="34" charset="0"/>
                <a:ea typeface="Noto Serif JP" pitchFamily="34" charset="-122"/>
                <a:cs typeface="Noto Serif JP" pitchFamily="34" charset="-120"/>
              </a:rPr>
              <a:t>2</a:t>
            </a:r>
            <a:endParaRPr lang="en-US" sz="2200" dirty="0"/>
          </a:p>
        </p:txBody>
      </p:sp>
      <p:sp>
        <p:nvSpPr>
          <p:cNvPr id="14" name="Text 12"/>
          <p:cNvSpPr/>
          <p:nvPr/>
        </p:nvSpPr>
        <p:spPr>
          <a:xfrm>
            <a:off x="1325880" y="4069080"/>
            <a:ext cx="10317175" cy="685800"/>
          </a:xfrm>
          <a:prstGeom prst="rect">
            <a:avLst/>
          </a:prstGeom>
          <a:noFill/>
          <a:ln/>
        </p:spPr>
        <p:txBody>
          <a:bodyPr wrap="square" rtlCol="0" anchor="ctr"/>
          <a:lstStyle/>
          <a:p>
            <a:pPr indent="0" marL="0">
              <a:buNone/>
            </a:pPr>
            <a:r>
              <a:rPr lang="en-US" sz="2100" b="1" dirty="0">
                <a:solidFill>
                  <a:srgbClr val="1A1A14"/>
                </a:solidFill>
                <a:latin typeface="Yu Gothic UI" pitchFamily="34" charset="0"/>
                <a:ea typeface="Yu Gothic UI" pitchFamily="34" charset="-122"/>
                <a:cs typeface="Yu Gothic UI" pitchFamily="34" charset="-120"/>
              </a:rPr>
              <a:t>AB3Cフレームワークの図解ビジュアルをファーストビュー直下に配置</a:t>
            </a:r>
            <a:endParaRPr lang="en-US" sz="2100" dirty="0"/>
          </a:p>
        </p:txBody>
      </p:sp>
      <p:sp>
        <p:nvSpPr>
          <p:cNvPr id="15" name="Text 13"/>
          <p:cNvSpPr/>
          <p:nvPr/>
        </p:nvSpPr>
        <p:spPr>
          <a:xfrm>
            <a:off x="1325880" y="4800600"/>
            <a:ext cx="10317175" cy="777240"/>
          </a:xfrm>
          <a:prstGeom prst="rect">
            <a:avLst/>
          </a:prstGeom>
          <a:noFill/>
          <a:ln/>
        </p:spPr>
        <p:txBody>
          <a:bodyPr wrap="square" rtlCol="0" anchor="t">
            <a:normAutofit/>
          </a:bodyPr>
          <a:lstStyle/>
          <a:p>
            <a:pPr indent="0" marL="0">
              <a:lnSpc>
                <a:spcPct val="160000"/>
              </a:lnSpc>
              <a:buNone/>
            </a:pPr>
            <a:r>
              <a:rPr lang="en-US" sz="1200" b="1" dirty="0">
                <a:solidFill>
                  <a:srgbClr val="EA580C"/>
                </a:solidFill>
                <a:latin typeface="Yu Gothic UI" pitchFamily="34" charset="0"/>
                <a:ea typeface="Yu Gothic UI" pitchFamily="34" charset="-122"/>
                <a:cs typeface="Yu Gothic UI" pitchFamily="34" charset="-120"/>
              </a:rPr>
              <a:t>理由：</a:t>
            </a:r>
            <a:pPr indent="0" marL="0">
              <a:lnSpc>
                <a:spcPct val="160000"/>
              </a:lnSpc>
              <a:buNone/>
            </a:pPr>
            <a:r>
              <a:rPr lang="en-US" sz="1200" dirty="0">
                <a:solidFill>
                  <a:srgbClr val="555555"/>
                </a:solidFill>
                <a:latin typeface="Yu Gothic UI" pitchFamily="34" charset="0"/>
                <a:ea typeface="Yu Gothic UI" pitchFamily="34" charset="-122"/>
                <a:cs typeface="Yu Gothic UI" pitchFamily="34" charset="-120"/>
              </a:rPr>
              <a:t>AB3Cフレームワークが最大の差別化ポイントであるにも関わらず、初訪問者が『AB3Cとは何か』を直感的に理解できるビジュアルがサイト上で見つけにくい。コンサルタント層は論理的な構造を好むため、フレームワークの全体像を図解で示すことが信頼構築の起点になる。</a:t>
            </a:r>
            <a:endParaRPr lang="en-US" sz="1200" dirty="0"/>
          </a:p>
        </p:txBody>
      </p:sp>
      <p:sp>
        <p:nvSpPr>
          <p:cNvPr id="16" name="Text 14"/>
          <p:cNvSpPr/>
          <p:nvPr/>
        </p:nvSpPr>
        <p:spPr>
          <a:xfrm>
            <a:off x="1325880" y="5623560"/>
            <a:ext cx="10317175" cy="777240"/>
          </a:xfrm>
          <a:prstGeom prst="rect">
            <a:avLst/>
          </a:prstGeom>
          <a:noFill/>
          <a:ln/>
        </p:spPr>
        <p:txBody>
          <a:bodyPr wrap="square" rtlCol="0" anchor="t">
            <a:normAutofit/>
          </a:bodyPr>
          <a:lstStyle/>
          <a:p>
            <a:pPr indent="0" marL="0">
              <a:lnSpc>
                <a:spcPct val="160000"/>
              </a:lnSpc>
              <a:buNone/>
            </a:pPr>
            <a:r>
              <a:rPr lang="en-US" sz="1200" b="1" dirty="0">
                <a:solidFill>
                  <a:srgbClr val="EA580C"/>
                </a:solidFill>
                <a:latin typeface="Yu Gothic UI" pitchFamily="34" charset="0"/>
                <a:ea typeface="Yu Gothic UI" pitchFamily="34" charset="-122"/>
                <a:cs typeface="Yu Gothic UI" pitchFamily="34" charset="-120"/>
              </a:rPr>
              <a:t>実装例：</a:t>
            </a:r>
            <a:pPr indent="0" marL="0">
              <a:lnSpc>
                <a:spcPct val="160000"/>
              </a:lnSpc>
              <a:buNone/>
            </a:pPr>
            <a:r>
              <a:rPr lang="en-US" sz="1200" dirty="0">
                <a:solidFill>
                  <a:srgbClr val="555555"/>
                </a:solidFill>
                <a:latin typeface="Yu Gothic UI" pitchFamily="34" charset="0"/>
                <a:ea typeface="Yu Gothic UI" pitchFamily="34" charset="-122"/>
                <a:cs typeface="Yu Gothic UI" pitchFamily="34" charset="-120"/>
              </a:rPr>
              <a:t>ファーストビュー直下のセクションに、大前研一の3C分析との違いを示すビフォーアフター図解を配置。A（Attraction引力）・B（Barrier参入障壁）・3C（Customer・Competitor・Company）の各要素をアイコン付きで視覚化し、『なぜ3Cだけでは経営戦略が不完全なのか』を30秒で理解できる構成にする。図解の右横に『この分析をAIで自動化したのが戦略指南AIです』というテキストとデモボタンを配置。</a:t>
            </a:r>
            <a:endParaRPr lang="en-US" sz="1200" dirty="0"/>
          </a:p>
        </p:txBody>
      </p:sp>
      <p:sp>
        <p:nvSpPr>
          <p:cNvPr id="17" name="Text 15"/>
          <p:cNvSpPr/>
          <p:nvPr/>
        </p:nvSpPr>
        <p:spPr>
          <a:xfrm>
            <a:off x="548640" y="6537960"/>
            <a:ext cx="5486400" cy="228600"/>
          </a:xfrm>
          <a:prstGeom prst="rect">
            <a:avLst/>
          </a:prstGeom>
          <a:noFill/>
          <a:ln/>
        </p:spPr>
        <p:txBody>
          <a:bodyPr wrap="square" rtlCol="0" anchor="ctr"/>
          <a:lstStyle/>
          <a:p>
            <a:pPr indent="0" marL="0">
              <a:buNone/>
            </a:pPr>
            <a:r>
              <a:rPr lang="en-US" sz="900" dirty="0">
                <a:solidFill>
                  <a:srgbClr val="555555"/>
                </a:solidFill>
                <a:latin typeface="Yu Gothic UI" pitchFamily="34" charset="0"/>
                <a:ea typeface="Yu Gothic UI" pitchFamily="34" charset="-122"/>
                <a:cs typeface="Yu Gothic UI" pitchFamily="34" charset="-120"/>
              </a:rPr>
              <a:t>digi-kaku.or.jp</a:t>
            </a:r>
            <a:endParaRPr lang="en-US" sz="900" dirty="0"/>
          </a:p>
        </p:txBody>
      </p:sp>
      <p:sp>
        <p:nvSpPr>
          <p:cNvPr id="18" name="Text 16"/>
          <p:cNvSpPr/>
          <p:nvPr/>
        </p:nvSpPr>
        <p:spPr>
          <a:xfrm>
            <a:off x="6156655" y="6537960"/>
            <a:ext cx="5486400" cy="228600"/>
          </a:xfrm>
          <a:prstGeom prst="rect">
            <a:avLst/>
          </a:prstGeom>
          <a:noFill/>
          <a:ln/>
        </p:spPr>
        <p:txBody>
          <a:bodyPr wrap="square" rtlCol="0" anchor="ctr"/>
          <a:lstStyle/>
          <a:p>
            <a:pPr algn="r" indent="0" marL="0">
              <a:buNone/>
            </a:pPr>
            <a:r>
              <a:rPr lang="en-US" sz="900" dirty="0">
                <a:solidFill>
                  <a:srgbClr val="555555"/>
                </a:solidFill>
                <a:latin typeface="Yu Gothic UI" pitchFamily="34" charset="0"/>
                <a:ea typeface="Yu Gothic UI" pitchFamily="34" charset="-122"/>
                <a:cs typeface="Yu Gothic UI" pitchFamily="34" charset="-120"/>
              </a:rPr>
              <a:t>戦略指南 AI / AB3C 分析レポート　20 / 27</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EA580C"/>
          </a:solidFill>
          <a:ln w="12700">
            <a:solidFill>
              <a:srgbClr val="EA580C"/>
            </a:solidFill>
            <a:prstDash val="solid"/>
          </a:ln>
        </p:spPr>
      </p:sp>
      <p:sp>
        <p:nvSpPr>
          <p:cNvPr id="3" name="Text 1"/>
          <p:cNvSpPr/>
          <p:nvPr/>
        </p:nvSpPr>
        <p:spPr>
          <a:xfrm>
            <a:off x="548640" y="411480"/>
            <a:ext cx="11094415" cy="274320"/>
          </a:xfrm>
          <a:prstGeom prst="rect">
            <a:avLst/>
          </a:prstGeom>
          <a:noFill/>
          <a:ln/>
        </p:spPr>
        <p:txBody>
          <a:bodyPr wrap="square" rtlCol="0" anchor="ctr"/>
          <a:lstStyle/>
          <a:p>
            <a:pPr indent="0" marL="0">
              <a:buNone/>
            </a:pPr>
            <a:r>
              <a:rPr lang="en-US" sz="1100" spc="600" kern="0" dirty="0">
                <a:solidFill>
                  <a:srgbClr val="555555"/>
                </a:solidFill>
                <a:latin typeface="Consolas" pitchFamily="34" charset="0"/>
                <a:ea typeface="Consolas" pitchFamily="34" charset="-122"/>
                <a:cs typeface="Consolas" pitchFamily="34" charset="-120"/>
              </a:rPr>
              <a:t>PART 4  ─  WEBSITE IMPROVEMENT</a:t>
            </a:r>
            <a:endParaRPr lang="en-US" sz="1100" dirty="0"/>
          </a:p>
        </p:txBody>
      </p:sp>
      <p:sp>
        <p:nvSpPr>
          <p:cNvPr id="4" name="Text 2"/>
          <p:cNvSpPr/>
          <p:nvPr/>
        </p:nvSpPr>
        <p:spPr>
          <a:xfrm>
            <a:off x="548640" y="685800"/>
            <a:ext cx="11094415" cy="640080"/>
          </a:xfrm>
          <a:prstGeom prst="rect">
            <a:avLst/>
          </a:prstGeom>
          <a:noFill/>
          <a:ln/>
        </p:spPr>
        <p:txBody>
          <a:bodyPr wrap="square" rtlCol="0" anchor="ctr"/>
          <a:lstStyle/>
          <a:p>
            <a:pPr indent="0" marL="0">
              <a:buNone/>
            </a:pPr>
            <a:r>
              <a:rPr lang="en-US" sz="3000" b="1" dirty="0">
                <a:solidFill>
                  <a:srgbClr val="EA580C"/>
                </a:solidFill>
                <a:latin typeface="Noto Serif JP" pitchFamily="34" charset="0"/>
                <a:ea typeface="Noto Serif JP" pitchFamily="34" charset="-122"/>
                <a:cs typeface="Noto Serif JP" pitchFamily="34" charset="-120"/>
              </a:rPr>
              <a:t>改善すべきデザイン・ビジュアル（2/3）</a:t>
            </a:r>
            <a:endParaRPr lang="en-US" sz="3000" dirty="0"/>
          </a:p>
        </p:txBody>
      </p:sp>
      <p:sp>
        <p:nvSpPr>
          <p:cNvPr id="5" name="Shape 3"/>
          <p:cNvSpPr/>
          <p:nvPr/>
        </p:nvSpPr>
        <p:spPr>
          <a:xfrm>
            <a:off x="548640" y="1280160"/>
            <a:ext cx="11094415" cy="0"/>
          </a:xfrm>
          <a:prstGeom prst="line">
            <a:avLst/>
          </a:prstGeom>
          <a:noFill/>
          <a:ln w="12700">
            <a:solidFill>
              <a:srgbClr val="EA580C"/>
            </a:solidFill>
            <a:prstDash val="solid"/>
          </a:ln>
        </p:spPr>
      </p:sp>
      <p:sp>
        <p:nvSpPr>
          <p:cNvPr id="6" name="Text 4"/>
          <p:cNvSpPr/>
          <p:nvPr/>
        </p:nvSpPr>
        <p:spPr>
          <a:xfrm>
            <a:off x="548640" y="1371600"/>
            <a:ext cx="11094415" cy="274320"/>
          </a:xfrm>
          <a:prstGeom prst="rect">
            <a:avLst/>
          </a:prstGeom>
          <a:noFill/>
          <a:ln/>
        </p:spPr>
        <p:txBody>
          <a:bodyPr wrap="square" rtlCol="0" anchor="ctr"/>
          <a:lstStyle/>
          <a:p>
            <a:pPr indent="0" marL="0">
              <a:buNone/>
            </a:pPr>
            <a:r>
              <a:rPr lang="en-US" sz="1300" dirty="0">
                <a:solidFill>
                  <a:srgbClr val="555555"/>
                </a:solidFill>
                <a:latin typeface="Yu Gothic UI" pitchFamily="34" charset="0"/>
                <a:ea typeface="Yu Gothic UI" pitchFamily="34" charset="-122"/>
                <a:cs typeface="Yu Gothic UI" pitchFamily="34" charset="-120"/>
              </a:rPr>
              <a:t>視覚的に整えるべきポイント</a:t>
            </a:r>
            <a:endParaRPr lang="en-US" sz="1300" dirty="0"/>
          </a:p>
        </p:txBody>
      </p:sp>
      <p:sp>
        <p:nvSpPr>
          <p:cNvPr id="7" name="Shape 5"/>
          <p:cNvSpPr/>
          <p:nvPr/>
        </p:nvSpPr>
        <p:spPr>
          <a:xfrm>
            <a:off x="548640" y="1828800"/>
            <a:ext cx="594360" cy="594360"/>
          </a:xfrm>
          <a:prstGeom prst="rect">
            <a:avLst/>
          </a:prstGeom>
          <a:solidFill>
            <a:srgbClr val="EA580C"/>
          </a:solidFill>
          <a:ln w="12700">
            <a:solidFill>
              <a:srgbClr val="EA580C"/>
            </a:solidFill>
            <a:prstDash val="solid"/>
          </a:ln>
        </p:spPr>
      </p:sp>
      <p:sp>
        <p:nvSpPr>
          <p:cNvPr id="8" name="Text 6"/>
          <p:cNvSpPr/>
          <p:nvPr/>
        </p:nvSpPr>
        <p:spPr>
          <a:xfrm>
            <a:off x="548640" y="1828800"/>
            <a:ext cx="594360" cy="594360"/>
          </a:xfrm>
          <a:prstGeom prst="rect">
            <a:avLst/>
          </a:prstGeom>
          <a:noFill/>
          <a:ln/>
        </p:spPr>
        <p:txBody>
          <a:bodyPr wrap="square" rtlCol="0" anchor="ctr"/>
          <a:lstStyle/>
          <a:p>
            <a:pPr algn="ctr" indent="0" marL="0">
              <a:buNone/>
            </a:pPr>
            <a:r>
              <a:rPr lang="en-US" sz="2200" b="1" dirty="0">
                <a:solidFill>
                  <a:srgbClr val="FFFFFF"/>
                </a:solidFill>
                <a:latin typeface="Noto Serif JP" pitchFamily="34" charset="0"/>
                <a:ea typeface="Noto Serif JP" pitchFamily="34" charset="-122"/>
                <a:cs typeface="Noto Serif JP" pitchFamily="34" charset="-120"/>
              </a:rPr>
              <a:t>3</a:t>
            </a:r>
            <a:endParaRPr lang="en-US" sz="2200" dirty="0"/>
          </a:p>
        </p:txBody>
      </p:sp>
      <p:sp>
        <p:nvSpPr>
          <p:cNvPr id="9" name="Text 7"/>
          <p:cNvSpPr/>
          <p:nvPr/>
        </p:nvSpPr>
        <p:spPr>
          <a:xfrm>
            <a:off x="1325880" y="1783080"/>
            <a:ext cx="10317175" cy="685800"/>
          </a:xfrm>
          <a:prstGeom prst="rect">
            <a:avLst/>
          </a:prstGeom>
          <a:noFill/>
          <a:ln/>
        </p:spPr>
        <p:txBody>
          <a:bodyPr wrap="square" rtlCol="0" anchor="ctr"/>
          <a:lstStyle/>
          <a:p>
            <a:pPr indent="0" marL="0">
              <a:buNone/>
            </a:pPr>
            <a:r>
              <a:rPr lang="en-US" sz="2100" b="1" dirty="0">
                <a:solidFill>
                  <a:srgbClr val="1A1A14"/>
                </a:solidFill>
                <a:latin typeface="Yu Gothic UI" pitchFamily="34" charset="0"/>
                <a:ea typeface="Yu Gothic UI" pitchFamily="34" charset="-122"/>
                <a:cs typeface="Yu Gothic UI" pitchFamily="34" charset="-120"/>
              </a:rPr>
              <a:t>4つの資格制度を視覚的に段階マップで表示するビジュアル設計</a:t>
            </a:r>
            <a:endParaRPr lang="en-US" sz="2100" dirty="0"/>
          </a:p>
        </p:txBody>
      </p:sp>
      <p:sp>
        <p:nvSpPr>
          <p:cNvPr id="10" name="Text 8"/>
          <p:cNvSpPr/>
          <p:nvPr/>
        </p:nvSpPr>
        <p:spPr>
          <a:xfrm>
            <a:off x="1325880" y="2514600"/>
            <a:ext cx="10317175" cy="777240"/>
          </a:xfrm>
          <a:prstGeom prst="rect">
            <a:avLst/>
          </a:prstGeom>
          <a:noFill/>
          <a:ln/>
        </p:spPr>
        <p:txBody>
          <a:bodyPr wrap="square" rtlCol="0" anchor="t">
            <a:normAutofit/>
          </a:bodyPr>
          <a:lstStyle/>
          <a:p>
            <a:pPr indent="0" marL="0">
              <a:lnSpc>
                <a:spcPct val="160000"/>
              </a:lnSpc>
              <a:buNone/>
            </a:pPr>
            <a:r>
              <a:rPr lang="en-US" sz="1200" b="1" dirty="0">
                <a:solidFill>
                  <a:srgbClr val="EA580C"/>
                </a:solidFill>
                <a:latin typeface="Yu Gothic UI" pitchFamily="34" charset="0"/>
                <a:ea typeface="Yu Gothic UI" pitchFamily="34" charset="-122"/>
                <a:cs typeface="Yu Gothic UI" pitchFamily="34" charset="-120"/>
              </a:rPr>
              <a:t>理由：</a:t>
            </a:r>
            <a:pPr indent="0" marL="0">
              <a:lnSpc>
                <a:spcPct val="160000"/>
              </a:lnSpc>
              <a:buNone/>
            </a:pPr>
            <a:r>
              <a:rPr lang="en-US" sz="1200" dirty="0">
                <a:solidFill>
                  <a:srgbClr val="555555"/>
                </a:solidFill>
                <a:latin typeface="Yu Gothic UI" pitchFamily="34" charset="0"/>
                <a:ea typeface="Yu Gothic UI" pitchFamily="34" charset="-122"/>
                <a:cs typeface="Yu Gothic UI" pitchFamily="34" charset="-120"/>
              </a:rPr>
              <a:t>4資格制度の存在はサイトに記載されているが、どの資格がどのレベル向けで、どの順番で取得するのが最適かが一目でわからない。コンサルタント層は『自分がどのステップにいるか』を確認したうえで申込むため、学習ロードマップのビジュアル化が申込転換率の向上に直結する。</a:t>
            </a:r>
            <a:endParaRPr lang="en-US" sz="1200" dirty="0"/>
          </a:p>
        </p:txBody>
      </p:sp>
      <p:sp>
        <p:nvSpPr>
          <p:cNvPr id="11" name="Text 9"/>
          <p:cNvSpPr/>
          <p:nvPr/>
        </p:nvSpPr>
        <p:spPr>
          <a:xfrm>
            <a:off x="1325880" y="3337560"/>
            <a:ext cx="10317175" cy="777240"/>
          </a:xfrm>
          <a:prstGeom prst="rect">
            <a:avLst/>
          </a:prstGeom>
          <a:noFill/>
          <a:ln/>
        </p:spPr>
        <p:txBody>
          <a:bodyPr wrap="square" rtlCol="0" anchor="t">
            <a:normAutofit/>
          </a:bodyPr>
          <a:lstStyle/>
          <a:p>
            <a:pPr indent="0" marL="0">
              <a:lnSpc>
                <a:spcPct val="160000"/>
              </a:lnSpc>
              <a:buNone/>
            </a:pPr>
            <a:r>
              <a:rPr lang="en-US" sz="1200" b="1" dirty="0">
                <a:solidFill>
                  <a:srgbClr val="EA580C"/>
                </a:solidFill>
                <a:latin typeface="Yu Gothic UI" pitchFamily="34" charset="0"/>
                <a:ea typeface="Yu Gothic UI" pitchFamily="34" charset="-122"/>
                <a:cs typeface="Yu Gothic UI" pitchFamily="34" charset="-120"/>
              </a:rPr>
              <a:t>実装例：</a:t>
            </a:r>
            <a:pPr indent="0" marL="0">
              <a:lnSpc>
                <a:spcPct val="160000"/>
              </a:lnSpc>
              <a:buNone/>
            </a:pPr>
            <a:r>
              <a:rPr lang="en-US" sz="1200" dirty="0">
                <a:solidFill>
                  <a:srgbClr val="555555"/>
                </a:solidFill>
                <a:latin typeface="Yu Gothic UI" pitchFamily="34" charset="0"/>
                <a:ea typeface="Yu Gothic UI" pitchFamily="34" charset="-122"/>
                <a:cs typeface="Yu Gothic UI" pitchFamily="34" charset="-120"/>
              </a:rPr>
              <a:t>横軸をスキルレベル（入門→中級→上級→マスター）、縦軸を対象者タイプ（経営者向け・コンサルタント向け）とした2次元マップを作成。各資格のアイコンをマップ上に配置し、ホバーすると『取得期間・費用・取得後にできること』のツールチップが表示される仕様に。マップ下部に『あなたに最適な資格を診断する（3問）』ミニ診断ツールを配置してエンゲージメントを高める。</a:t>
            </a:r>
            <a:endParaRPr lang="en-US" sz="1200" dirty="0"/>
          </a:p>
        </p:txBody>
      </p:sp>
      <p:sp>
        <p:nvSpPr>
          <p:cNvPr id="12" name="Shape 10"/>
          <p:cNvSpPr/>
          <p:nvPr/>
        </p:nvSpPr>
        <p:spPr>
          <a:xfrm>
            <a:off x="548640" y="4114800"/>
            <a:ext cx="594360" cy="594360"/>
          </a:xfrm>
          <a:prstGeom prst="rect">
            <a:avLst/>
          </a:prstGeom>
          <a:solidFill>
            <a:srgbClr val="EA580C"/>
          </a:solidFill>
          <a:ln w="12700">
            <a:solidFill>
              <a:srgbClr val="EA580C"/>
            </a:solidFill>
            <a:prstDash val="solid"/>
          </a:ln>
        </p:spPr>
      </p:sp>
      <p:sp>
        <p:nvSpPr>
          <p:cNvPr id="13" name="Text 11"/>
          <p:cNvSpPr/>
          <p:nvPr/>
        </p:nvSpPr>
        <p:spPr>
          <a:xfrm>
            <a:off x="548640" y="4114800"/>
            <a:ext cx="594360" cy="594360"/>
          </a:xfrm>
          <a:prstGeom prst="rect">
            <a:avLst/>
          </a:prstGeom>
          <a:noFill/>
          <a:ln/>
        </p:spPr>
        <p:txBody>
          <a:bodyPr wrap="square" rtlCol="0" anchor="ctr"/>
          <a:lstStyle/>
          <a:p>
            <a:pPr algn="ctr" indent="0" marL="0">
              <a:buNone/>
            </a:pPr>
            <a:r>
              <a:rPr lang="en-US" sz="2200" b="1" dirty="0">
                <a:solidFill>
                  <a:srgbClr val="FFFFFF"/>
                </a:solidFill>
                <a:latin typeface="Noto Serif JP" pitchFamily="34" charset="0"/>
                <a:ea typeface="Noto Serif JP" pitchFamily="34" charset="-122"/>
                <a:cs typeface="Noto Serif JP" pitchFamily="34" charset="-120"/>
              </a:rPr>
              <a:t>4</a:t>
            </a:r>
            <a:endParaRPr lang="en-US" sz="2200" dirty="0"/>
          </a:p>
        </p:txBody>
      </p:sp>
      <p:sp>
        <p:nvSpPr>
          <p:cNvPr id="14" name="Text 12"/>
          <p:cNvSpPr/>
          <p:nvPr/>
        </p:nvSpPr>
        <p:spPr>
          <a:xfrm>
            <a:off x="1325880" y="4069080"/>
            <a:ext cx="10317175" cy="685800"/>
          </a:xfrm>
          <a:prstGeom prst="rect">
            <a:avLst/>
          </a:prstGeom>
          <a:noFill/>
          <a:ln/>
        </p:spPr>
        <p:txBody>
          <a:bodyPr wrap="square" rtlCol="0" anchor="ctr"/>
          <a:lstStyle/>
          <a:p>
            <a:pPr indent="0" marL="0">
              <a:buNone/>
            </a:pPr>
            <a:r>
              <a:rPr lang="en-US" sz="2100" b="1" dirty="0">
                <a:solidFill>
                  <a:srgbClr val="1A1A14"/>
                </a:solidFill>
                <a:latin typeface="Yu Gothic UI" pitchFamily="34" charset="0"/>
                <a:ea typeface="Yu Gothic UI" pitchFamily="34" charset="-122"/>
                <a:cs typeface="Yu Gothic UI" pitchFamily="34" charset="-120"/>
              </a:rPr>
              <a:t>信頼性シグナルのビジュアルバーをグローバルナビ直下に固定表示</a:t>
            </a:r>
            <a:endParaRPr lang="en-US" sz="2100" dirty="0"/>
          </a:p>
        </p:txBody>
      </p:sp>
      <p:sp>
        <p:nvSpPr>
          <p:cNvPr id="15" name="Text 13"/>
          <p:cNvSpPr/>
          <p:nvPr/>
        </p:nvSpPr>
        <p:spPr>
          <a:xfrm>
            <a:off x="1325880" y="4800600"/>
            <a:ext cx="10317175" cy="777240"/>
          </a:xfrm>
          <a:prstGeom prst="rect">
            <a:avLst/>
          </a:prstGeom>
          <a:noFill/>
          <a:ln/>
        </p:spPr>
        <p:txBody>
          <a:bodyPr wrap="square" rtlCol="0" anchor="t">
            <a:normAutofit/>
          </a:bodyPr>
          <a:lstStyle/>
          <a:p>
            <a:pPr indent="0" marL="0">
              <a:lnSpc>
                <a:spcPct val="160000"/>
              </a:lnSpc>
              <a:buNone/>
            </a:pPr>
            <a:r>
              <a:rPr lang="en-US" sz="1200" b="1" dirty="0">
                <a:solidFill>
                  <a:srgbClr val="EA580C"/>
                </a:solidFill>
                <a:latin typeface="Yu Gothic UI" pitchFamily="34" charset="0"/>
                <a:ea typeface="Yu Gothic UI" pitchFamily="34" charset="-122"/>
                <a:cs typeface="Yu Gothic UI" pitchFamily="34" charset="-120"/>
              </a:rPr>
              <a:t>理由：</a:t>
            </a:r>
            <a:pPr indent="0" marL="0">
              <a:lnSpc>
                <a:spcPct val="160000"/>
              </a:lnSpc>
              <a:buNone/>
            </a:pPr>
            <a:r>
              <a:rPr lang="en-US" sz="1200" dirty="0">
                <a:solidFill>
                  <a:srgbClr val="555555"/>
                </a:solidFill>
                <a:latin typeface="Yu Gothic UI" pitchFamily="34" charset="0"/>
                <a:ea typeface="Yu Gothic UI" pitchFamily="34" charset="-122"/>
                <a:cs typeface="Yu Gothic UI" pitchFamily="34" charset="-120"/>
              </a:rPr>
              <a:t>翔泳社・日経クロストレンド・技術評論社という外部権威ロゴは、コンサルタント層が最も信頼するシグナルだが、現状サイトでは下層ページに埋もれている可能性がある。グローバルナビ直下への常時表示により、全ページで権威性を担保できる。</a:t>
            </a:r>
            <a:endParaRPr lang="en-US" sz="1200" dirty="0"/>
          </a:p>
        </p:txBody>
      </p:sp>
      <p:sp>
        <p:nvSpPr>
          <p:cNvPr id="16" name="Text 14"/>
          <p:cNvSpPr/>
          <p:nvPr/>
        </p:nvSpPr>
        <p:spPr>
          <a:xfrm>
            <a:off x="1325880" y="5623560"/>
            <a:ext cx="10317175" cy="777240"/>
          </a:xfrm>
          <a:prstGeom prst="rect">
            <a:avLst/>
          </a:prstGeom>
          <a:noFill/>
          <a:ln/>
        </p:spPr>
        <p:txBody>
          <a:bodyPr wrap="square" rtlCol="0" anchor="t">
            <a:normAutofit/>
          </a:bodyPr>
          <a:lstStyle/>
          <a:p>
            <a:pPr indent="0" marL="0">
              <a:lnSpc>
                <a:spcPct val="160000"/>
              </a:lnSpc>
              <a:buNone/>
            </a:pPr>
            <a:r>
              <a:rPr lang="en-US" sz="1200" b="1" dirty="0">
                <a:solidFill>
                  <a:srgbClr val="EA580C"/>
                </a:solidFill>
                <a:latin typeface="Yu Gothic UI" pitchFamily="34" charset="0"/>
                <a:ea typeface="Yu Gothic UI" pitchFamily="34" charset="-122"/>
                <a:cs typeface="Yu Gothic UI" pitchFamily="34" charset="-120"/>
              </a:rPr>
              <a:t>実装例：</a:t>
            </a:r>
            <a:pPr indent="0" marL="0">
              <a:lnSpc>
                <a:spcPct val="160000"/>
              </a:lnSpc>
              <a:buNone/>
            </a:pPr>
            <a:r>
              <a:rPr lang="en-US" sz="1200" dirty="0">
                <a:solidFill>
                  <a:srgbClr val="555555"/>
                </a:solidFill>
                <a:latin typeface="Yu Gothic UI" pitchFamily="34" charset="0"/>
                <a:ea typeface="Yu Gothic UI" pitchFamily="34" charset="-122"/>
                <a:cs typeface="Yu Gothic UI" pitchFamily="34" charset="-120"/>
              </a:rPr>
              <a:t>グローバルナビ直下に高さ48px程度の信頼バーを設置し、『日経クロストレンド連載』『翔泳社刊行』『技術評論社刊行』の各ロゴを左から並べ、右端に『2002年創業・戦略コンサル実績20年超』のテキストバッジを配置。バーの背景色はネイビー系（信頼感を演出する色）、ロゴはグレースケールで統一してノイズを排除する。</a:t>
            </a:r>
            <a:endParaRPr lang="en-US" sz="1200" dirty="0"/>
          </a:p>
        </p:txBody>
      </p:sp>
      <p:sp>
        <p:nvSpPr>
          <p:cNvPr id="17" name="Text 15"/>
          <p:cNvSpPr/>
          <p:nvPr/>
        </p:nvSpPr>
        <p:spPr>
          <a:xfrm>
            <a:off x="548640" y="6537960"/>
            <a:ext cx="5486400" cy="228600"/>
          </a:xfrm>
          <a:prstGeom prst="rect">
            <a:avLst/>
          </a:prstGeom>
          <a:noFill/>
          <a:ln/>
        </p:spPr>
        <p:txBody>
          <a:bodyPr wrap="square" rtlCol="0" anchor="ctr"/>
          <a:lstStyle/>
          <a:p>
            <a:pPr indent="0" marL="0">
              <a:buNone/>
            </a:pPr>
            <a:r>
              <a:rPr lang="en-US" sz="900" dirty="0">
                <a:solidFill>
                  <a:srgbClr val="555555"/>
                </a:solidFill>
                <a:latin typeface="Yu Gothic UI" pitchFamily="34" charset="0"/>
                <a:ea typeface="Yu Gothic UI" pitchFamily="34" charset="-122"/>
                <a:cs typeface="Yu Gothic UI" pitchFamily="34" charset="-120"/>
              </a:rPr>
              <a:t>digi-kaku.or.jp</a:t>
            </a:r>
            <a:endParaRPr lang="en-US" sz="900" dirty="0"/>
          </a:p>
        </p:txBody>
      </p:sp>
      <p:sp>
        <p:nvSpPr>
          <p:cNvPr id="18" name="Text 16"/>
          <p:cNvSpPr/>
          <p:nvPr/>
        </p:nvSpPr>
        <p:spPr>
          <a:xfrm>
            <a:off x="6156655" y="6537960"/>
            <a:ext cx="5486400" cy="228600"/>
          </a:xfrm>
          <a:prstGeom prst="rect">
            <a:avLst/>
          </a:prstGeom>
          <a:noFill/>
          <a:ln/>
        </p:spPr>
        <p:txBody>
          <a:bodyPr wrap="square" rtlCol="0" anchor="ctr"/>
          <a:lstStyle/>
          <a:p>
            <a:pPr algn="r" indent="0" marL="0">
              <a:buNone/>
            </a:pPr>
            <a:r>
              <a:rPr lang="en-US" sz="900" dirty="0">
                <a:solidFill>
                  <a:srgbClr val="555555"/>
                </a:solidFill>
                <a:latin typeface="Yu Gothic UI" pitchFamily="34" charset="0"/>
                <a:ea typeface="Yu Gothic UI" pitchFamily="34" charset="-122"/>
                <a:cs typeface="Yu Gothic UI" pitchFamily="34" charset="-120"/>
              </a:rPr>
              <a:t>戦略指南 AI / AB3C 分析レポート　21 / 27</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EA580C"/>
          </a:solidFill>
          <a:ln w="12700">
            <a:solidFill>
              <a:srgbClr val="EA580C"/>
            </a:solidFill>
            <a:prstDash val="solid"/>
          </a:ln>
        </p:spPr>
      </p:sp>
      <p:sp>
        <p:nvSpPr>
          <p:cNvPr id="3" name="Text 1"/>
          <p:cNvSpPr/>
          <p:nvPr/>
        </p:nvSpPr>
        <p:spPr>
          <a:xfrm>
            <a:off x="548640" y="411480"/>
            <a:ext cx="11094415" cy="274320"/>
          </a:xfrm>
          <a:prstGeom prst="rect">
            <a:avLst/>
          </a:prstGeom>
          <a:noFill/>
          <a:ln/>
        </p:spPr>
        <p:txBody>
          <a:bodyPr wrap="square" rtlCol="0" anchor="ctr"/>
          <a:lstStyle/>
          <a:p>
            <a:pPr indent="0" marL="0">
              <a:buNone/>
            </a:pPr>
            <a:r>
              <a:rPr lang="en-US" sz="1100" spc="600" kern="0" dirty="0">
                <a:solidFill>
                  <a:srgbClr val="555555"/>
                </a:solidFill>
                <a:latin typeface="Consolas" pitchFamily="34" charset="0"/>
                <a:ea typeface="Consolas" pitchFamily="34" charset="-122"/>
                <a:cs typeface="Consolas" pitchFamily="34" charset="-120"/>
              </a:rPr>
              <a:t>PART 4  ─  WEBSITE IMPROVEMENT</a:t>
            </a:r>
            <a:endParaRPr lang="en-US" sz="1100" dirty="0"/>
          </a:p>
        </p:txBody>
      </p:sp>
      <p:sp>
        <p:nvSpPr>
          <p:cNvPr id="4" name="Text 2"/>
          <p:cNvSpPr/>
          <p:nvPr/>
        </p:nvSpPr>
        <p:spPr>
          <a:xfrm>
            <a:off x="548640" y="685800"/>
            <a:ext cx="11094415" cy="640080"/>
          </a:xfrm>
          <a:prstGeom prst="rect">
            <a:avLst/>
          </a:prstGeom>
          <a:noFill/>
          <a:ln/>
        </p:spPr>
        <p:txBody>
          <a:bodyPr wrap="square" rtlCol="0" anchor="ctr"/>
          <a:lstStyle/>
          <a:p>
            <a:pPr indent="0" marL="0">
              <a:buNone/>
            </a:pPr>
            <a:r>
              <a:rPr lang="en-US" sz="3000" b="1" dirty="0">
                <a:solidFill>
                  <a:srgbClr val="EA580C"/>
                </a:solidFill>
                <a:latin typeface="Noto Serif JP" pitchFamily="34" charset="0"/>
                <a:ea typeface="Noto Serif JP" pitchFamily="34" charset="-122"/>
                <a:cs typeface="Noto Serif JP" pitchFamily="34" charset="-120"/>
              </a:rPr>
              <a:t>改善すべきデザイン・ビジュアル（3/3）</a:t>
            </a:r>
            <a:endParaRPr lang="en-US" sz="3000" dirty="0"/>
          </a:p>
        </p:txBody>
      </p:sp>
      <p:sp>
        <p:nvSpPr>
          <p:cNvPr id="5" name="Shape 3"/>
          <p:cNvSpPr/>
          <p:nvPr/>
        </p:nvSpPr>
        <p:spPr>
          <a:xfrm>
            <a:off x="548640" y="1280160"/>
            <a:ext cx="11094415" cy="0"/>
          </a:xfrm>
          <a:prstGeom prst="line">
            <a:avLst/>
          </a:prstGeom>
          <a:noFill/>
          <a:ln w="12700">
            <a:solidFill>
              <a:srgbClr val="EA580C"/>
            </a:solidFill>
            <a:prstDash val="solid"/>
          </a:ln>
        </p:spPr>
      </p:sp>
      <p:sp>
        <p:nvSpPr>
          <p:cNvPr id="6" name="Text 4"/>
          <p:cNvSpPr/>
          <p:nvPr/>
        </p:nvSpPr>
        <p:spPr>
          <a:xfrm>
            <a:off x="548640" y="1371600"/>
            <a:ext cx="11094415" cy="274320"/>
          </a:xfrm>
          <a:prstGeom prst="rect">
            <a:avLst/>
          </a:prstGeom>
          <a:noFill/>
          <a:ln/>
        </p:spPr>
        <p:txBody>
          <a:bodyPr wrap="square" rtlCol="0" anchor="ctr"/>
          <a:lstStyle/>
          <a:p>
            <a:pPr indent="0" marL="0">
              <a:buNone/>
            </a:pPr>
            <a:r>
              <a:rPr lang="en-US" sz="1300" dirty="0">
                <a:solidFill>
                  <a:srgbClr val="555555"/>
                </a:solidFill>
                <a:latin typeface="Yu Gothic UI" pitchFamily="34" charset="0"/>
                <a:ea typeface="Yu Gothic UI" pitchFamily="34" charset="-122"/>
                <a:cs typeface="Yu Gothic UI" pitchFamily="34" charset="-120"/>
              </a:rPr>
              <a:t>視覚的に整えるべきポイント</a:t>
            </a:r>
            <a:endParaRPr lang="en-US" sz="1300" dirty="0"/>
          </a:p>
        </p:txBody>
      </p:sp>
      <p:sp>
        <p:nvSpPr>
          <p:cNvPr id="7" name="Shape 5"/>
          <p:cNvSpPr/>
          <p:nvPr/>
        </p:nvSpPr>
        <p:spPr>
          <a:xfrm>
            <a:off x="548640" y="1828800"/>
            <a:ext cx="594360" cy="594360"/>
          </a:xfrm>
          <a:prstGeom prst="rect">
            <a:avLst/>
          </a:prstGeom>
          <a:solidFill>
            <a:srgbClr val="EA580C"/>
          </a:solidFill>
          <a:ln w="12700">
            <a:solidFill>
              <a:srgbClr val="EA580C"/>
            </a:solidFill>
            <a:prstDash val="solid"/>
          </a:ln>
        </p:spPr>
      </p:sp>
      <p:sp>
        <p:nvSpPr>
          <p:cNvPr id="8" name="Text 6"/>
          <p:cNvSpPr/>
          <p:nvPr/>
        </p:nvSpPr>
        <p:spPr>
          <a:xfrm>
            <a:off x="548640" y="1828800"/>
            <a:ext cx="594360" cy="594360"/>
          </a:xfrm>
          <a:prstGeom prst="rect">
            <a:avLst/>
          </a:prstGeom>
          <a:noFill/>
          <a:ln/>
        </p:spPr>
        <p:txBody>
          <a:bodyPr wrap="square" rtlCol="0" anchor="ctr"/>
          <a:lstStyle/>
          <a:p>
            <a:pPr algn="ctr" indent="0" marL="0">
              <a:buNone/>
            </a:pPr>
            <a:r>
              <a:rPr lang="en-US" sz="2200" b="1" dirty="0">
                <a:solidFill>
                  <a:srgbClr val="FFFFFF"/>
                </a:solidFill>
                <a:latin typeface="Noto Serif JP" pitchFamily="34" charset="0"/>
                <a:ea typeface="Noto Serif JP" pitchFamily="34" charset="-122"/>
                <a:cs typeface="Noto Serif JP" pitchFamily="34" charset="-120"/>
              </a:rPr>
              <a:t>5</a:t>
            </a:r>
            <a:endParaRPr lang="en-US" sz="2200" dirty="0"/>
          </a:p>
        </p:txBody>
      </p:sp>
      <p:sp>
        <p:nvSpPr>
          <p:cNvPr id="9" name="Text 7"/>
          <p:cNvSpPr/>
          <p:nvPr/>
        </p:nvSpPr>
        <p:spPr>
          <a:xfrm>
            <a:off x="1325880" y="1783080"/>
            <a:ext cx="10317175" cy="685800"/>
          </a:xfrm>
          <a:prstGeom prst="rect">
            <a:avLst/>
          </a:prstGeom>
          <a:noFill/>
          <a:ln/>
        </p:spPr>
        <p:txBody>
          <a:bodyPr wrap="square" rtlCol="0" anchor="ctr"/>
          <a:lstStyle/>
          <a:p>
            <a:pPr indent="0" marL="0">
              <a:buNone/>
            </a:pPr>
            <a:r>
              <a:rPr lang="en-US" sz="2100" b="1" dirty="0">
                <a:solidFill>
                  <a:srgbClr val="1A1A14"/>
                </a:solidFill>
                <a:latin typeface="Yu Gothic UI" pitchFamily="34" charset="0"/>
                <a:ea typeface="Yu Gothic UI" pitchFamily="34" charset="-122"/>
                <a:cs typeface="Yu Gothic UI" pitchFamily="34" charset="-120"/>
              </a:rPr>
              <a:t>スマートフォン表示でのCTA導線の最適化</a:t>
            </a:r>
            <a:endParaRPr lang="en-US" sz="2100" dirty="0"/>
          </a:p>
        </p:txBody>
      </p:sp>
      <p:sp>
        <p:nvSpPr>
          <p:cNvPr id="10" name="Text 8"/>
          <p:cNvSpPr/>
          <p:nvPr/>
        </p:nvSpPr>
        <p:spPr>
          <a:xfrm>
            <a:off x="1325880" y="2514600"/>
            <a:ext cx="10317175" cy="777240"/>
          </a:xfrm>
          <a:prstGeom prst="rect">
            <a:avLst/>
          </a:prstGeom>
          <a:noFill/>
          <a:ln/>
        </p:spPr>
        <p:txBody>
          <a:bodyPr wrap="square" rtlCol="0" anchor="t">
            <a:normAutofit/>
          </a:bodyPr>
          <a:lstStyle/>
          <a:p>
            <a:pPr indent="0" marL="0">
              <a:lnSpc>
                <a:spcPct val="160000"/>
              </a:lnSpc>
              <a:buNone/>
            </a:pPr>
            <a:r>
              <a:rPr lang="en-US" sz="1200" b="1" dirty="0">
                <a:solidFill>
                  <a:srgbClr val="EA580C"/>
                </a:solidFill>
                <a:latin typeface="Yu Gothic UI" pitchFamily="34" charset="0"/>
                <a:ea typeface="Yu Gothic UI" pitchFamily="34" charset="-122"/>
                <a:cs typeface="Yu Gothic UI" pitchFamily="34" charset="-120"/>
              </a:rPr>
              <a:t>理由：</a:t>
            </a:r>
            <a:pPr indent="0" marL="0">
              <a:lnSpc>
                <a:spcPct val="160000"/>
              </a:lnSpc>
              <a:buNone/>
            </a:pPr>
            <a:r>
              <a:rPr lang="en-US" sz="1200" dirty="0">
                <a:solidFill>
                  <a:srgbClr val="555555"/>
                </a:solidFill>
                <a:latin typeface="Yu Gothic UI" pitchFamily="34" charset="0"/>
                <a:ea typeface="Yu Gothic UI" pitchFamily="34" charset="-122"/>
                <a:cs typeface="Yu Gothic UI" pitchFamily="34" charset="-120"/>
              </a:rPr>
              <a:t>独立系コンサルタント層はスマートフォンでSNSや検索からランディングすることが多い。現状サイトのモバイル表示でCTAボタンが画面の低い位置にあったり、テキスト量が多くスクロール離脱が起きやすい構造だと、せっかくの集客が無駄になる。</a:t>
            </a:r>
            <a:endParaRPr lang="en-US" sz="1200" dirty="0"/>
          </a:p>
        </p:txBody>
      </p:sp>
      <p:sp>
        <p:nvSpPr>
          <p:cNvPr id="11" name="Text 9"/>
          <p:cNvSpPr/>
          <p:nvPr/>
        </p:nvSpPr>
        <p:spPr>
          <a:xfrm>
            <a:off x="1325880" y="3337560"/>
            <a:ext cx="10317175" cy="777240"/>
          </a:xfrm>
          <a:prstGeom prst="rect">
            <a:avLst/>
          </a:prstGeom>
          <a:noFill/>
          <a:ln/>
        </p:spPr>
        <p:txBody>
          <a:bodyPr wrap="square" rtlCol="0" anchor="t">
            <a:normAutofit/>
          </a:bodyPr>
          <a:lstStyle/>
          <a:p>
            <a:pPr indent="0" marL="0">
              <a:lnSpc>
                <a:spcPct val="160000"/>
              </a:lnSpc>
              <a:buNone/>
            </a:pPr>
            <a:r>
              <a:rPr lang="en-US" sz="1200" b="1" dirty="0">
                <a:solidFill>
                  <a:srgbClr val="EA580C"/>
                </a:solidFill>
                <a:latin typeface="Yu Gothic UI" pitchFamily="34" charset="0"/>
                <a:ea typeface="Yu Gothic UI" pitchFamily="34" charset="-122"/>
                <a:cs typeface="Yu Gothic UI" pitchFamily="34" charset="-120"/>
              </a:rPr>
              <a:t>実装例：</a:t>
            </a:r>
            <a:pPr indent="0" marL="0">
              <a:lnSpc>
                <a:spcPct val="160000"/>
              </a:lnSpc>
              <a:buNone/>
            </a:pPr>
            <a:r>
              <a:rPr lang="en-US" sz="1200" dirty="0">
                <a:solidFill>
                  <a:srgbClr val="555555"/>
                </a:solidFill>
                <a:latin typeface="Yu Gothic UI" pitchFamily="34" charset="0"/>
                <a:ea typeface="Yu Gothic UI" pitchFamily="34" charset="-122"/>
                <a:cs typeface="Yu Gothic UI" pitchFamily="34" charset="-120"/>
              </a:rPr>
              <a:t>モバイル表示時に画面下部に固定表示されるスティッキーCTAバーを実装。左側に『資格を見る』（アウトライン）、右側に『AIを体験する』（塗りつぶし）の2ボタンを配置。スクロール量が50%を超えた時点でバーをフェードイン表示し、ユーザーの閲覧進度に連動して表示する。資格詳細ページでは『この資格に申し込む』ボタンを常時固定表示に変更する。</a:t>
            </a:r>
            <a:endParaRPr lang="en-US" sz="1200" dirty="0"/>
          </a:p>
        </p:txBody>
      </p:sp>
      <p:sp>
        <p:nvSpPr>
          <p:cNvPr id="12" name="Text 10"/>
          <p:cNvSpPr/>
          <p:nvPr/>
        </p:nvSpPr>
        <p:spPr>
          <a:xfrm>
            <a:off x="548640" y="6537960"/>
            <a:ext cx="5486400" cy="228600"/>
          </a:xfrm>
          <a:prstGeom prst="rect">
            <a:avLst/>
          </a:prstGeom>
          <a:noFill/>
          <a:ln/>
        </p:spPr>
        <p:txBody>
          <a:bodyPr wrap="square" rtlCol="0" anchor="ctr"/>
          <a:lstStyle/>
          <a:p>
            <a:pPr indent="0" marL="0">
              <a:buNone/>
            </a:pPr>
            <a:r>
              <a:rPr lang="en-US" sz="900" dirty="0">
                <a:solidFill>
                  <a:srgbClr val="555555"/>
                </a:solidFill>
                <a:latin typeface="Yu Gothic UI" pitchFamily="34" charset="0"/>
                <a:ea typeface="Yu Gothic UI" pitchFamily="34" charset="-122"/>
                <a:cs typeface="Yu Gothic UI" pitchFamily="34" charset="-120"/>
              </a:rPr>
              <a:t>digi-kaku.or.jp</a:t>
            </a:r>
            <a:endParaRPr lang="en-US" sz="900" dirty="0"/>
          </a:p>
        </p:txBody>
      </p:sp>
      <p:sp>
        <p:nvSpPr>
          <p:cNvPr id="13" name="Text 11"/>
          <p:cNvSpPr/>
          <p:nvPr/>
        </p:nvSpPr>
        <p:spPr>
          <a:xfrm>
            <a:off x="6156655" y="6537960"/>
            <a:ext cx="5486400" cy="228600"/>
          </a:xfrm>
          <a:prstGeom prst="rect">
            <a:avLst/>
          </a:prstGeom>
          <a:noFill/>
          <a:ln/>
        </p:spPr>
        <p:txBody>
          <a:bodyPr wrap="square" rtlCol="0" anchor="ctr"/>
          <a:lstStyle/>
          <a:p>
            <a:pPr algn="r" indent="0" marL="0">
              <a:buNone/>
            </a:pPr>
            <a:r>
              <a:rPr lang="en-US" sz="900" dirty="0">
                <a:solidFill>
                  <a:srgbClr val="555555"/>
                </a:solidFill>
                <a:latin typeface="Yu Gothic UI" pitchFamily="34" charset="0"/>
                <a:ea typeface="Yu Gothic UI" pitchFamily="34" charset="-122"/>
                <a:cs typeface="Yu Gothic UI" pitchFamily="34" charset="-120"/>
              </a:rPr>
              <a:t>戦略指南 AI / AB3C 分析レポート　22 / 27</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EA580C"/>
          </a:solidFill>
          <a:ln w="12700">
            <a:solidFill>
              <a:srgbClr val="EA580C"/>
            </a:solidFill>
            <a:prstDash val="solid"/>
          </a:ln>
        </p:spPr>
      </p:sp>
      <p:sp>
        <p:nvSpPr>
          <p:cNvPr id="3" name="Text 1"/>
          <p:cNvSpPr/>
          <p:nvPr/>
        </p:nvSpPr>
        <p:spPr>
          <a:xfrm>
            <a:off x="548640" y="411480"/>
            <a:ext cx="11094415" cy="274320"/>
          </a:xfrm>
          <a:prstGeom prst="rect">
            <a:avLst/>
          </a:prstGeom>
          <a:noFill/>
          <a:ln/>
        </p:spPr>
        <p:txBody>
          <a:bodyPr wrap="square" rtlCol="0" anchor="ctr"/>
          <a:lstStyle/>
          <a:p>
            <a:pPr indent="0" marL="0">
              <a:buNone/>
            </a:pPr>
            <a:r>
              <a:rPr lang="en-US" sz="1100" spc="600" kern="0" dirty="0">
                <a:solidFill>
                  <a:srgbClr val="555555"/>
                </a:solidFill>
                <a:latin typeface="Consolas" pitchFamily="34" charset="0"/>
                <a:ea typeface="Consolas" pitchFamily="34" charset="-122"/>
                <a:cs typeface="Consolas" pitchFamily="34" charset="-120"/>
              </a:rPr>
              <a:t>PART 4  ─  WEBSITE IMPROVEMENT</a:t>
            </a:r>
            <a:endParaRPr lang="en-US" sz="1100" dirty="0"/>
          </a:p>
        </p:txBody>
      </p:sp>
      <p:sp>
        <p:nvSpPr>
          <p:cNvPr id="4" name="Text 2"/>
          <p:cNvSpPr/>
          <p:nvPr/>
        </p:nvSpPr>
        <p:spPr>
          <a:xfrm>
            <a:off x="548640" y="685800"/>
            <a:ext cx="11094415" cy="640080"/>
          </a:xfrm>
          <a:prstGeom prst="rect">
            <a:avLst/>
          </a:prstGeom>
          <a:noFill/>
          <a:ln/>
        </p:spPr>
        <p:txBody>
          <a:bodyPr wrap="square" rtlCol="0" anchor="ctr"/>
          <a:lstStyle/>
          <a:p>
            <a:pPr indent="0" marL="0">
              <a:buNone/>
            </a:pPr>
            <a:r>
              <a:rPr lang="en-US" sz="3000" b="1" dirty="0">
                <a:solidFill>
                  <a:srgbClr val="EA580C"/>
                </a:solidFill>
                <a:latin typeface="Noto Serif JP" pitchFamily="34" charset="0"/>
                <a:ea typeface="Noto Serif JP" pitchFamily="34" charset="-122"/>
                <a:cs typeface="Noto Serif JP" pitchFamily="34" charset="-120"/>
              </a:rPr>
              <a:t>サイト構造の改善（1/3）</a:t>
            </a:r>
            <a:endParaRPr lang="en-US" sz="3000" dirty="0"/>
          </a:p>
        </p:txBody>
      </p:sp>
      <p:sp>
        <p:nvSpPr>
          <p:cNvPr id="5" name="Shape 3"/>
          <p:cNvSpPr/>
          <p:nvPr/>
        </p:nvSpPr>
        <p:spPr>
          <a:xfrm>
            <a:off x="548640" y="1280160"/>
            <a:ext cx="11094415" cy="0"/>
          </a:xfrm>
          <a:prstGeom prst="line">
            <a:avLst/>
          </a:prstGeom>
          <a:noFill/>
          <a:ln w="12700">
            <a:solidFill>
              <a:srgbClr val="EA580C"/>
            </a:solidFill>
            <a:prstDash val="solid"/>
          </a:ln>
        </p:spPr>
      </p:sp>
      <p:sp>
        <p:nvSpPr>
          <p:cNvPr id="6" name="Text 4"/>
          <p:cNvSpPr/>
          <p:nvPr/>
        </p:nvSpPr>
        <p:spPr>
          <a:xfrm>
            <a:off x="548640" y="1371600"/>
            <a:ext cx="11094415" cy="274320"/>
          </a:xfrm>
          <a:prstGeom prst="rect">
            <a:avLst/>
          </a:prstGeom>
          <a:noFill/>
          <a:ln/>
        </p:spPr>
        <p:txBody>
          <a:bodyPr wrap="square" rtlCol="0" anchor="ctr"/>
          <a:lstStyle/>
          <a:p>
            <a:pPr indent="0" marL="0">
              <a:buNone/>
            </a:pPr>
            <a:r>
              <a:rPr lang="en-US" sz="1300" dirty="0">
                <a:solidFill>
                  <a:srgbClr val="555555"/>
                </a:solidFill>
                <a:latin typeface="Yu Gothic UI" pitchFamily="34" charset="0"/>
                <a:ea typeface="Yu Gothic UI" pitchFamily="34" charset="-122"/>
                <a:cs typeface="Yu Gothic UI" pitchFamily="34" charset="-120"/>
              </a:rPr>
              <a:t>情報設計・導線・ページ構成の改善</a:t>
            </a:r>
            <a:endParaRPr lang="en-US" sz="1300" dirty="0"/>
          </a:p>
        </p:txBody>
      </p:sp>
      <p:sp>
        <p:nvSpPr>
          <p:cNvPr id="7" name="Shape 5"/>
          <p:cNvSpPr/>
          <p:nvPr/>
        </p:nvSpPr>
        <p:spPr>
          <a:xfrm>
            <a:off x="548640" y="1828800"/>
            <a:ext cx="594360" cy="594360"/>
          </a:xfrm>
          <a:prstGeom prst="rect">
            <a:avLst/>
          </a:prstGeom>
          <a:solidFill>
            <a:srgbClr val="EA580C"/>
          </a:solidFill>
          <a:ln w="12700">
            <a:solidFill>
              <a:srgbClr val="EA580C"/>
            </a:solidFill>
            <a:prstDash val="solid"/>
          </a:ln>
        </p:spPr>
      </p:sp>
      <p:sp>
        <p:nvSpPr>
          <p:cNvPr id="8" name="Text 6"/>
          <p:cNvSpPr/>
          <p:nvPr/>
        </p:nvSpPr>
        <p:spPr>
          <a:xfrm>
            <a:off x="548640" y="1828800"/>
            <a:ext cx="594360" cy="594360"/>
          </a:xfrm>
          <a:prstGeom prst="rect">
            <a:avLst/>
          </a:prstGeom>
          <a:noFill/>
          <a:ln/>
        </p:spPr>
        <p:txBody>
          <a:bodyPr wrap="square" rtlCol="0" anchor="ctr"/>
          <a:lstStyle/>
          <a:p>
            <a:pPr algn="ctr" indent="0" marL="0">
              <a:buNone/>
            </a:pPr>
            <a:r>
              <a:rPr lang="en-US" sz="2200" b="1" dirty="0">
                <a:solidFill>
                  <a:srgbClr val="FFFFFF"/>
                </a:solidFill>
                <a:latin typeface="Noto Serif JP" pitchFamily="34" charset="0"/>
                <a:ea typeface="Noto Serif JP" pitchFamily="34" charset="-122"/>
                <a:cs typeface="Noto Serif JP" pitchFamily="34" charset="-120"/>
              </a:rPr>
              <a:t>1</a:t>
            </a:r>
            <a:endParaRPr lang="en-US" sz="2200" dirty="0"/>
          </a:p>
        </p:txBody>
      </p:sp>
      <p:sp>
        <p:nvSpPr>
          <p:cNvPr id="9" name="Text 7"/>
          <p:cNvSpPr/>
          <p:nvPr/>
        </p:nvSpPr>
        <p:spPr>
          <a:xfrm>
            <a:off x="1325880" y="1783080"/>
            <a:ext cx="10317175" cy="685800"/>
          </a:xfrm>
          <a:prstGeom prst="rect">
            <a:avLst/>
          </a:prstGeom>
          <a:noFill/>
          <a:ln/>
        </p:spPr>
        <p:txBody>
          <a:bodyPr wrap="square" rtlCol="0" anchor="ctr"/>
          <a:lstStyle/>
          <a:p>
            <a:pPr indent="0" marL="0">
              <a:buNone/>
            </a:pPr>
            <a:r>
              <a:rPr lang="en-US" sz="2100" b="1" dirty="0">
                <a:solidFill>
                  <a:srgbClr val="1A1A14"/>
                </a:solidFill>
                <a:latin typeface="Yu Gothic UI" pitchFamily="34" charset="0"/>
                <a:ea typeface="Yu Gothic UI" pitchFamily="34" charset="-122"/>
                <a:cs typeface="Yu Gothic UI" pitchFamily="34" charset="-120"/>
              </a:rPr>
              <a:t>ターゲット別のランディングページ分岐をトップページに設置</a:t>
            </a:r>
            <a:endParaRPr lang="en-US" sz="2100" dirty="0"/>
          </a:p>
        </p:txBody>
      </p:sp>
      <p:sp>
        <p:nvSpPr>
          <p:cNvPr id="10" name="Text 8"/>
          <p:cNvSpPr/>
          <p:nvPr/>
        </p:nvSpPr>
        <p:spPr>
          <a:xfrm>
            <a:off x="1325880" y="2514600"/>
            <a:ext cx="10317175" cy="777240"/>
          </a:xfrm>
          <a:prstGeom prst="rect">
            <a:avLst/>
          </a:prstGeom>
          <a:noFill/>
          <a:ln/>
        </p:spPr>
        <p:txBody>
          <a:bodyPr wrap="square" rtlCol="0" anchor="t">
            <a:normAutofit/>
          </a:bodyPr>
          <a:lstStyle/>
          <a:p>
            <a:pPr indent="0" marL="0">
              <a:lnSpc>
                <a:spcPct val="160000"/>
              </a:lnSpc>
              <a:buNone/>
            </a:pPr>
            <a:r>
              <a:rPr lang="en-US" sz="1200" b="1" dirty="0">
                <a:solidFill>
                  <a:srgbClr val="EA580C"/>
                </a:solidFill>
                <a:latin typeface="Yu Gothic UI" pitchFamily="34" charset="0"/>
                <a:ea typeface="Yu Gothic UI" pitchFamily="34" charset="-122"/>
                <a:cs typeface="Yu Gothic UI" pitchFamily="34" charset="-120"/>
              </a:rPr>
              <a:t>理由：</a:t>
            </a:r>
            <a:pPr indent="0" marL="0">
              <a:lnSpc>
                <a:spcPct val="160000"/>
              </a:lnSpc>
              <a:buNone/>
            </a:pPr>
            <a:r>
              <a:rPr lang="en-US" sz="1200" dirty="0">
                <a:solidFill>
                  <a:srgbClr val="555555"/>
                </a:solidFill>
                <a:latin typeface="Yu Gothic UI" pitchFamily="34" charset="0"/>
                <a:ea typeface="Yu Gothic UI" pitchFamily="34" charset="-122"/>
                <a:cs typeface="Yu Gothic UI" pitchFamily="34" charset="-120"/>
              </a:rPr>
              <a:t>現状のサイトは経営者・コンサルタント・AI学習者という3つの異なるターゲットを一つのトップページで受けており、各ターゲットが自分に関係のある情報にたどり着くまでの認知コストが高い。AB3C分析で3つの顧客組み合わせが特定されているため、入口から導線を分岐させることで離脱率を大幅に下げられる。</a:t>
            </a:r>
            <a:endParaRPr lang="en-US" sz="1200" dirty="0"/>
          </a:p>
        </p:txBody>
      </p:sp>
      <p:sp>
        <p:nvSpPr>
          <p:cNvPr id="11" name="Text 9"/>
          <p:cNvSpPr/>
          <p:nvPr/>
        </p:nvSpPr>
        <p:spPr>
          <a:xfrm>
            <a:off x="1325880" y="3337560"/>
            <a:ext cx="10317175" cy="777240"/>
          </a:xfrm>
          <a:prstGeom prst="rect">
            <a:avLst/>
          </a:prstGeom>
          <a:noFill/>
          <a:ln/>
        </p:spPr>
        <p:txBody>
          <a:bodyPr wrap="square" rtlCol="0" anchor="t">
            <a:normAutofit/>
          </a:bodyPr>
          <a:lstStyle/>
          <a:p>
            <a:pPr indent="0" marL="0">
              <a:lnSpc>
                <a:spcPct val="160000"/>
              </a:lnSpc>
              <a:buNone/>
            </a:pPr>
            <a:r>
              <a:rPr lang="en-US" sz="1200" b="1" dirty="0">
                <a:solidFill>
                  <a:srgbClr val="EA580C"/>
                </a:solidFill>
                <a:latin typeface="Yu Gothic UI" pitchFamily="34" charset="0"/>
                <a:ea typeface="Yu Gothic UI" pitchFamily="34" charset="-122"/>
                <a:cs typeface="Yu Gothic UI" pitchFamily="34" charset="-120"/>
              </a:rPr>
              <a:t>実装例：</a:t>
            </a:r>
            <a:pPr indent="0" marL="0">
              <a:lnSpc>
                <a:spcPct val="160000"/>
              </a:lnSpc>
              <a:buNone/>
            </a:pPr>
            <a:r>
              <a:rPr lang="en-US" sz="1200" dirty="0">
                <a:solidFill>
                  <a:srgbClr val="555555"/>
                </a:solidFill>
                <a:latin typeface="Yu Gothic UI" pitchFamily="34" charset="0"/>
                <a:ea typeface="Yu Gothic UI" pitchFamily="34" charset="-122"/>
                <a:cs typeface="Yu Gothic UI" pitchFamily="34" charset="-120"/>
              </a:rPr>
              <a:t>トップページのファーストビュー直下に『あなたはどちらですか？』という選択セクションを設置。①『経営戦略を学びたい経営者の方』②『資格で提案力を証明したい専門家の方』③『AIを経営に活かしたい方』の3ボタンを配置し、それぞれ別の専用ランディングページへ誘導。各LPは対応するAB3C戦略メッセージに最適化したコピーとCTAを設計する。</a:t>
            </a:r>
            <a:endParaRPr lang="en-US" sz="1200" dirty="0"/>
          </a:p>
        </p:txBody>
      </p:sp>
      <p:sp>
        <p:nvSpPr>
          <p:cNvPr id="12" name="Shape 10"/>
          <p:cNvSpPr/>
          <p:nvPr/>
        </p:nvSpPr>
        <p:spPr>
          <a:xfrm>
            <a:off x="548640" y="4114800"/>
            <a:ext cx="594360" cy="594360"/>
          </a:xfrm>
          <a:prstGeom prst="rect">
            <a:avLst/>
          </a:prstGeom>
          <a:solidFill>
            <a:srgbClr val="EA580C"/>
          </a:solidFill>
          <a:ln w="12700">
            <a:solidFill>
              <a:srgbClr val="EA580C"/>
            </a:solidFill>
            <a:prstDash val="solid"/>
          </a:ln>
        </p:spPr>
      </p:sp>
      <p:sp>
        <p:nvSpPr>
          <p:cNvPr id="13" name="Text 11"/>
          <p:cNvSpPr/>
          <p:nvPr/>
        </p:nvSpPr>
        <p:spPr>
          <a:xfrm>
            <a:off x="548640" y="4114800"/>
            <a:ext cx="594360" cy="594360"/>
          </a:xfrm>
          <a:prstGeom prst="rect">
            <a:avLst/>
          </a:prstGeom>
          <a:noFill/>
          <a:ln/>
        </p:spPr>
        <p:txBody>
          <a:bodyPr wrap="square" rtlCol="0" anchor="ctr"/>
          <a:lstStyle/>
          <a:p>
            <a:pPr algn="ctr" indent="0" marL="0">
              <a:buNone/>
            </a:pPr>
            <a:r>
              <a:rPr lang="en-US" sz="2200" b="1" dirty="0">
                <a:solidFill>
                  <a:srgbClr val="FFFFFF"/>
                </a:solidFill>
                <a:latin typeface="Noto Serif JP" pitchFamily="34" charset="0"/>
                <a:ea typeface="Noto Serif JP" pitchFamily="34" charset="-122"/>
                <a:cs typeface="Noto Serif JP" pitchFamily="34" charset="-120"/>
              </a:rPr>
              <a:t>2</a:t>
            </a:r>
            <a:endParaRPr lang="en-US" sz="2200" dirty="0"/>
          </a:p>
        </p:txBody>
      </p:sp>
      <p:sp>
        <p:nvSpPr>
          <p:cNvPr id="14" name="Text 12"/>
          <p:cNvSpPr/>
          <p:nvPr/>
        </p:nvSpPr>
        <p:spPr>
          <a:xfrm>
            <a:off x="1325880" y="4069080"/>
            <a:ext cx="10317175" cy="685800"/>
          </a:xfrm>
          <a:prstGeom prst="rect">
            <a:avLst/>
          </a:prstGeom>
          <a:noFill/>
          <a:ln/>
        </p:spPr>
        <p:txBody>
          <a:bodyPr wrap="square" rtlCol="0" anchor="ctr"/>
          <a:lstStyle/>
          <a:p>
            <a:pPr indent="0" marL="0">
              <a:buNone/>
            </a:pPr>
            <a:r>
              <a:rPr lang="en-US" sz="2100" b="1" dirty="0">
                <a:solidFill>
                  <a:srgbClr val="1A1A14"/>
                </a:solidFill>
                <a:latin typeface="Yu Gothic UI" pitchFamily="34" charset="0"/>
                <a:ea typeface="Yu Gothic UI" pitchFamily="34" charset="-122"/>
                <a:cs typeface="Yu Gothic UI" pitchFamily="34" charset="-120"/>
              </a:rPr>
              <a:t>資格申込ページへの最短3クリック導線の構築</a:t>
            </a:r>
            <a:endParaRPr lang="en-US" sz="2100" dirty="0"/>
          </a:p>
        </p:txBody>
      </p:sp>
      <p:sp>
        <p:nvSpPr>
          <p:cNvPr id="15" name="Text 13"/>
          <p:cNvSpPr/>
          <p:nvPr/>
        </p:nvSpPr>
        <p:spPr>
          <a:xfrm>
            <a:off x="1325880" y="4800600"/>
            <a:ext cx="10317175" cy="777240"/>
          </a:xfrm>
          <a:prstGeom prst="rect">
            <a:avLst/>
          </a:prstGeom>
          <a:noFill/>
          <a:ln/>
        </p:spPr>
        <p:txBody>
          <a:bodyPr wrap="square" rtlCol="0" anchor="t">
            <a:normAutofit/>
          </a:bodyPr>
          <a:lstStyle/>
          <a:p>
            <a:pPr indent="0" marL="0">
              <a:lnSpc>
                <a:spcPct val="160000"/>
              </a:lnSpc>
              <a:buNone/>
            </a:pPr>
            <a:r>
              <a:rPr lang="en-US" sz="1200" b="1" dirty="0">
                <a:solidFill>
                  <a:srgbClr val="EA580C"/>
                </a:solidFill>
                <a:latin typeface="Yu Gothic UI" pitchFamily="34" charset="0"/>
                <a:ea typeface="Yu Gothic UI" pitchFamily="34" charset="-122"/>
                <a:cs typeface="Yu Gothic UI" pitchFamily="34" charset="-120"/>
              </a:rPr>
              <a:t>理由：</a:t>
            </a:r>
            <a:pPr indent="0" marL="0">
              <a:lnSpc>
                <a:spcPct val="160000"/>
              </a:lnSpc>
              <a:buNone/>
            </a:pPr>
            <a:r>
              <a:rPr lang="en-US" sz="1200" dirty="0">
                <a:solidFill>
                  <a:srgbClr val="555555"/>
                </a:solidFill>
                <a:latin typeface="Yu Gothic UI" pitchFamily="34" charset="0"/>
                <a:ea typeface="Yu Gothic UI" pitchFamily="34" charset="-122"/>
                <a:cs typeface="Yu Gothic UI" pitchFamily="34" charset="-120"/>
              </a:rPr>
              <a:t>ターゲットのコンサルタント層はウォンツ段階にあり、すでに資格取得を検討している。にも関わらず、トップページから資格申込完了まで多くのクリックと情報収集が必要な構造だと、途中離脱が増える。意思決定をサポートする情報を申込ページに集約し、回遊させずに申込まで完結させる設計が必要。</a:t>
            </a:r>
            <a:endParaRPr lang="en-US" sz="1200" dirty="0"/>
          </a:p>
        </p:txBody>
      </p:sp>
      <p:sp>
        <p:nvSpPr>
          <p:cNvPr id="16" name="Text 14"/>
          <p:cNvSpPr/>
          <p:nvPr/>
        </p:nvSpPr>
        <p:spPr>
          <a:xfrm>
            <a:off x="1325880" y="5623560"/>
            <a:ext cx="10317175" cy="777240"/>
          </a:xfrm>
          <a:prstGeom prst="rect">
            <a:avLst/>
          </a:prstGeom>
          <a:noFill/>
          <a:ln/>
        </p:spPr>
        <p:txBody>
          <a:bodyPr wrap="square" rtlCol="0" anchor="t">
            <a:normAutofit/>
          </a:bodyPr>
          <a:lstStyle/>
          <a:p>
            <a:pPr indent="0" marL="0">
              <a:lnSpc>
                <a:spcPct val="160000"/>
              </a:lnSpc>
              <a:buNone/>
            </a:pPr>
            <a:r>
              <a:rPr lang="en-US" sz="1200" b="1" dirty="0">
                <a:solidFill>
                  <a:srgbClr val="EA580C"/>
                </a:solidFill>
                <a:latin typeface="Yu Gothic UI" pitchFamily="34" charset="0"/>
                <a:ea typeface="Yu Gothic UI" pitchFamily="34" charset="-122"/>
                <a:cs typeface="Yu Gothic UI" pitchFamily="34" charset="-120"/>
              </a:rPr>
              <a:t>実装例：</a:t>
            </a:r>
            <a:pPr indent="0" marL="0">
              <a:lnSpc>
                <a:spcPct val="160000"/>
              </a:lnSpc>
              <a:buNone/>
            </a:pPr>
            <a:r>
              <a:rPr lang="en-US" sz="1200" dirty="0">
                <a:solidFill>
                  <a:srgbClr val="555555"/>
                </a:solidFill>
                <a:latin typeface="Yu Gothic UI" pitchFamily="34" charset="0"/>
                <a:ea typeface="Yu Gothic UI" pitchFamily="34" charset="-122"/>
                <a:cs typeface="Yu Gothic UI" pitchFamily="34" charset="-120"/>
              </a:rPr>
              <a:t>グローバルナビに『資格を取得する』という専用メニューを追加し、クリックすると資格一覧ページへ直接遷移。資格一覧ページの各資格カードには『詳細を見る』ではなく『この資格に申し込む』ボタンを配置し、クリックで申込フォームへ直遷移。申込フォームページ内に資格の要点（取得期間・費用・取得後のサポート・事例1件）をコンパクトにまとめたサイドバーを設置し、ページを離れずに情報確認できる構成にする。</a:t>
            </a:r>
            <a:endParaRPr lang="en-US" sz="1200" dirty="0"/>
          </a:p>
        </p:txBody>
      </p:sp>
      <p:sp>
        <p:nvSpPr>
          <p:cNvPr id="17" name="Text 15"/>
          <p:cNvSpPr/>
          <p:nvPr/>
        </p:nvSpPr>
        <p:spPr>
          <a:xfrm>
            <a:off x="548640" y="6537960"/>
            <a:ext cx="5486400" cy="228600"/>
          </a:xfrm>
          <a:prstGeom prst="rect">
            <a:avLst/>
          </a:prstGeom>
          <a:noFill/>
          <a:ln/>
        </p:spPr>
        <p:txBody>
          <a:bodyPr wrap="square" rtlCol="0" anchor="ctr"/>
          <a:lstStyle/>
          <a:p>
            <a:pPr indent="0" marL="0">
              <a:buNone/>
            </a:pPr>
            <a:r>
              <a:rPr lang="en-US" sz="900" dirty="0">
                <a:solidFill>
                  <a:srgbClr val="555555"/>
                </a:solidFill>
                <a:latin typeface="Yu Gothic UI" pitchFamily="34" charset="0"/>
                <a:ea typeface="Yu Gothic UI" pitchFamily="34" charset="-122"/>
                <a:cs typeface="Yu Gothic UI" pitchFamily="34" charset="-120"/>
              </a:rPr>
              <a:t>digi-kaku.or.jp</a:t>
            </a:r>
            <a:endParaRPr lang="en-US" sz="900" dirty="0"/>
          </a:p>
        </p:txBody>
      </p:sp>
      <p:sp>
        <p:nvSpPr>
          <p:cNvPr id="18" name="Text 16"/>
          <p:cNvSpPr/>
          <p:nvPr/>
        </p:nvSpPr>
        <p:spPr>
          <a:xfrm>
            <a:off x="6156655" y="6537960"/>
            <a:ext cx="5486400" cy="228600"/>
          </a:xfrm>
          <a:prstGeom prst="rect">
            <a:avLst/>
          </a:prstGeom>
          <a:noFill/>
          <a:ln/>
        </p:spPr>
        <p:txBody>
          <a:bodyPr wrap="square" rtlCol="0" anchor="ctr"/>
          <a:lstStyle/>
          <a:p>
            <a:pPr algn="r" indent="0" marL="0">
              <a:buNone/>
            </a:pPr>
            <a:r>
              <a:rPr lang="en-US" sz="900" dirty="0">
                <a:solidFill>
                  <a:srgbClr val="555555"/>
                </a:solidFill>
                <a:latin typeface="Yu Gothic UI" pitchFamily="34" charset="0"/>
                <a:ea typeface="Yu Gothic UI" pitchFamily="34" charset="-122"/>
                <a:cs typeface="Yu Gothic UI" pitchFamily="34" charset="-120"/>
              </a:rPr>
              <a:t>戦略指南 AI / AB3C 分析レポート　23 / 27</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EA580C"/>
          </a:solidFill>
          <a:ln w="12700">
            <a:solidFill>
              <a:srgbClr val="EA580C"/>
            </a:solidFill>
            <a:prstDash val="solid"/>
          </a:ln>
        </p:spPr>
      </p:sp>
      <p:sp>
        <p:nvSpPr>
          <p:cNvPr id="3" name="Text 1"/>
          <p:cNvSpPr/>
          <p:nvPr/>
        </p:nvSpPr>
        <p:spPr>
          <a:xfrm>
            <a:off x="548640" y="411480"/>
            <a:ext cx="11094415" cy="274320"/>
          </a:xfrm>
          <a:prstGeom prst="rect">
            <a:avLst/>
          </a:prstGeom>
          <a:noFill/>
          <a:ln/>
        </p:spPr>
        <p:txBody>
          <a:bodyPr wrap="square" rtlCol="0" anchor="ctr"/>
          <a:lstStyle/>
          <a:p>
            <a:pPr indent="0" marL="0">
              <a:buNone/>
            </a:pPr>
            <a:r>
              <a:rPr lang="en-US" sz="1100" spc="600" kern="0" dirty="0">
                <a:solidFill>
                  <a:srgbClr val="555555"/>
                </a:solidFill>
                <a:latin typeface="Consolas" pitchFamily="34" charset="0"/>
                <a:ea typeface="Consolas" pitchFamily="34" charset="-122"/>
                <a:cs typeface="Consolas" pitchFamily="34" charset="-120"/>
              </a:rPr>
              <a:t>PART 4  ─  WEBSITE IMPROVEMENT</a:t>
            </a:r>
            <a:endParaRPr lang="en-US" sz="1100" dirty="0"/>
          </a:p>
        </p:txBody>
      </p:sp>
      <p:sp>
        <p:nvSpPr>
          <p:cNvPr id="4" name="Text 2"/>
          <p:cNvSpPr/>
          <p:nvPr/>
        </p:nvSpPr>
        <p:spPr>
          <a:xfrm>
            <a:off x="548640" y="685800"/>
            <a:ext cx="11094415" cy="640080"/>
          </a:xfrm>
          <a:prstGeom prst="rect">
            <a:avLst/>
          </a:prstGeom>
          <a:noFill/>
          <a:ln/>
        </p:spPr>
        <p:txBody>
          <a:bodyPr wrap="square" rtlCol="0" anchor="ctr"/>
          <a:lstStyle/>
          <a:p>
            <a:pPr indent="0" marL="0">
              <a:buNone/>
            </a:pPr>
            <a:r>
              <a:rPr lang="en-US" sz="3000" b="1" dirty="0">
                <a:solidFill>
                  <a:srgbClr val="EA580C"/>
                </a:solidFill>
                <a:latin typeface="Noto Serif JP" pitchFamily="34" charset="0"/>
                <a:ea typeface="Noto Serif JP" pitchFamily="34" charset="-122"/>
                <a:cs typeface="Noto Serif JP" pitchFamily="34" charset="-120"/>
              </a:rPr>
              <a:t>サイト構造の改善（2/3）</a:t>
            </a:r>
            <a:endParaRPr lang="en-US" sz="3000" dirty="0"/>
          </a:p>
        </p:txBody>
      </p:sp>
      <p:sp>
        <p:nvSpPr>
          <p:cNvPr id="5" name="Shape 3"/>
          <p:cNvSpPr/>
          <p:nvPr/>
        </p:nvSpPr>
        <p:spPr>
          <a:xfrm>
            <a:off x="548640" y="1280160"/>
            <a:ext cx="11094415" cy="0"/>
          </a:xfrm>
          <a:prstGeom prst="line">
            <a:avLst/>
          </a:prstGeom>
          <a:noFill/>
          <a:ln w="12700">
            <a:solidFill>
              <a:srgbClr val="EA580C"/>
            </a:solidFill>
            <a:prstDash val="solid"/>
          </a:ln>
        </p:spPr>
      </p:sp>
      <p:sp>
        <p:nvSpPr>
          <p:cNvPr id="6" name="Text 4"/>
          <p:cNvSpPr/>
          <p:nvPr/>
        </p:nvSpPr>
        <p:spPr>
          <a:xfrm>
            <a:off x="548640" y="1371600"/>
            <a:ext cx="11094415" cy="274320"/>
          </a:xfrm>
          <a:prstGeom prst="rect">
            <a:avLst/>
          </a:prstGeom>
          <a:noFill/>
          <a:ln/>
        </p:spPr>
        <p:txBody>
          <a:bodyPr wrap="square" rtlCol="0" anchor="ctr"/>
          <a:lstStyle/>
          <a:p>
            <a:pPr indent="0" marL="0">
              <a:buNone/>
            </a:pPr>
            <a:r>
              <a:rPr lang="en-US" sz="1300" dirty="0">
                <a:solidFill>
                  <a:srgbClr val="555555"/>
                </a:solidFill>
                <a:latin typeface="Yu Gothic UI" pitchFamily="34" charset="0"/>
                <a:ea typeface="Yu Gothic UI" pitchFamily="34" charset="-122"/>
                <a:cs typeface="Yu Gothic UI" pitchFamily="34" charset="-120"/>
              </a:rPr>
              <a:t>情報設計・導線・ページ構成の改善</a:t>
            </a:r>
            <a:endParaRPr lang="en-US" sz="1300" dirty="0"/>
          </a:p>
        </p:txBody>
      </p:sp>
      <p:sp>
        <p:nvSpPr>
          <p:cNvPr id="7" name="Shape 5"/>
          <p:cNvSpPr/>
          <p:nvPr/>
        </p:nvSpPr>
        <p:spPr>
          <a:xfrm>
            <a:off x="548640" y="1828800"/>
            <a:ext cx="594360" cy="594360"/>
          </a:xfrm>
          <a:prstGeom prst="rect">
            <a:avLst/>
          </a:prstGeom>
          <a:solidFill>
            <a:srgbClr val="EA580C"/>
          </a:solidFill>
          <a:ln w="12700">
            <a:solidFill>
              <a:srgbClr val="EA580C"/>
            </a:solidFill>
            <a:prstDash val="solid"/>
          </a:ln>
        </p:spPr>
      </p:sp>
      <p:sp>
        <p:nvSpPr>
          <p:cNvPr id="8" name="Text 6"/>
          <p:cNvSpPr/>
          <p:nvPr/>
        </p:nvSpPr>
        <p:spPr>
          <a:xfrm>
            <a:off x="548640" y="1828800"/>
            <a:ext cx="594360" cy="594360"/>
          </a:xfrm>
          <a:prstGeom prst="rect">
            <a:avLst/>
          </a:prstGeom>
          <a:noFill/>
          <a:ln/>
        </p:spPr>
        <p:txBody>
          <a:bodyPr wrap="square" rtlCol="0" anchor="ctr"/>
          <a:lstStyle/>
          <a:p>
            <a:pPr algn="ctr" indent="0" marL="0">
              <a:buNone/>
            </a:pPr>
            <a:r>
              <a:rPr lang="en-US" sz="2200" b="1" dirty="0">
                <a:solidFill>
                  <a:srgbClr val="FFFFFF"/>
                </a:solidFill>
                <a:latin typeface="Noto Serif JP" pitchFamily="34" charset="0"/>
                <a:ea typeface="Noto Serif JP" pitchFamily="34" charset="-122"/>
                <a:cs typeface="Noto Serif JP" pitchFamily="34" charset="-120"/>
              </a:rPr>
              <a:t>3</a:t>
            </a:r>
            <a:endParaRPr lang="en-US" sz="2200" dirty="0"/>
          </a:p>
        </p:txBody>
      </p:sp>
      <p:sp>
        <p:nvSpPr>
          <p:cNvPr id="9" name="Text 7"/>
          <p:cNvSpPr/>
          <p:nvPr/>
        </p:nvSpPr>
        <p:spPr>
          <a:xfrm>
            <a:off x="1325880" y="1783080"/>
            <a:ext cx="10317175" cy="685800"/>
          </a:xfrm>
          <a:prstGeom prst="rect">
            <a:avLst/>
          </a:prstGeom>
          <a:noFill/>
          <a:ln/>
        </p:spPr>
        <p:txBody>
          <a:bodyPr wrap="square" rtlCol="0" anchor="ctr"/>
          <a:lstStyle/>
          <a:p>
            <a:pPr indent="0" marL="0">
              <a:buNone/>
            </a:pPr>
            <a:r>
              <a:rPr lang="en-US" sz="2100" b="1" dirty="0">
                <a:solidFill>
                  <a:srgbClr val="1A1A14"/>
                </a:solidFill>
                <a:latin typeface="Yu Gothic UI" pitchFamily="34" charset="0"/>
                <a:ea typeface="Yu Gothic UI" pitchFamily="34" charset="-122"/>
                <a:cs typeface="Yu Gothic UI" pitchFamily="34" charset="-120"/>
              </a:rPr>
              <a:t>コミュニティ（ウェブアドバイザーユニオン等）の専用ページ新設と内部リンク最適化</a:t>
            </a:r>
            <a:endParaRPr lang="en-US" sz="2100" dirty="0"/>
          </a:p>
        </p:txBody>
      </p:sp>
      <p:sp>
        <p:nvSpPr>
          <p:cNvPr id="10" name="Text 8"/>
          <p:cNvSpPr/>
          <p:nvPr/>
        </p:nvSpPr>
        <p:spPr>
          <a:xfrm>
            <a:off x="1325880" y="2514600"/>
            <a:ext cx="10317175" cy="777240"/>
          </a:xfrm>
          <a:prstGeom prst="rect">
            <a:avLst/>
          </a:prstGeom>
          <a:noFill/>
          <a:ln/>
        </p:spPr>
        <p:txBody>
          <a:bodyPr wrap="square" rtlCol="0" anchor="t">
            <a:normAutofit/>
          </a:bodyPr>
          <a:lstStyle/>
          <a:p>
            <a:pPr indent="0" marL="0">
              <a:lnSpc>
                <a:spcPct val="160000"/>
              </a:lnSpc>
              <a:buNone/>
            </a:pPr>
            <a:r>
              <a:rPr lang="en-US" sz="1200" b="1" dirty="0">
                <a:solidFill>
                  <a:srgbClr val="EA580C"/>
                </a:solidFill>
                <a:latin typeface="Yu Gothic UI" pitchFamily="34" charset="0"/>
                <a:ea typeface="Yu Gothic UI" pitchFamily="34" charset="-122"/>
                <a:cs typeface="Yu Gothic UI" pitchFamily="34" charset="-120"/>
              </a:rPr>
              <a:t>理由：</a:t>
            </a:r>
            <a:pPr indent="0" marL="0">
              <a:lnSpc>
                <a:spcPct val="160000"/>
              </a:lnSpc>
              <a:buNone/>
            </a:pPr>
            <a:r>
              <a:rPr lang="en-US" sz="1200" dirty="0">
                <a:solidFill>
                  <a:srgbClr val="555555"/>
                </a:solidFill>
                <a:latin typeface="Yu Gothic UI" pitchFamily="34" charset="0"/>
                <a:ea typeface="Yu Gothic UI" pitchFamily="34" charset="-122"/>
                <a:cs typeface="Yu Gothic UI" pitchFamily="34" charset="-120"/>
              </a:rPr>
              <a:t>案件紹介ネットワークはコンサルタント層にとって入会を決める最重要因子のひとつだが、現状サイトでは学習・資格に比べてコミュニティの情報が薄く、内部リンクからもたどりにくい。コミュニティの実態と価値を独立したページで詳しく説明することで、入会の後押しができる。</a:t>
            </a:r>
            <a:endParaRPr lang="en-US" sz="1200" dirty="0"/>
          </a:p>
        </p:txBody>
      </p:sp>
      <p:sp>
        <p:nvSpPr>
          <p:cNvPr id="11" name="Text 9"/>
          <p:cNvSpPr/>
          <p:nvPr/>
        </p:nvSpPr>
        <p:spPr>
          <a:xfrm>
            <a:off x="1325880" y="3337560"/>
            <a:ext cx="10317175" cy="777240"/>
          </a:xfrm>
          <a:prstGeom prst="rect">
            <a:avLst/>
          </a:prstGeom>
          <a:noFill/>
          <a:ln/>
        </p:spPr>
        <p:txBody>
          <a:bodyPr wrap="square" rtlCol="0" anchor="t">
            <a:normAutofit/>
          </a:bodyPr>
          <a:lstStyle/>
          <a:p>
            <a:pPr indent="0" marL="0">
              <a:lnSpc>
                <a:spcPct val="160000"/>
              </a:lnSpc>
              <a:buNone/>
            </a:pPr>
            <a:r>
              <a:rPr lang="en-US" sz="1200" b="1" dirty="0">
                <a:solidFill>
                  <a:srgbClr val="EA580C"/>
                </a:solidFill>
                <a:latin typeface="Yu Gothic UI" pitchFamily="34" charset="0"/>
                <a:ea typeface="Yu Gothic UI" pitchFamily="34" charset="-122"/>
                <a:cs typeface="Yu Gothic UI" pitchFamily="34" charset="-120"/>
              </a:rPr>
              <a:t>実装例：</a:t>
            </a:r>
            <a:pPr indent="0" marL="0">
              <a:lnSpc>
                <a:spcPct val="160000"/>
              </a:lnSpc>
              <a:buNone/>
            </a:pPr>
            <a:r>
              <a:rPr lang="en-US" sz="1200" dirty="0">
                <a:solidFill>
                  <a:srgbClr val="555555"/>
                </a:solidFill>
                <a:latin typeface="Yu Gothic UI" pitchFamily="34" charset="0"/>
                <a:ea typeface="Yu Gothic UI" pitchFamily="34" charset="-122"/>
                <a:cs typeface="Yu Gothic UI" pitchFamily="34" charset="-120"/>
              </a:rPr>
              <a:t>『コミュニティに参加する』専用ページを新設。①月例定例会の開催頻度・参加者数・議題サンプル、②案件協力の仕組み（案件紹介フロー図）、③全国の会員マップ（都道府県別会員数を可視化）、④コミュニティ参加者の声（3名以上）を掲載。資格詳細ページ・学習コンテンツページの末尾に『資格取得後はコミュニティで案件受注を』という内部リンクセクションを追加し、コミュニティページへの送客を強化する。</a:t>
            </a:r>
            <a:endParaRPr lang="en-US" sz="1200" dirty="0"/>
          </a:p>
        </p:txBody>
      </p:sp>
      <p:sp>
        <p:nvSpPr>
          <p:cNvPr id="12" name="Shape 10"/>
          <p:cNvSpPr/>
          <p:nvPr/>
        </p:nvSpPr>
        <p:spPr>
          <a:xfrm>
            <a:off x="548640" y="4114800"/>
            <a:ext cx="594360" cy="594360"/>
          </a:xfrm>
          <a:prstGeom prst="rect">
            <a:avLst/>
          </a:prstGeom>
          <a:solidFill>
            <a:srgbClr val="EA580C"/>
          </a:solidFill>
          <a:ln w="12700">
            <a:solidFill>
              <a:srgbClr val="EA580C"/>
            </a:solidFill>
            <a:prstDash val="solid"/>
          </a:ln>
        </p:spPr>
      </p:sp>
      <p:sp>
        <p:nvSpPr>
          <p:cNvPr id="13" name="Text 11"/>
          <p:cNvSpPr/>
          <p:nvPr/>
        </p:nvSpPr>
        <p:spPr>
          <a:xfrm>
            <a:off x="548640" y="4114800"/>
            <a:ext cx="594360" cy="594360"/>
          </a:xfrm>
          <a:prstGeom prst="rect">
            <a:avLst/>
          </a:prstGeom>
          <a:noFill/>
          <a:ln/>
        </p:spPr>
        <p:txBody>
          <a:bodyPr wrap="square" rtlCol="0" anchor="ctr"/>
          <a:lstStyle/>
          <a:p>
            <a:pPr algn="ctr" indent="0" marL="0">
              <a:buNone/>
            </a:pPr>
            <a:r>
              <a:rPr lang="en-US" sz="2200" b="1" dirty="0">
                <a:solidFill>
                  <a:srgbClr val="FFFFFF"/>
                </a:solidFill>
                <a:latin typeface="Noto Serif JP" pitchFamily="34" charset="0"/>
                <a:ea typeface="Noto Serif JP" pitchFamily="34" charset="-122"/>
                <a:cs typeface="Noto Serif JP" pitchFamily="34" charset="-120"/>
              </a:rPr>
              <a:t>4</a:t>
            </a:r>
            <a:endParaRPr lang="en-US" sz="2200" dirty="0"/>
          </a:p>
        </p:txBody>
      </p:sp>
      <p:sp>
        <p:nvSpPr>
          <p:cNvPr id="14" name="Text 12"/>
          <p:cNvSpPr/>
          <p:nvPr/>
        </p:nvSpPr>
        <p:spPr>
          <a:xfrm>
            <a:off x="1325880" y="4069080"/>
            <a:ext cx="10317175" cy="685800"/>
          </a:xfrm>
          <a:prstGeom prst="rect">
            <a:avLst/>
          </a:prstGeom>
          <a:noFill/>
          <a:ln/>
        </p:spPr>
        <p:txBody>
          <a:bodyPr wrap="square" rtlCol="0" anchor="ctr"/>
          <a:lstStyle/>
          <a:p>
            <a:pPr indent="0" marL="0">
              <a:buNone/>
            </a:pPr>
            <a:r>
              <a:rPr lang="en-US" sz="2100" b="1" dirty="0">
                <a:solidFill>
                  <a:srgbClr val="1A1A14"/>
                </a:solidFill>
                <a:latin typeface="Yu Gothic UI" pitchFamily="34" charset="0"/>
                <a:ea typeface="Yu Gothic UI" pitchFamily="34" charset="-122"/>
                <a:cs typeface="Yu Gothic UI" pitchFamily="34" charset="-120"/>
              </a:rPr>
              <a:t>SEO強化のためのフレームワーク解説ハブページの構築</a:t>
            </a:r>
            <a:endParaRPr lang="en-US" sz="2100" dirty="0"/>
          </a:p>
        </p:txBody>
      </p:sp>
      <p:sp>
        <p:nvSpPr>
          <p:cNvPr id="15" name="Text 13"/>
          <p:cNvSpPr/>
          <p:nvPr/>
        </p:nvSpPr>
        <p:spPr>
          <a:xfrm>
            <a:off x="1325880" y="4800600"/>
            <a:ext cx="10317175" cy="777240"/>
          </a:xfrm>
          <a:prstGeom prst="rect">
            <a:avLst/>
          </a:prstGeom>
          <a:noFill/>
          <a:ln/>
        </p:spPr>
        <p:txBody>
          <a:bodyPr wrap="square" rtlCol="0" anchor="t">
            <a:normAutofit/>
          </a:bodyPr>
          <a:lstStyle/>
          <a:p>
            <a:pPr indent="0" marL="0">
              <a:lnSpc>
                <a:spcPct val="160000"/>
              </a:lnSpc>
              <a:buNone/>
            </a:pPr>
            <a:r>
              <a:rPr lang="en-US" sz="1200" b="1" dirty="0">
                <a:solidFill>
                  <a:srgbClr val="EA580C"/>
                </a:solidFill>
                <a:latin typeface="Yu Gothic UI" pitchFamily="34" charset="0"/>
                <a:ea typeface="Yu Gothic UI" pitchFamily="34" charset="-122"/>
                <a:cs typeface="Yu Gothic UI" pitchFamily="34" charset="-120"/>
              </a:rPr>
              <a:t>理由：</a:t>
            </a:r>
            <a:pPr indent="0" marL="0">
              <a:lnSpc>
                <a:spcPct val="160000"/>
              </a:lnSpc>
              <a:buNone/>
            </a:pPr>
            <a:r>
              <a:rPr lang="en-US" sz="1200" dirty="0">
                <a:solidFill>
                  <a:srgbClr val="555555"/>
                </a:solidFill>
                <a:latin typeface="Yu Gothic UI" pitchFamily="34" charset="0"/>
                <a:ea typeface="Yu Gothic UI" pitchFamily="34" charset="-122"/>
                <a:cs typeface="Yu Gothic UI" pitchFamily="34" charset="-120"/>
              </a:rPr>
              <a:t>『AB3Cフレームワーク』『ウェブ戦略コンサルタント 資格』『AI 経営戦略 学習』などのターゲットキーワードで検索流入を増やすためのハブページが不足している。独立系コンサルタントは情報収集時に検索を多用するため、SEO経由の流入はターゲット精度が高く申込転換率も期待できる。</a:t>
            </a:r>
            <a:endParaRPr lang="en-US" sz="1200" dirty="0"/>
          </a:p>
        </p:txBody>
      </p:sp>
      <p:sp>
        <p:nvSpPr>
          <p:cNvPr id="16" name="Text 14"/>
          <p:cNvSpPr/>
          <p:nvPr/>
        </p:nvSpPr>
        <p:spPr>
          <a:xfrm>
            <a:off x="1325880" y="5623560"/>
            <a:ext cx="10317175" cy="777240"/>
          </a:xfrm>
          <a:prstGeom prst="rect">
            <a:avLst/>
          </a:prstGeom>
          <a:noFill/>
          <a:ln/>
        </p:spPr>
        <p:txBody>
          <a:bodyPr wrap="square" rtlCol="0" anchor="t">
            <a:normAutofit/>
          </a:bodyPr>
          <a:lstStyle/>
          <a:p>
            <a:pPr indent="0" marL="0">
              <a:lnSpc>
                <a:spcPct val="160000"/>
              </a:lnSpc>
              <a:buNone/>
            </a:pPr>
            <a:r>
              <a:rPr lang="en-US" sz="1200" b="1" dirty="0">
                <a:solidFill>
                  <a:srgbClr val="EA580C"/>
                </a:solidFill>
                <a:latin typeface="Yu Gothic UI" pitchFamily="34" charset="0"/>
                <a:ea typeface="Yu Gothic UI" pitchFamily="34" charset="-122"/>
                <a:cs typeface="Yu Gothic UI" pitchFamily="34" charset="-120"/>
              </a:rPr>
              <a:t>実装例：</a:t>
            </a:r>
            <a:pPr indent="0" marL="0">
              <a:lnSpc>
                <a:spcPct val="160000"/>
              </a:lnSpc>
              <a:buNone/>
            </a:pPr>
            <a:r>
              <a:rPr lang="en-US" sz="1200" dirty="0">
                <a:solidFill>
                  <a:srgbClr val="555555"/>
                </a:solidFill>
                <a:latin typeface="Yu Gothic UI" pitchFamily="34" charset="0"/>
                <a:ea typeface="Yu Gothic UI" pitchFamily="34" charset="-122"/>
                <a:cs typeface="Yu Gothic UI" pitchFamily="34" charset="-120"/>
              </a:rPr>
              <a:t>『AB3Cフレームワークとは』という解説ハブページを新設し、①フレームワークの全体解説、②3C分析との違い、③AB3Cを使った戦略立案の手順（ステップバイステップ）、④実際の活用事例（日経クロストレンド掲載の8社を要約）、⑤AB3Cを学べる資格・講座へのCTAを一ページに集約。このページから各資格・各コースへの内部リンクを張り、サイト全体のSEO権威性を底上げする。</a:t>
            </a:r>
            <a:endParaRPr lang="en-US" sz="1200" dirty="0"/>
          </a:p>
        </p:txBody>
      </p:sp>
      <p:sp>
        <p:nvSpPr>
          <p:cNvPr id="17" name="Text 15"/>
          <p:cNvSpPr/>
          <p:nvPr/>
        </p:nvSpPr>
        <p:spPr>
          <a:xfrm>
            <a:off x="548640" y="6537960"/>
            <a:ext cx="5486400" cy="228600"/>
          </a:xfrm>
          <a:prstGeom prst="rect">
            <a:avLst/>
          </a:prstGeom>
          <a:noFill/>
          <a:ln/>
        </p:spPr>
        <p:txBody>
          <a:bodyPr wrap="square" rtlCol="0" anchor="ctr"/>
          <a:lstStyle/>
          <a:p>
            <a:pPr indent="0" marL="0">
              <a:buNone/>
            </a:pPr>
            <a:r>
              <a:rPr lang="en-US" sz="900" dirty="0">
                <a:solidFill>
                  <a:srgbClr val="555555"/>
                </a:solidFill>
                <a:latin typeface="Yu Gothic UI" pitchFamily="34" charset="0"/>
                <a:ea typeface="Yu Gothic UI" pitchFamily="34" charset="-122"/>
                <a:cs typeface="Yu Gothic UI" pitchFamily="34" charset="-120"/>
              </a:rPr>
              <a:t>digi-kaku.or.jp</a:t>
            </a:r>
            <a:endParaRPr lang="en-US" sz="900" dirty="0"/>
          </a:p>
        </p:txBody>
      </p:sp>
      <p:sp>
        <p:nvSpPr>
          <p:cNvPr id="18" name="Text 16"/>
          <p:cNvSpPr/>
          <p:nvPr/>
        </p:nvSpPr>
        <p:spPr>
          <a:xfrm>
            <a:off x="6156655" y="6537960"/>
            <a:ext cx="5486400" cy="228600"/>
          </a:xfrm>
          <a:prstGeom prst="rect">
            <a:avLst/>
          </a:prstGeom>
          <a:noFill/>
          <a:ln/>
        </p:spPr>
        <p:txBody>
          <a:bodyPr wrap="square" rtlCol="0" anchor="ctr"/>
          <a:lstStyle/>
          <a:p>
            <a:pPr algn="r" indent="0" marL="0">
              <a:buNone/>
            </a:pPr>
            <a:r>
              <a:rPr lang="en-US" sz="900" dirty="0">
                <a:solidFill>
                  <a:srgbClr val="555555"/>
                </a:solidFill>
                <a:latin typeface="Yu Gothic UI" pitchFamily="34" charset="0"/>
                <a:ea typeface="Yu Gothic UI" pitchFamily="34" charset="-122"/>
                <a:cs typeface="Yu Gothic UI" pitchFamily="34" charset="-120"/>
              </a:rPr>
              <a:t>戦略指南 AI / AB3C 分析レポート　24 / 27</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EA580C"/>
          </a:solidFill>
          <a:ln w="12700">
            <a:solidFill>
              <a:srgbClr val="EA580C"/>
            </a:solidFill>
            <a:prstDash val="solid"/>
          </a:ln>
        </p:spPr>
      </p:sp>
      <p:sp>
        <p:nvSpPr>
          <p:cNvPr id="3" name="Text 1"/>
          <p:cNvSpPr/>
          <p:nvPr/>
        </p:nvSpPr>
        <p:spPr>
          <a:xfrm>
            <a:off x="548640" y="411480"/>
            <a:ext cx="11094415" cy="274320"/>
          </a:xfrm>
          <a:prstGeom prst="rect">
            <a:avLst/>
          </a:prstGeom>
          <a:noFill/>
          <a:ln/>
        </p:spPr>
        <p:txBody>
          <a:bodyPr wrap="square" rtlCol="0" anchor="ctr"/>
          <a:lstStyle/>
          <a:p>
            <a:pPr indent="0" marL="0">
              <a:buNone/>
            </a:pPr>
            <a:r>
              <a:rPr lang="en-US" sz="1100" spc="600" kern="0" dirty="0">
                <a:solidFill>
                  <a:srgbClr val="555555"/>
                </a:solidFill>
                <a:latin typeface="Consolas" pitchFamily="34" charset="0"/>
                <a:ea typeface="Consolas" pitchFamily="34" charset="-122"/>
                <a:cs typeface="Consolas" pitchFamily="34" charset="-120"/>
              </a:rPr>
              <a:t>PART 4  ─  WEBSITE IMPROVEMENT</a:t>
            </a:r>
            <a:endParaRPr lang="en-US" sz="1100" dirty="0"/>
          </a:p>
        </p:txBody>
      </p:sp>
      <p:sp>
        <p:nvSpPr>
          <p:cNvPr id="4" name="Text 2"/>
          <p:cNvSpPr/>
          <p:nvPr/>
        </p:nvSpPr>
        <p:spPr>
          <a:xfrm>
            <a:off x="548640" y="685800"/>
            <a:ext cx="11094415" cy="640080"/>
          </a:xfrm>
          <a:prstGeom prst="rect">
            <a:avLst/>
          </a:prstGeom>
          <a:noFill/>
          <a:ln/>
        </p:spPr>
        <p:txBody>
          <a:bodyPr wrap="square" rtlCol="0" anchor="ctr"/>
          <a:lstStyle/>
          <a:p>
            <a:pPr indent="0" marL="0">
              <a:buNone/>
            </a:pPr>
            <a:r>
              <a:rPr lang="en-US" sz="3000" b="1" dirty="0">
                <a:solidFill>
                  <a:srgbClr val="EA580C"/>
                </a:solidFill>
                <a:latin typeface="Noto Serif JP" pitchFamily="34" charset="0"/>
                <a:ea typeface="Noto Serif JP" pitchFamily="34" charset="-122"/>
                <a:cs typeface="Noto Serif JP" pitchFamily="34" charset="-120"/>
              </a:rPr>
              <a:t>サイト構造の改善（3/3）</a:t>
            </a:r>
            <a:endParaRPr lang="en-US" sz="3000" dirty="0"/>
          </a:p>
        </p:txBody>
      </p:sp>
      <p:sp>
        <p:nvSpPr>
          <p:cNvPr id="5" name="Shape 3"/>
          <p:cNvSpPr/>
          <p:nvPr/>
        </p:nvSpPr>
        <p:spPr>
          <a:xfrm>
            <a:off x="548640" y="1280160"/>
            <a:ext cx="11094415" cy="0"/>
          </a:xfrm>
          <a:prstGeom prst="line">
            <a:avLst/>
          </a:prstGeom>
          <a:noFill/>
          <a:ln w="12700">
            <a:solidFill>
              <a:srgbClr val="EA580C"/>
            </a:solidFill>
            <a:prstDash val="solid"/>
          </a:ln>
        </p:spPr>
      </p:sp>
      <p:sp>
        <p:nvSpPr>
          <p:cNvPr id="6" name="Text 4"/>
          <p:cNvSpPr/>
          <p:nvPr/>
        </p:nvSpPr>
        <p:spPr>
          <a:xfrm>
            <a:off x="548640" y="1371600"/>
            <a:ext cx="11094415" cy="274320"/>
          </a:xfrm>
          <a:prstGeom prst="rect">
            <a:avLst/>
          </a:prstGeom>
          <a:noFill/>
          <a:ln/>
        </p:spPr>
        <p:txBody>
          <a:bodyPr wrap="square" rtlCol="0" anchor="ctr"/>
          <a:lstStyle/>
          <a:p>
            <a:pPr indent="0" marL="0">
              <a:buNone/>
            </a:pPr>
            <a:r>
              <a:rPr lang="en-US" sz="1300" dirty="0">
                <a:solidFill>
                  <a:srgbClr val="555555"/>
                </a:solidFill>
                <a:latin typeface="Yu Gothic UI" pitchFamily="34" charset="0"/>
                <a:ea typeface="Yu Gothic UI" pitchFamily="34" charset="-122"/>
                <a:cs typeface="Yu Gothic UI" pitchFamily="34" charset="-120"/>
              </a:rPr>
              <a:t>情報設計・導線・ページ構成の改善</a:t>
            </a:r>
            <a:endParaRPr lang="en-US" sz="1300" dirty="0"/>
          </a:p>
        </p:txBody>
      </p:sp>
      <p:sp>
        <p:nvSpPr>
          <p:cNvPr id="7" name="Shape 5"/>
          <p:cNvSpPr/>
          <p:nvPr/>
        </p:nvSpPr>
        <p:spPr>
          <a:xfrm>
            <a:off x="548640" y="1828800"/>
            <a:ext cx="594360" cy="594360"/>
          </a:xfrm>
          <a:prstGeom prst="rect">
            <a:avLst/>
          </a:prstGeom>
          <a:solidFill>
            <a:srgbClr val="EA580C"/>
          </a:solidFill>
          <a:ln w="12700">
            <a:solidFill>
              <a:srgbClr val="EA580C"/>
            </a:solidFill>
            <a:prstDash val="solid"/>
          </a:ln>
        </p:spPr>
      </p:sp>
      <p:sp>
        <p:nvSpPr>
          <p:cNvPr id="8" name="Text 6"/>
          <p:cNvSpPr/>
          <p:nvPr/>
        </p:nvSpPr>
        <p:spPr>
          <a:xfrm>
            <a:off x="548640" y="1828800"/>
            <a:ext cx="594360" cy="594360"/>
          </a:xfrm>
          <a:prstGeom prst="rect">
            <a:avLst/>
          </a:prstGeom>
          <a:noFill/>
          <a:ln/>
        </p:spPr>
        <p:txBody>
          <a:bodyPr wrap="square" rtlCol="0" anchor="ctr"/>
          <a:lstStyle/>
          <a:p>
            <a:pPr algn="ctr" indent="0" marL="0">
              <a:buNone/>
            </a:pPr>
            <a:r>
              <a:rPr lang="en-US" sz="2200" b="1" dirty="0">
                <a:solidFill>
                  <a:srgbClr val="FFFFFF"/>
                </a:solidFill>
                <a:latin typeface="Noto Serif JP" pitchFamily="34" charset="0"/>
                <a:ea typeface="Noto Serif JP" pitchFamily="34" charset="-122"/>
                <a:cs typeface="Noto Serif JP" pitchFamily="34" charset="-120"/>
              </a:rPr>
              <a:t>5</a:t>
            </a:r>
            <a:endParaRPr lang="en-US" sz="2200" dirty="0"/>
          </a:p>
        </p:txBody>
      </p:sp>
      <p:sp>
        <p:nvSpPr>
          <p:cNvPr id="9" name="Text 7"/>
          <p:cNvSpPr/>
          <p:nvPr/>
        </p:nvSpPr>
        <p:spPr>
          <a:xfrm>
            <a:off x="1325880" y="1783080"/>
            <a:ext cx="10317175" cy="685800"/>
          </a:xfrm>
          <a:prstGeom prst="rect">
            <a:avLst/>
          </a:prstGeom>
          <a:noFill/>
          <a:ln/>
        </p:spPr>
        <p:txBody>
          <a:bodyPr wrap="square" rtlCol="0" anchor="ctr"/>
          <a:lstStyle/>
          <a:p>
            <a:pPr indent="0" marL="0">
              <a:buNone/>
            </a:pPr>
            <a:r>
              <a:rPr lang="en-US" sz="2100" b="1" dirty="0">
                <a:solidFill>
                  <a:srgbClr val="1A1A14"/>
                </a:solidFill>
                <a:latin typeface="Yu Gothic UI" pitchFamily="34" charset="0"/>
                <a:ea typeface="Yu Gothic UI" pitchFamily="34" charset="-122"/>
                <a:cs typeface="Yu Gothic UI" pitchFamily="34" charset="-120"/>
              </a:rPr>
              <a:t>無料コンテンツ→有料会員へのナーチャリング動線の整備</a:t>
            </a:r>
            <a:endParaRPr lang="en-US" sz="2100" dirty="0"/>
          </a:p>
        </p:txBody>
      </p:sp>
      <p:sp>
        <p:nvSpPr>
          <p:cNvPr id="10" name="Text 8"/>
          <p:cNvSpPr/>
          <p:nvPr/>
        </p:nvSpPr>
        <p:spPr>
          <a:xfrm>
            <a:off x="1325880" y="2514600"/>
            <a:ext cx="10317175" cy="777240"/>
          </a:xfrm>
          <a:prstGeom prst="rect">
            <a:avLst/>
          </a:prstGeom>
          <a:noFill/>
          <a:ln/>
        </p:spPr>
        <p:txBody>
          <a:bodyPr wrap="square" rtlCol="0" anchor="t">
            <a:normAutofit/>
          </a:bodyPr>
          <a:lstStyle/>
          <a:p>
            <a:pPr indent="0" marL="0">
              <a:lnSpc>
                <a:spcPct val="160000"/>
              </a:lnSpc>
              <a:buNone/>
            </a:pPr>
            <a:r>
              <a:rPr lang="en-US" sz="1200" b="1" dirty="0">
                <a:solidFill>
                  <a:srgbClr val="EA580C"/>
                </a:solidFill>
                <a:latin typeface="Yu Gothic UI" pitchFamily="34" charset="0"/>
                <a:ea typeface="Yu Gothic UI" pitchFamily="34" charset="-122"/>
                <a:cs typeface="Yu Gothic UI" pitchFamily="34" charset="-120"/>
              </a:rPr>
              <a:t>理由：</a:t>
            </a:r>
            <a:pPr indent="0" marL="0">
              <a:lnSpc>
                <a:spcPct val="160000"/>
              </a:lnSpc>
              <a:buNone/>
            </a:pPr>
            <a:r>
              <a:rPr lang="en-US" sz="1200" dirty="0">
                <a:solidFill>
                  <a:srgbClr val="555555"/>
                </a:solidFill>
                <a:latin typeface="Yu Gothic UI" pitchFamily="34" charset="0"/>
                <a:ea typeface="Yu Gothic UI" pitchFamily="34" charset="-122"/>
                <a:cs typeface="Yu Gothic UI" pitchFamily="34" charset="-120"/>
              </a:rPr>
              <a:t>ターゲットのコンサルタント層は高単価の資格・コミュニティへ申し込む前に複数回接触してから判断する傾向が強い。現状サイトでメールアドレスを取得してナーチャリングする仕組みが弱いと、一度訪問して離脱したユーザーを再獲得できず機会損失が続く。</a:t>
            </a:r>
            <a:endParaRPr lang="en-US" sz="1200" dirty="0"/>
          </a:p>
        </p:txBody>
      </p:sp>
      <p:sp>
        <p:nvSpPr>
          <p:cNvPr id="11" name="Text 9"/>
          <p:cNvSpPr/>
          <p:nvPr/>
        </p:nvSpPr>
        <p:spPr>
          <a:xfrm>
            <a:off x="1325880" y="3337560"/>
            <a:ext cx="10317175" cy="777240"/>
          </a:xfrm>
          <a:prstGeom prst="rect">
            <a:avLst/>
          </a:prstGeom>
          <a:noFill/>
          <a:ln/>
        </p:spPr>
        <p:txBody>
          <a:bodyPr wrap="square" rtlCol="0" anchor="t">
            <a:normAutofit/>
          </a:bodyPr>
          <a:lstStyle/>
          <a:p>
            <a:pPr indent="0" marL="0">
              <a:lnSpc>
                <a:spcPct val="160000"/>
              </a:lnSpc>
              <a:buNone/>
            </a:pPr>
            <a:r>
              <a:rPr lang="en-US" sz="1200" b="1" dirty="0">
                <a:solidFill>
                  <a:srgbClr val="EA580C"/>
                </a:solidFill>
                <a:latin typeface="Yu Gothic UI" pitchFamily="34" charset="0"/>
                <a:ea typeface="Yu Gothic UI" pitchFamily="34" charset="-122"/>
                <a:cs typeface="Yu Gothic UI" pitchFamily="34" charset="-120"/>
              </a:rPr>
              <a:t>実装例：</a:t>
            </a:r>
            <a:pPr indent="0" marL="0">
              <a:lnSpc>
                <a:spcPct val="160000"/>
              </a:lnSpc>
              <a:buNone/>
            </a:pPr>
            <a:r>
              <a:rPr lang="en-US" sz="1200" dirty="0">
                <a:solidFill>
                  <a:srgbClr val="555555"/>
                </a:solidFill>
                <a:latin typeface="Yu Gothic UI" pitchFamily="34" charset="0"/>
                <a:ea typeface="Yu Gothic UI" pitchFamily="34" charset="-122"/>
                <a:cs typeface="Yu Gothic UI" pitchFamily="34" charset="-120"/>
              </a:rPr>
              <a:t>トップページと各コンテンツページに『AB3C戦略診断レポート（無料）をダウンロードする』のリードマグネットを設置し、メールアドレス取得を行う。取得後は7日間のメールシーケンスを自動配信（Day1：AB3Cフレームワーク解説／Day3：戦略指南AIのデモ動画／Day5：資格取得者事例／Day7：資格申込ページへの限定オファー）。メールシーケンス終了後もメルマガ登録者向けに月1回の定例会レポートを配信し、長期的な接点を維持する。</a:t>
            </a:r>
            <a:endParaRPr lang="en-US" sz="1200" dirty="0"/>
          </a:p>
        </p:txBody>
      </p:sp>
      <p:sp>
        <p:nvSpPr>
          <p:cNvPr id="12" name="Text 10"/>
          <p:cNvSpPr/>
          <p:nvPr/>
        </p:nvSpPr>
        <p:spPr>
          <a:xfrm>
            <a:off x="548640" y="6537960"/>
            <a:ext cx="5486400" cy="228600"/>
          </a:xfrm>
          <a:prstGeom prst="rect">
            <a:avLst/>
          </a:prstGeom>
          <a:noFill/>
          <a:ln/>
        </p:spPr>
        <p:txBody>
          <a:bodyPr wrap="square" rtlCol="0" anchor="ctr"/>
          <a:lstStyle/>
          <a:p>
            <a:pPr indent="0" marL="0">
              <a:buNone/>
            </a:pPr>
            <a:r>
              <a:rPr lang="en-US" sz="900" dirty="0">
                <a:solidFill>
                  <a:srgbClr val="555555"/>
                </a:solidFill>
                <a:latin typeface="Yu Gothic UI" pitchFamily="34" charset="0"/>
                <a:ea typeface="Yu Gothic UI" pitchFamily="34" charset="-122"/>
                <a:cs typeface="Yu Gothic UI" pitchFamily="34" charset="-120"/>
              </a:rPr>
              <a:t>digi-kaku.or.jp</a:t>
            </a:r>
            <a:endParaRPr lang="en-US" sz="900" dirty="0"/>
          </a:p>
        </p:txBody>
      </p:sp>
      <p:sp>
        <p:nvSpPr>
          <p:cNvPr id="13" name="Text 11"/>
          <p:cNvSpPr/>
          <p:nvPr/>
        </p:nvSpPr>
        <p:spPr>
          <a:xfrm>
            <a:off x="6156655" y="6537960"/>
            <a:ext cx="5486400" cy="228600"/>
          </a:xfrm>
          <a:prstGeom prst="rect">
            <a:avLst/>
          </a:prstGeom>
          <a:noFill/>
          <a:ln/>
        </p:spPr>
        <p:txBody>
          <a:bodyPr wrap="square" rtlCol="0" anchor="ctr"/>
          <a:lstStyle/>
          <a:p>
            <a:pPr algn="r" indent="0" marL="0">
              <a:buNone/>
            </a:pPr>
            <a:r>
              <a:rPr lang="en-US" sz="900" dirty="0">
                <a:solidFill>
                  <a:srgbClr val="555555"/>
                </a:solidFill>
                <a:latin typeface="Yu Gothic UI" pitchFamily="34" charset="0"/>
                <a:ea typeface="Yu Gothic UI" pitchFamily="34" charset="-122"/>
                <a:cs typeface="Yu Gothic UI" pitchFamily="34" charset="-120"/>
              </a:rPr>
              <a:t>戦略指南 AI / AB3C 分析レポート　25 / 27</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EA580C"/>
          </a:solidFill>
          <a:ln w="12700">
            <a:solidFill>
              <a:srgbClr val="EA580C"/>
            </a:solidFill>
            <a:prstDash val="solid"/>
          </a:ln>
        </p:spPr>
      </p:sp>
      <p:sp>
        <p:nvSpPr>
          <p:cNvPr id="3" name="Text 1"/>
          <p:cNvSpPr/>
          <p:nvPr/>
        </p:nvSpPr>
        <p:spPr>
          <a:xfrm>
            <a:off x="548640" y="411480"/>
            <a:ext cx="11094415" cy="274320"/>
          </a:xfrm>
          <a:prstGeom prst="rect">
            <a:avLst/>
          </a:prstGeom>
          <a:noFill/>
          <a:ln/>
        </p:spPr>
        <p:txBody>
          <a:bodyPr wrap="square" rtlCol="0" anchor="ctr"/>
          <a:lstStyle/>
          <a:p>
            <a:pPr indent="0" marL="0">
              <a:buNone/>
            </a:pPr>
            <a:r>
              <a:rPr lang="en-US" sz="1100" spc="600" kern="0" dirty="0">
                <a:solidFill>
                  <a:srgbClr val="555555"/>
                </a:solidFill>
                <a:latin typeface="Consolas" pitchFamily="34" charset="0"/>
                <a:ea typeface="Consolas" pitchFamily="34" charset="-122"/>
                <a:cs typeface="Consolas" pitchFamily="34" charset="-120"/>
              </a:rPr>
              <a:t>STRATEGY ACTION</a:t>
            </a:r>
            <a:endParaRPr lang="en-US" sz="1100" dirty="0"/>
          </a:p>
        </p:txBody>
      </p:sp>
      <p:sp>
        <p:nvSpPr>
          <p:cNvPr id="4" name="Text 2"/>
          <p:cNvSpPr/>
          <p:nvPr/>
        </p:nvSpPr>
        <p:spPr>
          <a:xfrm>
            <a:off x="548640" y="685800"/>
            <a:ext cx="11094415" cy="640080"/>
          </a:xfrm>
          <a:prstGeom prst="rect">
            <a:avLst/>
          </a:prstGeom>
          <a:noFill/>
          <a:ln/>
        </p:spPr>
        <p:txBody>
          <a:bodyPr wrap="square" rtlCol="0" anchor="ctr"/>
          <a:lstStyle/>
          <a:p>
            <a:pPr indent="0" marL="0">
              <a:buNone/>
            </a:pPr>
            <a:r>
              <a:rPr lang="en-US" sz="3000" b="1" dirty="0">
                <a:solidFill>
                  <a:srgbClr val="EA580C"/>
                </a:solidFill>
                <a:latin typeface="Noto Serif JP" pitchFamily="34" charset="0"/>
                <a:ea typeface="Noto Serif JP" pitchFamily="34" charset="-122"/>
                <a:cs typeface="Noto Serif JP" pitchFamily="34" charset="-120"/>
              </a:rPr>
              <a:t>次のアクション</a:t>
            </a:r>
            <a:endParaRPr lang="en-US" sz="3000" dirty="0"/>
          </a:p>
        </p:txBody>
      </p:sp>
      <p:sp>
        <p:nvSpPr>
          <p:cNvPr id="5" name="Shape 3"/>
          <p:cNvSpPr/>
          <p:nvPr/>
        </p:nvSpPr>
        <p:spPr>
          <a:xfrm>
            <a:off x="548640" y="1280160"/>
            <a:ext cx="11094415" cy="0"/>
          </a:xfrm>
          <a:prstGeom prst="line">
            <a:avLst/>
          </a:prstGeom>
          <a:noFill/>
          <a:ln w="12700">
            <a:solidFill>
              <a:srgbClr val="EA580C"/>
            </a:solidFill>
            <a:prstDash val="solid"/>
          </a:ln>
        </p:spPr>
      </p:sp>
      <p:sp>
        <p:nvSpPr>
          <p:cNvPr id="6" name="Text 4"/>
          <p:cNvSpPr/>
          <p:nvPr/>
        </p:nvSpPr>
        <p:spPr>
          <a:xfrm>
            <a:off x="548640" y="1417320"/>
            <a:ext cx="11094415" cy="457200"/>
          </a:xfrm>
          <a:prstGeom prst="rect">
            <a:avLst/>
          </a:prstGeom>
          <a:noFill/>
          <a:ln/>
        </p:spPr>
        <p:txBody>
          <a:bodyPr wrap="square" rtlCol="0" anchor="t"/>
          <a:lstStyle/>
          <a:p>
            <a:pPr indent="0" marL="0">
              <a:lnSpc>
                <a:spcPct val="160000"/>
              </a:lnSpc>
              <a:buNone/>
            </a:pPr>
            <a:r>
              <a:rPr lang="en-US" sz="1300" dirty="0">
                <a:solidFill>
                  <a:srgbClr val="555555"/>
                </a:solidFill>
                <a:latin typeface="Yu Gothic UI" pitchFamily="34" charset="0"/>
                <a:ea typeface="Yu Gothic UI" pitchFamily="34" charset="-122"/>
                <a:cs typeface="Yu Gothic UI" pitchFamily="34" charset="-120"/>
              </a:rPr>
              <a:t>戦略指南 AI の「戦略アクション」では、確定した戦略をもとに10テーマで具体的な施策を検討できます。</a:t>
            </a:r>
            <a:endParaRPr lang="en-US" sz="1300" dirty="0"/>
          </a:p>
        </p:txBody>
      </p:sp>
      <p:sp>
        <p:nvSpPr>
          <p:cNvPr id="7" name="Shape 5"/>
          <p:cNvSpPr/>
          <p:nvPr/>
        </p:nvSpPr>
        <p:spPr>
          <a:xfrm>
            <a:off x="548640" y="1965960"/>
            <a:ext cx="2636444" cy="502920"/>
          </a:xfrm>
          <a:prstGeom prst="rect">
            <a:avLst/>
          </a:prstGeom>
          <a:solidFill>
            <a:srgbClr val="EA580C"/>
          </a:solidFill>
          <a:ln w="12700">
            <a:solidFill>
              <a:srgbClr val="EA580C"/>
            </a:solidFill>
            <a:prstDash val="solid"/>
          </a:ln>
        </p:spPr>
      </p:sp>
      <p:sp>
        <p:nvSpPr>
          <p:cNvPr id="8" name="Text 6"/>
          <p:cNvSpPr/>
          <p:nvPr/>
        </p:nvSpPr>
        <p:spPr>
          <a:xfrm>
            <a:off x="685800" y="1965960"/>
            <a:ext cx="2362124" cy="502920"/>
          </a:xfrm>
          <a:prstGeom prst="rect">
            <a:avLst/>
          </a:prstGeom>
          <a:noFill/>
          <a:ln/>
        </p:spPr>
        <p:txBody>
          <a:bodyPr wrap="square" rtlCol="0" anchor="ctr"/>
          <a:lstStyle/>
          <a:p>
            <a:pPr algn="ctr" indent="0" marL="0">
              <a:buNone/>
            </a:pPr>
            <a:r>
              <a:rPr lang="en-US" sz="1500" b="1" dirty="0">
                <a:solidFill>
                  <a:srgbClr val="FFFFFF"/>
                </a:solidFill>
                <a:latin typeface="Noto Serif JP" pitchFamily="34" charset="0"/>
                <a:ea typeface="Noto Serif JP" pitchFamily="34" charset="-122"/>
                <a:cs typeface="Noto Serif JP" pitchFamily="34" charset="-120"/>
              </a:rPr>
              <a:t>集客</a:t>
            </a:r>
            <a:endParaRPr lang="en-US" sz="1500" dirty="0"/>
          </a:p>
        </p:txBody>
      </p:sp>
      <p:sp>
        <p:nvSpPr>
          <p:cNvPr id="9" name="Shape 7"/>
          <p:cNvSpPr/>
          <p:nvPr/>
        </p:nvSpPr>
        <p:spPr>
          <a:xfrm>
            <a:off x="548640" y="2468880"/>
            <a:ext cx="2636444" cy="3383280"/>
          </a:xfrm>
          <a:prstGeom prst="rect">
            <a:avLst/>
          </a:prstGeom>
          <a:solidFill>
            <a:srgbClr val="FFF7ED"/>
          </a:solidFill>
          <a:ln w="6350">
            <a:solidFill>
              <a:srgbClr val="EA580C"/>
            </a:solidFill>
            <a:prstDash val="solid"/>
          </a:ln>
        </p:spPr>
      </p:sp>
      <p:sp>
        <p:nvSpPr>
          <p:cNvPr id="10" name="Text 8"/>
          <p:cNvSpPr/>
          <p:nvPr/>
        </p:nvSpPr>
        <p:spPr>
          <a:xfrm>
            <a:off x="685800" y="2606040"/>
            <a:ext cx="2362124" cy="292608"/>
          </a:xfrm>
          <a:prstGeom prst="rect">
            <a:avLst/>
          </a:prstGeom>
          <a:noFill/>
          <a:ln/>
        </p:spPr>
        <p:txBody>
          <a:bodyPr wrap="square" rtlCol="0" anchor="ctr"/>
          <a:lstStyle/>
          <a:p>
            <a:pPr indent="0" marL="0">
              <a:buNone/>
            </a:pPr>
            <a:r>
              <a:rPr lang="en-US" sz="1200" b="1" dirty="0">
                <a:solidFill>
                  <a:srgbClr val="EA580C"/>
                </a:solidFill>
                <a:latin typeface="Yu Gothic UI" pitchFamily="34" charset="0"/>
                <a:ea typeface="Yu Gothic UI" pitchFamily="34" charset="-122"/>
                <a:cs typeface="Yu Gothic UI" pitchFamily="34" charset="-120"/>
              </a:rPr>
              <a:t>・</a:t>
            </a:r>
            <a:pPr indent="0" marL="0">
              <a:buNone/>
            </a:pPr>
            <a:r>
              <a:rPr lang="en-US" sz="1200" b="1" dirty="0">
                <a:solidFill>
                  <a:srgbClr val="1A1A14"/>
                </a:solidFill>
                <a:latin typeface="Yu Gothic UI" pitchFamily="34" charset="0"/>
                <a:ea typeface="Yu Gothic UI" pitchFamily="34" charset="-122"/>
                <a:cs typeface="Yu Gothic UI" pitchFamily="34" charset="-120"/>
              </a:rPr>
              <a:t>SEO</a:t>
            </a:r>
            <a:endParaRPr lang="en-US" sz="1200" dirty="0"/>
          </a:p>
        </p:txBody>
      </p:sp>
      <p:sp>
        <p:nvSpPr>
          <p:cNvPr id="11" name="Text 9"/>
          <p:cNvSpPr/>
          <p:nvPr/>
        </p:nvSpPr>
        <p:spPr>
          <a:xfrm>
            <a:off x="868680" y="2926080"/>
            <a:ext cx="2179244" cy="411480"/>
          </a:xfrm>
          <a:prstGeom prst="rect">
            <a:avLst/>
          </a:prstGeom>
          <a:noFill/>
          <a:ln/>
        </p:spPr>
        <p:txBody>
          <a:bodyPr wrap="square" rtlCol="0" anchor="t"/>
          <a:lstStyle/>
          <a:p>
            <a:pPr indent="0" marL="0">
              <a:lnSpc>
                <a:spcPct val="135000"/>
              </a:lnSpc>
              <a:buNone/>
            </a:pPr>
            <a:r>
              <a:rPr lang="en-US" sz="900" dirty="0">
                <a:solidFill>
                  <a:srgbClr val="555555"/>
                </a:solidFill>
                <a:latin typeface="Yu Gothic UI" pitchFamily="34" charset="0"/>
                <a:ea typeface="Yu Gothic UI" pitchFamily="34" charset="-122"/>
                <a:cs typeface="Yu Gothic UI" pitchFamily="34" charset="-120"/>
              </a:rPr>
              <a:t>検索流入を高める対策</a:t>
            </a:r>
            <a:endParaRPr lang="en-US" sz="900" dirty="0"/>
          </a:p>
        </p:txBody>
      </p:sp>
      <p:sp>
        <p:nvSpPr>
          <p:cNvPr id="12" name="Text 10"/>
          <p:cNvSpPr/>
          <p:nvPr/>
        </p:nvSpPr>
        <p:spPr>
          <a:xfrm>
            <a:off x="685800" y="3383280"/>
            <a:ext cx="2362124" cy="292608"/>
          </a:xfrm>
          <a:prstGeom prst="rect">
            <a:avLst/>
          </a:prstGeom>
          <a:noFill/>
          <a:ln/>
        </p:spPr>
        <p:txBody>
          <a:bodyPr wrap="square" rtlCol="0" anchor="ctr"/>
          <a:lstStyle/>
          <a:p>
            <a:pPr indent="0" marL="0">
              <a:buNone/>
            </a:pPr>
            <a:r>
              <a:rPr lang="en-US" sz="1200" b="1" dirty="0">
                <a:solidFill>
                  <a:srgbClr val="EA580C"/>
                </a:solidFill>
                <a:latin typeface="Yu Gothic UI" pitchFamily="34" charset="0"/>
                <a:ea typeface="Yu Gothic UI" pitchFamily="34" charset="-122"/>
                <a:cs typeface="Yu Gothic UI" pitchFamily="34" charset="-120"/>
              </a:rPr>
              <a:t>・</a:t>
            </a:r>
            <a:pPr indent="0" marL="0">
              <a:buNone/>
            </a:pPr>
            <a:r>
              <a:rPr lang="en-US" sz="1200" b="1" dirty="0">
                <a:solidFill>
                  <a:srgbClr val="1A1A14"/>
                </a:solidFill>
                <a:latin typeface="Yu Gothic UI" pitchFamily="34" charset="0"/>
                <a:ea typeface="Yu Gothic UI" pitchFamily="34" charset="-122"/>
                <a:cs typeface="Yu Gothic UI" pitchFamily="34" charset="-120"/>
              </a:rPr>
              <a:t>SNS</a:t>
            </a:r>
            <a:endParaRPr lang="en-US" sz="1200" dirty="0"/>
          </a:p>
        </p:txBody>
      </p:sp>
      <p:sp>
        <p:nvSpPr>
          <p:cNvPr id="13" name="Text 11"/>
          <p:cNvSpPr/>
          <p:nvPr/>
        </p:nvSpPr>
        <p:spPr>
          <a:xfrm>
            <a:off x="868680" y="3703320"/>
            <a:ext cx="2179244" cy="411480"/>
          </a:xfrm>
          <a:prstGeom prst="rect">
            <a:avLst/>
          </a:prstGeom>
          <a:noFill/>
          <a:ln/>
        </p:spPr>
        <p:txBody>
          <a:bodyPr wrap="square" rtlCol="0" anchor="t"/>
          <a:lstStyle/>
          <a:p>
            <a:pPr indent="0" marL="0">
              <a:lnSpc>
                <a:spcPct val="135000"/>
              </a:lnSpc>
              <a:buNone/>
            </a:pPr>
            <a:r>
              <a:rPr lang="en-US" sz="900" dirty="0">
                <a:solidFill>
                  <a:srgbClr val="555555"/>
                </a:solidFill>
                <a:latin typeface="Yu Gothic UI" pitchFamily="34" charset="0"/>
                <a:ea typeface="Yu Gothic UI" pitchFamily="34" charset="-122"/>
                <a:cs typeface="Yu Gothic UI" pitchFamily="34" charset="-120"/>
              </a:rPr>
              <a:t>SNS 運用とエンゲージメント</a:t>
            </a:r>
            <a:endParaRPr lang="en-US" sz="900" dirty="0"/>
          </a:p>
        </p:txBody>
      </p:sp>
      <p:sp>
        <p:nvSpPr>
          <p:cNvPr id="14" name="Text 12"/>
          <p:cNvSpPr/>
          <p:nvPr/>
        </p:nvSpPr>
        <p:spPr>
          <a:xfrm>
            <a:off x="685800" y="4160520"/>
            <a:ext cx="2362124" cy="292608"/>
          </a:xfrm>
          <a:prstGeom prst="rect">
            <a:avLst/>
          </a:prstGeom>
          <a:noFill/>
          <a:ln/>
        </p:spPr>
        <p:txBody>
          <a:bodyPr wrap="square" rtlCol="0" anchor="ctr"/>
          <a:lstStyle/>
          <a:p>
            <a:pPr indent="0" marL="0">
              <a:buNone/>
            </a:pPr>
            <a:r>
              <a:rPr lang="en-US" sz="1200" b="1" dirty="0">
                <a:solidFill>
                  <a:srgbClr val="EA580C"/>
                </a:solidFill>
                <a:latin typeface="Yu Gothic UI" pitchFamily="34" charset="0"/>
                <a:ea typeface="Yu Gothic UI" pitchFamily="34" charset="-122"/>
                <a:cs typeface="Yu Gothic UI" pitchFamily="34" charset="-120"/>
              </a:rPr>
              <a:t>・</a:t>
            </a:r>
            <a:pPr indent="0" marL="0">
              <a:buNone/>
            </a:pPr>
            <a:r>
              <a:rPr lang="en-US" sz="1200" b="1" dirty="0">
                <a:solidFill>
                  <a:srgbClr val="1A1A14"/>
                </a:solidFill>
                <a:latin typeface="Yu Gothic UI" pitchFamily="34" charset="0"/>
                <a:ea typeface="Yu Gothic UI" pitchFamily="34" charset="-122"/>
                <a:cs typeface="Yu Gothic UI" pitchFamily="34" charset="-120"/>
              </a:rPr>
              <a:t>Web広告</a:t>
            </a:r>
            <a:endParaRPr lang="en-US" sz="1200" dirty="0"/>
          </a:p>
        </p:txBody>
      </p:sp>
      <p:sp>
        <p:nvSpPr>
          <p:cNvPr id="15" name="Text 13"/>
          <p:cNvSpPr/>
          <p:nvPr/>
        </p:nvSpPr>
        <p:spPr>
          <a:xfrm>
            <a:off x="868680" y="4480560"/>
            <a:ext cx="2179244" cy="411480"/>
          </a:xfrm>
          <a:prstGeom prst="rect">
            <a:avLst/>
          </a:prstGeom>
          <a:noFill/>
          <a:ln/>
        </p:spPr>
        <p:txBody>
          <a:bodyPr wrap="square" rtlCol="0" anchor="t"/>
          <a:lstStyle/>
          <a:p>
            <a:pPr indent="0" marL="0">
              <a:lnSpc>
                <a:spcPct val="135000"/>
              </a:lnSpc>
              <a:buNone/>
            </a:pPr>
            <a:r>
              <a:rPr lang="en-US" sz="900" dirty="0">
                <a:solidFill>
                  <a:srgbClr val="555555"/>
                </a:solidFill>
                <a:latin typeface="Yu Gothic UI" pitchFamily="34" charset="0"/>
                <a:ea typeface="Yu Gothic UI" pitchFamily="34" charset="-122"/>
                <a:cs typeface="Yu Gothic UI" pitchFamily="34" charset="-120"/>
              </a:rPr>
              <a:t>リスティング・ディスプレイ広告</a:t>
            </a:r>
            <a:endParaRPr lang="en-US" sz="900" dirty="0"/>
          </a:p>
        </p:txBody>
      </p:sp>
      <p:sp>
        <p:nvSpPr>
          <p:cNvPr id="16" name="Text 14"/>
          <p:cNvSpPr/>
          <p:nvPr/>
        </p:nvSpPr>
        <p:spPr>
          <a:xfrm>
            <a:off x="685800" y="4937760"/>
            <a:ext cx="2362124" cy="292608"/>
          </a:xfrm>
          <a:prstGeom prst="rect">
            <a:avLst/>
          </a:prstGeom>
          <a:noFill/>
          <a:ln/>
        </p:spPr>
        <p:txBody>
          <a:bodyPr wrap="square" rtlCol="0" anchor="ctr"/>
          <a:lstStyle/>
          <a:p>
            <a:pPr indent="0" marL="0">
              <a:buNone/>
            </a:pPr>
            <a:r>
              <a:rPr lang="en-US" sz="1200" b="1" dirty="0">
                <a:solidFill>
                  <a:srgbClr val="EA580C"/>
                </a:solidFill>
                <a:latin typeface="Yu Gothic UI" pitchFamily="34" charset="0"/>
                <a:ea typeface="Yu Gothic UI" pitchFamily="34" charset="-122"/>
                <a:cs typeface="Yu Gothic UI" pitchFamily="34" charset="-120"/>
              </a:rPr>
              <a:t>・</a:t>
            </a:r>
            <a:pPr indent="0" marL="0">
              <a:buNone/>
            </a:pPr>
            <a:r>
              <a:rPr lang="en-US" sz="1200" b="1" dirty="0">
                <a:solidFill>
                  <a:srgbClr val="1A1A14"/>
                </a:solidFill>
                <a:latin typeface="Yu Gothic UI" pitchFamily="34" charset="0"/>
                <a:ea typeface="Yu Gothic UI" pitchFamily="34" charset="-122"/>
                <a:cs typeface="Yu Gothic UI" pitchFamily="34" charset="-120"/>
              </a:rPr>
              <a:t>Googleマップ</a:t>
            </a:r>
            <a:endParaRPr lang="en-US" sz="1200" dirty="0"/>
          </a:p>
        </p:txBody>
      </p:sp>
      <p:sp>
        <p:nvSpPr>
          <p:cNvPr id="17" name="Text 15"/>
          <p:cNvSpPr/>
          <p:nvPr/>
        </p:nvSpPr>
        <p:spPr>
          <a:xfrm>
            <a:off x="868680" y="5257800"/>
            <a:ext cx="2179244" cy="411480"/>
          </a:xfrm>
          <a:prstGeom prst="rect">
            <a:avLst/>
          </a:prstGeom>
          <a:noFill/>
          <a:ln/>
        </p:spPr>
        <p:txBody>
          <a:bodyPr wrap="square" rtlCol="0" anchor="t"/>
          <a:lstStyle/>
          <a:p>
            <a:pPr indent="0" marL="0">
              <a:lnSpc>
                <a:spcPct val="135000"/>
              </a:lnSpc>
              <a:buNone/>
            </a:pPr>
            <a:r>
              <a:rPr lang="en-US" sz="900" dirty="0">
                <a:solidFill>
                  <a:srgbClr val="555555"/>
                </a:solidFill>
                <a:latin typeface="Yu Gothic UI" pitchFamily="34" charset="0"/>
                <a:ea typeface="Yu Gothic UI" pitchFamily="34" charset="-122"/>
                <a:cs typeface="Yu Gothic UI" pitchFamily="34" charset="-120"/>
              </a:rPr>
              <a:t>ローカル検索対策（MEO）</a:t>
            </a:r>
            <a:endParaRPr lang="en-US" sz="900" dirty="0"/>
          </a:p>
        </p:txBody>
      </p:sp>
      <p:sp>
        <p:nvSpPr>
          <p:cNvPr id="18" name="Shape 16"/>
          <p:cNvSpPr/>
          <p:nvPr/>
        </p:nvSpPr>
        <p:spPr>
          <a:xfrm>
            <a:off x="3367964" y="1965960"/>
            <a:ext cx="2636444" cy="502920"/>
          </a:xfrm>
          <a:prstGeom prst="rect">
            <a:avLst/>
          </a:prstGeom>
          <a:solidFill>
            <a:srgbClr val="EA580C"/>
          </a:solidFill>
          <a:ln w="12700">
            <a:solidFill>
              <a:srgbClr val="EA580C"/>
            </a:solidFill>
            <a:prstDash val="solid"/>
          </a:ln>
        </p:spPr>
      </p:sp>
      <p:sp>
        <p:nvSpPr>
          <p:cNvPr id="19" name="Text 17"/>
          <p:cNvSpPr/>
          <p:nvPr/>
        </p:nvSpPr>
        <p:spPr>
          <a:xfrm>
            <a:off x="3505124" y="1965960"/>
            <a:ext cx="2362124" cy="502920"/>
          </a:xfrm>
          <a:prstGeom prst="rect">
            <a:avLst/>
          </a:prstGeom>
          <a:noFill/>
          <a:ln/>
        </p:spPr>
        <p:txBody>
          <a:bodyPr wrap="square" rtlCol="0" anchor="ctr"/>
          <a:lstStyle/>
          <a:p>
            <a:pPr algn="ctr" indent="0" marL="0">
              <a:buNone/>
            </a:pPr>
            <a:r>
              <a:rPr lang="en-US" sz="1500" b="1" dirty="0">
                <a:solidFill>
                  <a:srgbClr val="FFFFFF"/>
                </a:solidFill>
                <a:latin typeface="Noto Serif JP" pitchFamily="34" charset="0"/>
                <a:ea typeface="Noto Serif JP" pitchFamily="34" charset="-122"/>
                <a:cs typeface="Noto Serif JP" pitchFamily="34" charset="-120"/>
              </a:rPr>
              <a:t>販促・PR</a:t>
            </a:r>
            <a:endParaRPr lang="en-US" sz="1500" dirty="0"/>
          </a:p>
        </p:txBody>
      </p:sp>
      <p:sp>
        <p:nvSpPr>
          <p:cNvPr id="20" name="Shape 18"/>
          <p:cNvSpPr/>
          <p:nvPr/>
        </p:nvSpPr>
        <p:spPr>
          <a:xfrm>
            <a:off x="3367964" y="2468880"/>
            <a:ext cx="2636444" cy="3383280"/>
          </a:xfrm>
          <a:prstGeom prst="rect">
            <a:avLst/>
          </a:prstGeom>
          <a:solidFill>
            <a:srgbClr val="FFF7ED"/>
          </a:solidFill>
          <a:ln w="6350">
            <a:solidFill>
              <a:srgbClr val="EA580C"/>
            </a:solidFill>
            <a:prstDash val="solid"/>
          </a:ln>
        </p:spPr>
      </p:sp>
      <p:sp>
        <p:nvSpPr>
          <p:cNvPr id="21" name="Text 19"/>
          <p:cNvSpPr/>
          <p:nvPr/>
        </p:nvSpPr>
        <p:spPr>
          <a:xfrm>
            <a:off x="3505124" y="2606040"/>
            <a:ext cx="2362124" cy="292608"/>
          </a:xfrm>
          <a:prstGeom prst="rect">
            <a:avLst/>
          </a:prstGeom>
          <a:noFill/>
          <a:ln/>
        </p:spPr>
        <p:txBody>
          <a:bodyPr wrap="square" rtlCol="0" anchor="ctr"/>
          <a:lstStyle/>
          <a:p>
            <a:pPr indent="0" marL="0">
              <a:buNone/>
            </a:pPr>
            <a:r>
              <a:rPr lang="en-US" sz="1200" b="1" dirty="0">
                <a:solidFill>
                  <a:srgbClr val="EA580C"/>
                </a:solidFill>
                <a:latin typeface="Yu Gothic UI" pitchFamily="34" charset="0"/>
                <a:ea typeface="Yu Gothic UI" pitchFamily="34" charset="-122"/>
                <a:cs typeface="Yu Gothic UI" pitchFamily="34" charset="-120"/>
              </a:rPr>
              <a:t>・</a:t>
            </a:r>
            <a:pPr indent="0" marL="0">
              <a:buNone/>
            </a:pPr>
            <a:r>
              <a:rPr lang="en-US" sz="1200" b="1" dirty="0">
                <a:solidFill>
                  <a:srgbClr val="1A1A14"/>
                </a:solidFill>
                <a:latin typeface="Yu Gothic UI" pitchFamily="34" charset="0"/>
                <a:ea typeface="Yu Gothic UI" pitchFamily="34" charset="-122"/>
                <a:cs typeface="Yu Gothic UI" pitchFamily="34" charset="-120"/>
              </a:rPr>
              <a:t>チラシ・DM</a:t>
            </a:r>
            <a:endParaRPr lang="en-US" sz="1200" dirty="0"/>
          </a:p>
        </p:txBody>
      </p:sp>
      <p:sp>
        <p:nvSpPr>
          <p:cNvPr id="22" name="Text 20"/>
          <p:cNvSpPr/>
          <p:nvPr/>
        </p:nvSpPr>
        <p:spPr>
          <a:xfrm>
            <a:off x="3688004" y="2926080"/>
            <a:ext cx="2179244" cy="411480"/>
          </a:xfrm>
          <a:prstGeom prst="rect">
            <a:avLst/>
          </a:prstGeom>
          <a:noFill/>
          <a:ln/>
        </p:spPr>
        <p:txBody>
          <a:bodyPr wrap="square" rtlCol="0" anchor="t"/>
          <a:lstStyle/>
          <a:p>
            <a:pPr indent="0" marL="0">
              <a:lnSpc>
                <a:spcPct val="135000"/>
              </a:lnSpc>
              <a:buNone/>
            </a:pPr>
            <a:r>
              <a:rPr lang="en-US" sz="900" dirty="0">
                <a:solidFill>
                  <a:srgbClr val="555555"/>
                </a:solidFill>
                <a:latin typeface="Yu Gothic UI" pitchFamily="34" charset="0"/>
                <a:ea typeface="Yu Gothic UI" pitchFamily="34" charset="-122"/>
                <a:cs typeface="Yu Gothic UI" pitchFamily="34" charset="-120"/>
              </a:rPr>
              <a:t>紙媒体での販促企画</a:t>
            </a:r>
            <a:endParaRPr lang="en-US" sz="900" dirty="0"/>
          </a:p>
        </p:txBody>
      </p:sp>
      <p:sp>
        <p:nvSpPr>
          <p:cNvPr id="23" name="Text 21"/>
          <p:cNvSpPr/>
          <p:nvPr/>
        </p:nvSpPr>
        <p:spPr>
          <a:xfrm>
            <a:off x="3505124" y="3383280"/>
            <a:ext cx="2362124" cy="292608"/>
          </a:xfrm>
          <a:prstGeom prst="rect">
            <a:avLst/>
          </a:prstGeom>
          <a:noFill/>
          <a:ln/>
        </p:spPr>
        <p:txBody>
          <a:bodyPr wrap="square" rtlCol="0" anchor="ctr"/>
          <a:lstStyle/>
          <a:p>
            <a:pPr indent="0" marL="0">
              <a:buNone/>
            </a:pPr>
            <a:r>
              <a:rPr lang="en-US" sz="1200" b="1" dirty="0">
                <a:solidFill>
                  <a:srgbClr val="EA580C"/>
                </a:solidFill>
                <a:latin typeface="Yu Gothic UI" pitchFamily="34" charset="0"/>
                <a:ea typeface="Yu Gothic UI" pitchFamily="34" charset="-122"/>
                <a:cs typeface="Yu Gothic UI" pitchFamily="34" charset="-120"/>
              </a:rPr>
              <a:t>・</a:t>
            </a:r>
            <a:pPr indent="0" marL="0">
              <a:buNone/>
            </a:pPr>
            <a:r>
              <a:rPr lang="en-US" sz="1200" b="1" dirty="0">
                <a:solidFill>
                  <a:srgbClr val="1A1A14"/>
                </a:solidFill>
                <a:latin typeface="Yu Gothic UI" pitchFamily="34" charset="0"/>
                <a:ea typeface="Yu Gothic UI" pitchFamily="34" charset="-122"/>
                <a:cs typeface="Yu Gothic UI" pitchFamily="34" charset="-120"/>
              </a:rPr>
              <a:t>プレスリリース</a:t>
            </a:r>
            <a:endParaRPr lang="en-US" sz="1200" dirty="0"/>
          </a:p>
        </p:txBody>
      </p:sp>
      <p:sp>
        <p:nvSpPr>
          <p:cNvPr id="24" name="Text 22"/>
          <p:cNvSpPr/>
          <p:nvPr/>
        </p:nvSpPr>
        <p:spPr>
          <a:xfrm>
            <a:off x="3688004" y="3703320"/>
            <a:ext cx="2179244" cy="411480"/>
          </a:xfrm>
          <a:prstGeom prst="rect">
            <a:avLst/>
          </a:prstGeom>
          <a:noFill/>
          <a:ln/>
        </p:spPr>
        <p:txBody>
          <a:bodyPr wrap="square" rtlCol="0" anchor="t"/>
          <a:lstStyle/>
          <a:p>
            <a:pPr indent="0" marL="0">
              <a:lnSpc>
                <a:spcPct val="135000"/>
              </a:lnSpc>
              <a:buNone/>
            </a:pPr>
            <a:r>
              <a:rPr lang="en-US" sz="900" dirty="0">
                <a:solidFill>
                  <a:srgbClr val="555555"/>
                </a:solidFill>
                <a:latin typeface="Yu Gothic UI" pitchFamily="34" charset="0"/>
                <a:ea typeface="Yu Gothic UI" pitchFamily="34" charset="-122"/>
                <a:cs typeface="Yu Gothic UI" pitchFamily="34" charset="-120"/>
              </a:rPr>
              <a:t>メディア露出と認知拡大</a:t>
            </a:r>
            <a:endParaRPr lang="en-US" sz="900" dirty="0"/>
          </a:p>
        </p:txBody>
      </p:sp>
      <p:sp>
        <p:nvSpPr>
          <p:cNvPr id="25" name="Shape 23"/>
          <p:cNvSpPr/>
          <p:nvPr/>
        </p:nvSpPr>
        <p:spPr>
          <a:xfrm>
            <a:off x="6187288" y="1965960"/>
            <a:ext cx="2636444" cy="502920"/>
          </a:xfrm>
          <a:prstGeom prst="rect">
            <a:avLst/>
          </a:prstGeom>
          <a:solidFill>
            <a:srgbClr val="EA580C"/>
          </a:solidFill>
          <a:ln w="12700">
            <a:solidFill>
              <a:srgbClr val="EA580C"/>
            </a:solidFill>
            <a:prstDash val="solid"/>
          </a:ln>
        </p:spPr>
      </p:sp>
      <p:sp>
        <p:nvSpPr>
          <p:cNvPr id="26" name="Text 24"/>
          <p:cNvSpPr/>
          <p:nvPr/>
        </p:nvSpPr>
        <p:spPr>
          <a:xfrm>
            <a:off x="6324448" y="1965960"/>
            <a:ext cx="2362124" cy="502920"/>
          </a:xfrm>
          <a:prstGeom prst="rect">
            <a:avLst/>
          </a:prstGeom>
          <a:noFill/>
          <a:ln/>
        </p:spPr>
        <p:txBody>
          <a:bodyPr wrap="square" rtlCol="0" anchor="ctr"/>
          <a:lstStyle/>
          <a:p>
            <a:pPr algn="ctr" indent="0" marL="0">
              <a:buNone/>
            </a:pPr>
            <a:r>
              <a:rPr lang="en-US" sz="1500" b="1" dirty="0">
                <a:solidFill>
                  <a:srgbClr val="FFFFFF"/>
                </a:solidFill>
                <a:latin typeface="Noto Serif JP" pitchFamily="34" charset="0"/>
                <a:ea typeface="Noto Serif JP" pitchFamily="34" charset="-122"/>
                <a:cs typeface="Noto Serif JP" pitchFamily="34" charset="-120"/>
              </a:rPr>
              <a:t>コンテンツ・営業</a:t>
            </a:r>
            <a:endParaRPr lang="en-US" sz="1500" dirty="0"/>
          </a:p>
        </p:txBody>
      </p:sp>
      <p:sp>
        <p:nvSpPr>
          <p:cNvPr id="27" name="Shape 25"/>
          <p:cNvSpPr/>
          <p:nvPr/>
        </p:nvSpPr>
        <p:spPr>
          <a:xfrm>
            <a:off x="6187288" y="2468880"/>
            <a:ext cx="2636444" cy="3383280"/>
          </a:xfrm>
          <a:prstGeom prst="rect">
            <a:avLst/>
          </a:prstGeom>
          <a:solidFill>
            <a:srgbClr val="FFF7ED"/>
          </a:solidFill>
          <a:ln w="6350">
            <a:solidFill>
              <a:srgbClr val="EA580C"/>
            </a:solidFill>
            <a:prstDash val="solid"/>
          </a:ln>
        </p:spPr>
      </p:sp>
      <p:sp>
        <p:nvSpPr>
          <p:cNvPr id="28" name="Text 26"/>
          <p:cNvSpPr/>
          <p:nvPr/>
        </p:nvSpPr>
        <p:spPr>
          <a:xfrm>
            <a:off x="6324448" y="2606040"/>
            <a:ext cx="2362124" cy="292608"/>
          </a:xfrm>
          <a:prstGeom prst="rect">
            <a:avLst/>
          </a:prstGeom>
          <a:noFill/>
          <a:ln/>
        </p:spPr>
        <p:txBody>
          <a:bodyPr wrap="square" rtlCol="0" anchor="ctr"/>
          <a:lstStyle/>
          <a:p>
            <a:pPr indent="0" marL="0">
              <a:buNone/>
            </a:pPr>
            <a:r>
              <a:rPr lang="en-US" sz="1200" b="1" dirty="0">
                <a:solidFill>
                  <a:srgbClr val="EA580C"/>
                </a:solidFill>
                <a:latin typeface="Yu Gothic UI" pitchFamily="34" charset="0"/>
                <a:ea typeface="Yu Gothic UI" pitchFamily="34" charset="-122"/>
                <a:cs typeface="Yu Gothic UI" pitchFamily="34" charset="-120"/>
              </a:rPr>
              <a:t>・</a:t>
            </a:r>
            <a:pPr indent="0" marL="0">
              <a:buNone/>
            </a:pPr>
            <a:r>
              <a:rPr lang="en-US" sz="1200" b="1" dirty="0">
                <a:solidFill>
                  <a:srgbClr val="1A1A14"/>
                </a:solidFill>
                <a:latin typeface="Yu Gothic UI" pitchFamily="34" charset="0"/>
                <a:ea typeface="Yu Gothic UI" pitchFamily="34" charset="-122"/>
                <a:cs typeface="Yu Gothic UI" pitchFamily="34" charset="-120"/>
              </a:rPr>
              <a:t>ウェブサイト改善</a:t>
            </a:r>
            <a:endParaRPr lang="en-US" sz="1200" dirty="0"/>
          </a:p>
        </p:txBody>
      </p:sp>
      <p:sp>
        <p:nvSpPr>
          <p:cNvPr id="29" name="Text 27"/>
          <p:cNvSpPr/>
          <p:nvPr/>
        </p:nvSpPr>
        <p:spPr>
          <a:xfrm>
            <a:off x="6507328" y="2926080"/>
            <a:ext cx="2179244" cy="411480"/>
          </a:xfrm>
          <a:prstGeom prst="rect">
            <a:avLst/>
          </a:prstGeom>
          <a:noFill/>
          <a:ln/>
        </p:spPr>
        <p:txBody>
          <a:bodyPr wrap="square" rtlCol="0" anchor="t"/>
          <a:lstStyle/>
          <a:p>
            <a:pPr indent="0" marL="0">
              <a:lnSpc>
                <a:spcPct val="135000"/>
              </a:lnSpc>
              <a:buNone/>
            </a:pPr>
            <a:r>
              <a:rPr lang="en-US" sz="900" dirty="0">
                <a:solidFill>
                  <a:srgbClr val="555555"/>
                </a:solidFill>
                <a:latin typeface="Yu Gothic UI" pitchFamily="34" charset="0"/>
                <a:ea typeface="Yu Gothic UI" pitchFamily="34" charset="-122"/>
                <a:cs typeface="Yu Gothic UI" pitchFamily="34" charset="-120"/>
              </a:rPr>
              <a:t>コンテンツ・デザイン・構造の改善</a:t>
            </a:r>
            <a:endParaRPr lang="en-US" sz="900" dirty="0"/>
          </a:p>
        </p:txBody>
      </p:sp>
      <p:sp>
        <p:nvSpPr>
          <p:cNvPr id="30" name="Text 28"/>
          <p:cNvSpPr/>
          <p:nvPr/>
        </p:nvSpPr>
        <p:spPr>
          <a:xfrm>
            <a:off x="6324448" y="3383280"/>
            <a:ext cx="2362124" cy="292608"/>
          </a:xfrm>
          <a:prstGeom prst="rect">
            <a:avLst/>
          </a:prstGeom>
          <a:noFill/>
          <a:ln/>
        </p:spPr>
        <p:txBody>
          <a:bodyPr wrap="square" rtlCol="0" anchor="ctr"/>
          <a:lstStyle/>
          <a:p>
            <a:pPr indent="0" marL="0">
              <a:buNone/>
            </a:pPr>
            <a:r>
              <a:rPr lang="en-US" sz="1200" b="1" dirty="0">
                <a:solidFill>
                  <a:srgbClr val="EA580C"/>
                </a:solidFill>
                <a:latin typeface="Yu Gothic UI" pitchFamily="34" charset="0"/>
                <a:ea typeface="Yu Gothic UI" pitchFamily="34" charset="-122"/>
                <a:cs typeface="Yu Gothic UI" pitchFamily="34" charset="-120"/>
              </a:rPr>
              <a:t>・</a:t>
            </a:r>
            <a:pPr indent="0" marL="0">
              <a:buNone/>
            </a:pPr>
            <a:r>
              <a:rPr lang="en-US" sz="1200" b="1" dirty="0">
                <a:solidFill>
                  <a:srgbClr val="1A1A14"/>
                </a:solidFill>
                <a:latin typeface="Yu Gothic UI" pitchFamily="34" charset="0"/>
                <a:ea typeface="Yu Gothic UI" pitchFamily="34" charset="-122"/>
                <a:cs typeface="Yu Gothic UI" pitchFamily="34" charset="-120"/>
              </a:rPr>
              <a:t>営業資料</a:t>
            </a:r>
            <a:endParaRPr lang="en-US" sz="1200" dirty="0"/>
          </a:p>
        </p:txBody>
      </p:sp>
      <p:sp>
        <p:nvSpPr>
          <p:cNvPr id="31" name="Text 29"/>
          <p:cNvSpPr/>
          <p:nvPr/>
        </p:nvSpPr>
        <p:spPr>
          <a:xfrm>
            <a:off x="6507328" y="3703320"/>
            <a:ext cx="2179244" cy="411480"/>
          </a:xfrm>
          <a:prstGeom prst="rect">
            <a:avLst/>
          </a:prstGeom>
          <a:noFill/>
          <a:ln/>
        </p:spPr>
        <p:txBody>
          <a:bodyPr wrap="square" rtlCol="0" anchor="t"/>
          <a:lstStyle/>
          <a:p>
            <a:pPr indent="0" marL="0">
              <a:lnSpc>
                <a:spcPct val="135000"/>
              </a:lnSpc>
              <a:buNone/>
            </a:pPr>
            <a:r>
              <a:rPr lang="en-US" sz="900" dirty="0">
                <a:solidFill>
                  <a:srgbClr val="555555"/>
                </a:solidFill>
                <a:latin typeface="Yu Gothic UI" pitchFamily="34" charset="0"/>
                <a:ea typeface="Yu Gothic UI" pitchFamily="34" charset="-122"/>
                <a:cs typeface="Yu Gothic UI" pitchFamily="34" charset="-120"/>
              </a:rPr>
              <a:t>提案書・パンフレットの整備</a:t>
            </a:r>
            <a:endParaRPr lang="en-US" sz="900" dirty="0"/>
          </a:p>
        </p:txBody>
      </p:sp>
      <p:sp>
        <p:nvSpPr>
          <p:cNvPr id="32" name="Shape 30"/>
          <p:cNvSpPr/>
          <p:nvPr/>
        </p:nvSpPr>
        <p:spPr>
          <a:xfrm>
            <a:off x="9006611" y="1965960"/>
            <a:ext cx="2636444" cy="502920"/>
          </a:xfrm>
          <a:prstGeom prst="rect">
            <a:avLst/>
          </a:prstGeom>
          <a:solidFill>
            <a:srgbClr val="EA580C"/>
          </a:solidFill>
          <a:ln w="12700">
            <a:solidFill>
              <a:srgbClr val="EA580C"/>
            </a:solidFill>
            <a:prstDash val="solid"/>
          </a:ln>
        </p:spPr>
      </p:sp>
      <p:sp>
        <p:nvSpPr>
          <p:cNvPr id="33" name="Text 31"/>
          <p:cNvSpPr/>
          <p:nvPr/>
        </p:nvSpPr>
        <p:spPr>
          <a:xfrm>
            <a:off x="9143771" y="1965960"/>
            <a:ext cx="2362124" cy="502920"/>
          </a:xfrm>
          <a:prstGeom prst="rect">
            <a:avLst/>
          </a:prstGeom>
          <a:noFill/>
          <a:ln/>
        </p:spPr>
        <p:txBody>
          <a:bodyPr wrap="square" rtlCol="0" anchor="ctr"/>
          <a:lstStyle/>
          <a:p>
            <a:pPr algn="ctr" indent="0" marL="0">
              <a:buNone/>
            </a:pPr>
            <a:r>
              <a:rPr lang="en-US" sz="1500" b="1" dirty="0">
                <a:solidFill>
                  <a:srgbClr val="FFFFFF"/>
                </a:solidFill>
                <a:latin typeface="Noto Serif JP" pitchFamily="34" charset="0"/>
                <a:ea typeface="Noto Serif JP" pitchFamily="34" charset="-122"/>
                <a:cs typeface="Noto Serif JP" pitchFamily="34" charset="-120"/>
              </a:rPr>
              <a:t>経営・組織</a:t>
            </a:r>
            <a:endParaRPr lang="en-US" sz="1500" dirty="0"/>
          </a:p>
        </p:txBody>
      </p:sp>
      <p:sp>
        <p:nvSpPr>
          <p:cNvPr id="34" name="Shape 32"/>
          <p:cNvSpPr/>
          <p:nvPr/>
        </p:nvSpPr>
        <p:spPr>
          <a:xfrm>
            <a:off x="9006611" y="2468880"/>
            <a:ext cx="2636444" cy="3383280"/>
          </a:xfrm>
          <a:prstGeom prst="rect">
            <a:avLst/>
          </a:prstGeom>
          <a:solidFill>
            <a:srgbClr val="FFF7ED"/>
          </a:solidFill>
          <a:ln w="6350">
            <a:solidFill>
              <a:srgbClr val="EA580C"/>
            </a:solidFill>
            <a:prstDash val="solid"/>
          </a:ln>
        </p:spPr>
      </p:sp>
      <p:sp>
        <p:nvSpPr>
          <p:cNvPr id="35" name="Text 33"/>
          <p:cNvSpPr/>
          <p:nvPr/>
        </p:nvSpPr>
        <p:spPr>
          <a:xfrm>
            <a:off x="9143771" y="2606040"/>
            <a:ext cx="2362124" cy="292608"/>
          </a:xfrm>
          <a:prstGeom prst="rect">
            <a:avLst/>
          </a:prstGeom>
          <a:noFill/>
          <a:ln/>
        </p:spPr>
        <p:txBody>
          <a:bodyPr wrap="square" rtlCol="0" anchor="ctr"/>
          <a:lstStyle/>
          <a:p>
            <a:pPr indent="0" marL="0">
              <a:buNone/>
            </a:pPr>
            <a:r>
              <a:rPr lang="en-US" sz="1200" b="1" dirty="0">
                <a:solidFill>
                  <a:srgbClr val="EA580C"/>
                </a:solidFill>
                <a:latin typeface="Yu Gothic UI" pitchFamily="34" charset="0"/>
                <a:ea typeface="Yu Gothic UI" pitchFamily="34" charset="-122"/>
                <a:cs typeface="Yu Gothic UI" pitchFamily="34" charset="-120"/>
              </a:rPr>
              <a:t>・</a:t>
            </a:r>
            <a:pPr indent="0" marL="0">
              <a:buNone/>
            </a:pPr>
            <a:r>
              <a:rPr lang="en-US" sz="1200" b="1" dirty="0">
                <a:solidFill>
                  <a:srgbClr val="1A1A14"/>
                </a:solidFill>
                <a:latin typeface="Yu Gothic UI" pitchFamily="34" charset="0"/>
                <a:ea typeface="Yu Gothic UI" pitchFamily="34" charset="-122"/>
                <a:cs typeface="Yu Gothic UI" pitchFamily="34" charset="-120"/>
              </a:rPr>
              <a:t>採用</a:t>
            </a:r>
            <a:endParaRPr lang="en-US" sz="1200" dirty="0"/>
          </a:p>
        </p:txBody>
      </p:sp>
      <p:sp>
        <p:nvSpPr>
          <p:cNvPr id="36" name="Text 34"/>
          <p:cNvSpPr/>
          <p:nvPr/>
        </p:nvSpPr>
        <p:spPr>
          <a:xfrm>
            <a:off x="9326651" y="2926080"/>
            <a:ext cx="2179244" cy="411480"/>
          </a:xfrm>
          <a:prstGeom prst="rect">
            <a:avLst/>
          </a:prstGeom>
          <a:noFill/>
          <a:ln/>
        </p:spPr>
        <p:txBody>
          <a:bodyPr wrap="square" rtlCol="0" anchor="t"/>
          <a:lstStyle/>
          <a:p>
            <a:pPr indent="0" marL="0">
              <a:lnSpc>
                <a:spcPct val="135000"/>
              </a:lnSpc>
              <a:buNone/>
            </a:pPr>
            <a:r>
              <a:rPr lang="en-US" sz="900" dirty="0">
                <a:solidFill>
                  <a:srgbClr val="555555"/>
                </a:solidFill>
                <a:latin typeface="Yu Gothic UI" pitchFamily="34" charset="0"/>
                <a:ea typeface="Yu Gothic UI" pitchFamily="34" charset="-122"/>
                <a:cs typeface="Yu Gothic UI" pitchFamily="34" charset="-120"/>
              </a:rPr>
              <a:t>ビジョン・キャリアプランの言語化</a:t>
            </a:r>
            <a:endParaRPr lang="en-US" sz="900" dirty="0"/>
          </a:p>
        </p:txBody>
      </p:sp>
      <p:sp>
        <p:nvSpPr>
          <p:cNvPr id="37" name="Text 35"/>
          <p:cNvSpPr/>
          <p:nvPr/>
        </p:nvSpPr>
        <p:spPr>
          <a:xfrm>
            <a:off x="9143771" y="3383280"/>
            <a:ext cx="2362124" cy="292608"/>
          </a:xfrm>
          <a:prstGeom prst="rect">
            <a:avLst/>
          </a:prstGeom>
          <a:noFill/>
          <a:ln/>
        </p:spPr>
        <p:txBody>
          <a:bodyPr wrap="square" rtlCol="0" anchor="ctr"/>
          <a:lstStyle/>
          <a:p>
            <a:pPr indent="0" marL="0">
              <a:buNone/>
            </a:pPr>
            <a:r>
              <a:rPr lang="en-US" sz="1200" b="1" dirty="0">
                <a:solidFill>
                  <a:srgbClr val="EA580C"/>
                </a:solidFill>
                <a:latin typeface="Yu Gothic UI" pitchFamily="34" charset="0"/>
                <a:ea typeface="Yu Gothic UI" pitchFamily="34" charset="-122"/>
                <a:cs typeface="Yu Gothic UI" pitchFamily="34" charset="-120"/>
              </a:rPr>
              <a:t>・</a:t>
            </a:r>
            <a:pPr indent="0" marL="0">
              <a:buNone/>
            </a:pPr>
            <a:r>
              <a:rPr lang="en-US" sz="1200" b="1" dirty="0">
                <a:solidFill>
                  <a:srgbClr val="1A1A14"/>
                </a:solidFill>
                <a:latin typeface="Yu Gothic UI" pitchFamily="34" charset="0"/>
                <a:ea typeface="Yu Gothic UI" pitchFamily="34" charset="-122"/>
                <a:cs typeface="Yu Gothic UI" pitchFamily="34" charset="-120"/>
              </a:rPr>
              <a:t>補助金</a:t>
            </a:r>
            <a:endParaRPr lang="en-US" sz="1200" dirty="0"/>
          </a:p>
        </p:txBody>
      </p:sp>
      <p:sp>
        <p:nvSpPr>
          <p:cNvPr id="38" name="Text 36"/>
          <p:cNvSpPr/>
          <p:nvPr/>
        </p:nvSpPr>
        <p:spPr>
          <a:xfrm>
            <a:off x="9326651" y="3703320"/>
            <a:ext cx="2179244" cy="411480"/>
          </a:xfrm>
          <a:prstGeom prst="rect">
            <a:avLst/>
          </a:prstGeom>
          <a:noFill/>
          <a:ln/>
        </p:spPr>
        <p:txBody>
          <a:bodyPr wrap="square" rtlCol="0" anchor="t"/>
          <a:lstStyle/>
          <a:p>
            <a:pPr indent="0" marL="0">
              <a:lnSpc>
                <a:spcPct val="135000"/>
              </a:lnSpc>
              <a:buNone/>
            </a:pPr>
            <a:r>
              <a:rPr lang="en-US" sz="900" dirty="0">
                <a:solidFill>
                  <a:srgbClr val="555555"/>
                </a:solidFill>
                <a:latin typeface="Yu Gothic UI" pitchFamily="34" charset="0"/>
                <a:ea typeface="Yu Gothic UI" pitchFamily="34" charset="-122"/>
                <a:cs typeface="Yu Gothic UI" pitchFamily="34" charset="-120"/>
              </a:rPr>
              <a:t>持続化補助金などの計画書化</a:t>
            </a:r>
            <a:endParaRPr lang="en-US" sz="900" dirty="0"/>
          </a:p>
        </p:txBody>
      </p:sp>
      <p:sp>
        <p:nvSpPr>
          <p:cNvPr id="39" name="Text 37"/>
          <p:cNvSpPr/>
          <p:nvPr/>
        </p:nvSpPr>
        <p:spPr>
          <a:xfrm>
            <a:off x="548640" y="6537960"/>
            <a:ext cx="5486400" cy="228600"/>
          </a:xfrm>
          <a:prstGeom prst="rect">
            <a:avLst/>
          </a:prstGeom>
          <a:noFill/>
          <a:ln/>
        </p:spPr>
        <p:txBody>
          <a:bodyPr wrap="square" rtlCol="0" anchor="ctr"/>
          <a:lstStyle/>
          <a:p>
            <a:pPr indent="0" marL="0">
              <a:buNone/>
            </a:pPr>
            <a:r>
              <a:rPr lang="en-US" sz="900" dirty="0">
                <a:solidFill>
                  <a:srgbClr val="555555"/>
                </a:solidFill>
                <a:latin typeface="Yu Gothic UI" pitchFamily="34" charset="0"/>
                <a:ea typeface="Yu Gothic UI" pitchFamily="34" charset="-122"/>
                <a:cs typeface="Yu Gothic UI" pitchFamily="34" charset="-120"/>
              </a:rPr>
              <a:t>digi-kaku.or.jp</a:t>
            </a:r>
            <a:endParaRPr lang="en-US" sz="900" dirty="0"/>
          </a:p>
        </p:txBody>
      </p:sp>
      <p:sp>
        <p:nvSpPr>
          <p:cNvPr id="40" name="Text 38"/>
          <p:cNvSpPr/>
          <p:nvPr/>
        </p:nvSpPr>
        <p:spPr>
          <a:xfrm>
            <a:off x="6156655" y="6537960"/>
            <a:ext cx="5486400" cy="228600"/>
          </a:xfrm>
          <a:prstGeom prst="rect">
            <a:avLst/>
          </a:prstGeom>
          <a:noFill/>
          <a:ln/>
        </p:spPr>
        <p:txBody>
          <a:bodyPr wrap="square" rtlCol="0" anchor="ctr"/>
          <a:lstStyle/>
          <a:p>
            <a:pPr algn="r" indent="0" marL="0">
              <a:buNone/>
            </a:pPr>
            <a:r>
              <a:rPr lang="en-US" sz="900" dirty="0">
                <a:solidFill>
                  <a:srgbClr val="555555"/>
                </a:solidFill>
                <a:latin typeface="Yu Gothic UI" pitchFamily="34" charset="0"/>
                <a:ea typeface="Yu Gothic UI" pitchFamily="34" charset="-122"/>
                <a:cs typeface="Yu Gothic UI" pitchFamily="34" charset="-120"/>
              </a:rPr>
              <a:t>戦略指南 AI / AB3C 分析レポート　26 / 27</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A1A14"/>
        </a:solidFill>
      </p:bgPr>
    </p:bg>
    <p:spTree>
      <p:nvGrpSpPr>
        <p:cNvPr id="1" name=""/>
        <p:cNvGrpSpPr/>
        <p:nvPr/>
      </p:nvGrpSpPr>
      <p:grpSpPr>
        <a:xfrm>
          <a:off x="0" y="0"/>
          <a:ext cx="0" cy="0"/>
          <a:chOff x="0" y="0"/>
          <a:chExt cx="0" cy="0"/>
        </a:xfrm>
      </p:grpSpPr>
      <p:sp>
        <p:nvSpPr>
          <p:cNvPr id="2" name="Text 0"/>
          <p:cNvSpPr/>
          <p:nvPr/>
        </p:nvSpPr>
        <p:spPr>
          <a:xfrm>
            <a:off x="0" y="2286000"/>
            <a:ext cx="12191695" cy="731520"/>
          </a:xfrm>
          <a:prstGeom prst="rect">
            <a:avLst/>
          </a:prstGeom>
          <a:noFill/>
          <a:ln/>
        </p:spPr>
        <p:txBody>
          <a:bodyPr wrap="square" rtlCol="0" anchor="ctr"/>
          <a:lstStyle/>
          <a:p>
            <a:pPr algn="ctr" indent="0" marL="0">
              <a:buNone/>
            </a:pPr>
            <a:r>
              <a:rPr lang="en-US" sz="4800" b="1" dirty="0">
                <a:solidFill>
                  <a:srgbClr val="FFFFFF"/>
                </a:solidFill>
                <a:latin typeface="Noto Serif JP" pitchFamily="34" charset="0"/>
                <a:ea typeface="Noto Serif JP" pitchFamily="34" charset="-122"/>
                <a:cs typeface="Noto Serif JP" pitchFamily="34" charset="-120"/>
              </a:rPr>
              <a:t>戦略指南 AI</a:t>
            </a:r>
            <a:endParaRPr lang="en-US" sz="4800" dirty="0"/>
          </a:p>
        </p:txBody>
      </p:sp>
      <p:sp>
        <p:nvSpPr>
          <p:cNvPr id="3" name="Text 1"/>
          <p:cNvSpPr/>
          <p:nvPr/>
        </p:nvSpPr>
        <p:spPr>
          <a:xfrm>
            <a:off x="0" y="3108960"/>
            <a:ext cx="12191695" cy="457200"/>
          </a:xfrm>
          <a:prstGeom prst="rect">
            <a:avLst/>
          </a:prstGeom>
          <a:noFill/>
          <a:ln/>
        </p:spPr>
        <p:txBody>
          <a:bodyPr wrap="square" rtlCol="0" anchor="ctr"/>
          <a:lstStyle/>
          <a:p>
            <a:pPr algn="ctr" indent="0" marL="0">
              <a:buNone/>
            </a:pPr>
            <a:r>
              <a:rPr lang="en-US" sz="1800" dirty="0">
                <a:solidFill>
                  <a:srgbClr val="DDDDDD"/>
                </a:solidFill>
                <a:latin typeface="Yu Gothic UI" pitchFamily="34" charset="0"/>
                <a:ea typeface="Yu Gothic UI" pitchFamily="34" charset="-122"/>
                <a:cs typeface="Yu Gothic UI" pitchFamily="34" charset="-120"/>
              </a:rPr>
              <a:t>AB3C で戦略を「分析 → 策定 → 実行」まで一気通貫</a:t>
            </a:r>
            <a:endParaRPr lang="en-US" sz="1800" dirty="0"/>
          </a:p>
        </p:txBody>
      </p:sp>
      <p:sp>
        <p:nvSpPr>
          <p:cNvPr id="4" name="Text 2"/>
          <p:cNvSpPr/>
          <p:nvPr/>
        </p:nvSpPr>
        <p:spPr>
          <a:xfrm>
            <a:off x="1828800" y="3840480"/>
            <a:ext cx="8534095" cy="1097280"/>
          </a:xfrm>
          <a:prstGeom prst="rect">
            <a:avLst/>
          </a:prstGeom>
          <a:noFill/>
          <a:ln/>
        </p:spPr>
        <p:txBody>
          <a:bodyPr wrap="square" rtlCol="0" anchor="t"/>
          <a:lstStyle/>
          <a:p>
            <a:pPr algn="ctr" indent="0" marL="0">
              <a:buNone/>
            </a:pPr>
            <a:r>
              <a:rPr lang="en-US" sz="1400" dirty="0">
                <a:solidFill>
                  <a:srgbClr val="BBBBBB"/>
                </a:solidFill>
                <a:latin typeface="Yu Gothic UI" pitchFamily="34" charset="0"/>
                <a:ea typeface="Yu Gothic UI" pitchFamily="34" charset="-122"/>
                <a:cs typeface="Yu Gothic UI" pitchFamily="34" charset="-120"/>
              </a:rPr>
              <a:t>AB3C フレームワークを活用した戦略策定 SaaS。分析 → 戦略策定 → アクションまでを一気通貫で支援します。</a:t>
            </a:r>
            <a:endParaRPr lang="en-US" sz="1400" dirty="0"/>
          </a:p>
        </p:txBody>
      </p:sp>
      <p:sp>
        <p:nvSpPr>
          <p:cNvPr id="5" name="Text 3">
            <a:hlinkClick r:id="rId1" tooltip=""/>
          </p:cNvPr>
          <p:cNvSpPr/>
          <p:nvPr/>
        </p:nvSpPr>
        <p:spPr>
          <a:xfrm>
            <a:off x="0" y="5303520"/>
            <a:ext cx="12191695" cy="457200"/>
          </a:xfrm>
          <a:prstGeom prst="rect">
            <a:avLst/>
          </a:prstGeom>
          <a:noFill/>
          <a:ln/>
        </p:spPr>
        <p:txBody>
          <a:bodyPr wrap="square" rtlCol="0" anchor="ctr"/>
          <a:lstStyle/>
          <a:p>
            <a:pPr algn="ctr" indent="0" marL="0">
              <a:buNone/>
            </a:pPr>
            <a:r>
              <a:rPr lang="en-US" sz="2000" u="sng" dirty="0">
                <a:solidFill>
                  <a:srgbClr val="1A6FD4"/>
                </a:solidFill>
                <a:latin typeface="Consolas" pitchFamily="34" charset="0"/>
                <a:ea typeface="Consolas" pitchFamily="34" charset="-122"/>
                <a:cs typeface="Consolas" pitchFamily="34" charset="-120"/>
                <a:hlinkClick r:id="rId1" invalidUrl="" action="" tgtFrame="" tooltip="" history="1" highlightClick="0" endSnd="0">
                  <a:extLst>
                    <a:ext uri="{A12FA001-AC4F-418D-AE19-62706E023703}">
                      <ahyp:hlinkClr xmlns:ahyp="http://schemas.microsoft.com/office/drawing/2018/hyperlinkcolor" val="tx"/>
                    </a:ext>
                  </a:extLst>
                </a:hlinkClick>
              </a:rPr>
              <a:t>senryaku.ai</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戦略指南 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AB3C分析レポート - AIで戦略提案できる専門家に、資格で証明する</dc:title>
  <dc:subject>戦略指南 AI による AB3C 分析</dc:subject>
  <dc:creator>PptxGenJS</dc:creator>
  <cp:lastModifiedBy>PptxGenJS</cp:lastModifiedBy>
  <cp:revision>1</cp:revision>
  <dcterms:created xsi:type="dcterms:W3CDTF">2026-06-07T16:17:54Z</dcterms:created>
  <dcterms:modified xsi:type="dcterms:W3CDTF">2026-06-07T16:17:54Z</dcterms:modified>
</cp:coreProperties>
</file>